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2"/>
  </p:notesMasterIdLst>
  <p:handoutMasterIdLst>
    <p:handoutMasterId r:id="rId43"/>
  </p:handoutMasterIdLst>
  <p:sldIdLst>
    <p:sldId id="256" r:id="rId2"/>
    <p:sldId id="289" r:id="rId3"/>
    <p:sldId id="290" r:id="rId4"/>
    <p:sldId id="259" r:id="rId5"/>
    <p:sldId id="260" r:id="rId6"/>
    <p:sldId id="292" r:id="rId7"/>
    <p:sldId id="293" r:id="rId8"/>
    <p:sldId id="270" r:id="rId9"/>
    <p:sldId id="294" r:id="rId10"/>
    <p:sldId id="295" r:id="rId11"/>
    <p:sldId id="296" r:id="rId12"/>
    <p:sldId id="308" r:id="rId13"/>
    <p:sldId id="261" r:id="rId14"/>
    <p:sldId id="262" r:id="rId15"/>
    <p:sldId id="264" r:id="rId16"/>
    <p:sldId id="299" r:id="rId17"/>
    <p:sldId id="266" r:id="rId18"/>
    <p:sldId id="302" r:id="rId19"/>
    <p:sldId id="300" r:id="rId20"/>
    <p:sldId id="307" r:id="rId21"/>
    <p:sldId id="268" r:id="rId22"/>
    <p:sldId id="310" r:id="rId23"/>
    <p:sldId id="312" r:id="rId24"/>
    <p:sldId id="314" r:id="rId25"/>
    <p:sldId id="315" r:id="rId26"/>
    <p:sldId id="316" r:id="rId27"/>
    <p:sldId id="317" r:id="rId28"/>
    <p:sldId id="318" r:id="rId29"/>
    <p:sldId id="273" r:id="rId30"/>
    <p:sldId id="274" r:id="rId31"/>
    <p:sldId id="322" r:id="rId32"/>
    <p:sldId id="320" r:id="rId33"/>
    <p:sldId id="321" r:id="rId34"/>
    <p:sldId id="276" r:id="rId35"/>
    <p:sldId id="278" r:id="rId36"/>
    <p:sldId id="279" r:id="rId37"/>
    <p:sldId id="280" r:id="rId38"/>
    <p:sldId id="281" r:id="rId39"/>
    <p:sldId id="283" r:id="rId40"/>
    <p:sldId id="287" r:id="rId41"/>
  </p:sldIdLst>
  <p:sldSz cx="12192000" cy="6858000"/>
  <p:notesSz cx="6858000" cy="9144000"/>
  <p:defaultTextStyle>
    <a:defPPr>
      <a:buNone/>
    </a:defPPr>
    <a:lvl1pPr marL="0" algn="l" defTabSz="914353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177" algn="l" defTabSz="914353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353" algn="l" defTabSz="914353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530" algn="l" defTabSz="914353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706" algn="l" defTabSz="914353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5883" algn="l" defTabSz="914353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060" algn="l" defTabSz="914353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236" algn="l" defTabSz="914353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413" algn="l" defTabSz="914353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–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–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8D230F3-CF80-4859-8CE7-A43EE81993B5}" styleName="Light Style 1 –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–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–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–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–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–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22"/>
    <p:restoredTop sz="88928"/>
  </p:normalViewPr>
  <p:slideViewPr>
    <p:cSldViewPr snapToGrid="0">
      <p:cViewPr varScale="1">
        <p:scale>
          <a:sx n="110" d="100"/>
          <a:sy n="110" d="100"/>
        </p:scale>
        <p:origin x="632" y="184"/>
      </p:cViewPr>
      <p:guideLst/>
    </p:cSldViewPr>
  </p:slideViewPr>
  <p:outlineViewPr>
    <p:cViewPr>
      <p:scale>
        <a:sx n="33" d="100"/>
        <a:sy n="33" d="100"/>
      </p:scale>
      <p:origin x="0" y="-509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01" d="100"/>
          <a:sy n="101" d="100"/>
        </p:scale>
        <p:origin x="3888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2E4241B-22D6-DABE-9A57-0F6A997BA05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137453-30D9-C8FF-F7B4-6CE6E272991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347A15-E8F9-704F-A0DE-08DEBC8DD969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647AEF-1FE1-F8FE-6009-A5AEEA60ED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0AD2BA-F29E-1B05-3D41-02E2643E452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31912C-BB3C-6849-BFB6-F6B3FA636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0342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A skewed distribution is asymmetric. A longer tail toward high values is right (positive) skew; a longer tail toward low values is left (negative) skew</a:t>
            </a:r>
            <a:endParaRPr lang="en-US"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Plots help us understand our data. Now we need to turn that understanding into a consistent preparation process.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2432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F59EA-3C5B-D641-C4D7-59F12B161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8C82EB-45EE-E05A-CA43-ACD04EBE21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69E9F6-C9C0-3C1E-DF22-D2B98B4D93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7C0E52-AC9A-9A7F-4E75-2CF8F4B5C2D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779333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07879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40884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09290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23E0C-EF4E-7CF5-B211-6DCB3FCF9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4CB097-1197-650A-B837-9373F0FDAD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F3757D-C719-0E7D-8507-80C2E17BC9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4E894-382C-9DA4-E00A-773DD90B57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9234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9D933-867A-4F19-B0E1-4B83983C4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040A4B-7B27-C367-6D34-6466F1F606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50FAF9-8B35-1359-957F-C54230C397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B54AC7-D392-CCB0-28F9-E64F4CE25B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290399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7CD28-7224-0FCA-732B-56F00DD54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1D260A-4245-0B57-33C2-815705E66B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D3E1E8-49D9-9A22-10BD-0E5378BC0C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7165D-22CF-1B52-9449-6D902FA555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407257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7CD5D-21CE-2192-2DCA-2C7B90CD8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262E49-A7D7-92B9-0B47-73367FB245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04B66E-6EDB-63D2-30F9-E4CE24D0F8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1A2ECE-8435-26F9-046E-0564EE8FAF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522588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BC730-0FEA-2A89-3BE5-61694F1F4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BAE088-6AA4-6F62-4D65-37E0DB2AAD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946268-ED23-A21C-A5CA-A33D62120D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1D4A67-846E-E93E-1B8B-18B2683E98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117841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7C966-6819-EC9A-D288-CAEB2EB2B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AADDC4-B337-A47D-A52E-EBA1C099CA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453F74-F426-EE99-9DDB-32EAF41997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00C00A-9D7D-6D80-5773-114604F4A3A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4357641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978540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5">
            <a:extLst>
              <a:ext uri="{FF2B5EF4-FFF2-40B4-BE49-F238E27FC236}">
                <a16:creationId xmlns:a16="http://schemas.microsoft.com/office/drawing/2014/main" id="{CFF1AFD2-F993-B30A-2282-C04F1F65AF00}"/>
              </a:ext>
            </a:extLst>
          </p:cNvPr>
          <p:cNvSpPr>
            <a:spLocks noGrp="1"/>
          </p:cNvSpPr>
          <p:nvPr/>
        </p:nvSpPr>
        <p:spPr>
          <a:xfrm>
            <a:off x="4018633" y="327819"/>
            <a:ext cx="284237" cy="438124"/>
          </a:xfrm>
          <a:custGeom>
            <a:avLst/>
            <a:gdLst>
              <a:gd name="T0" fmla="*/ 0 w 1099"/>
              <a:gd name="T1" fmla="*/ 0 h 1694"/>
              <a:gd name="T2" fmla="*/ 0 w 1099"/>
              <a:gd name="T3" fmla="*/ 1694 h 1694"/>
              <a:gd name="T4" fmla="*/ 1099 w 1099"/>
              <a:gd name="T5" fmla="*/ 1694 h 1694"/>
              <a:gd name="T6" fmla="*/ 1099 w 1099"/>
              <a:gd name="T7" fmla="*/ 1397 h 1694"/>
              <a:gd name="T8" fmla="*/ 319 w 1099"/>
              <a:gd name="T9" fmla="*/ 1397 h 1694"/>
              <a:gd name="T10" fmla="*/ 319 w 1099"/>
              <a:gd name="T11" fmla="*/ 0 h 1694"/>
              <a:gd name="T12" fmla="*/ 0 w 1099"/>
              <a:gd name="T13" fmla="*/ 0 h 1694"/>
            </a:gdLst>
            <a:ahLst/>
            <a:cxnLst/>
            <a:rect l="0" t="0" r="r" b="b"/>
            <a:pathLst>
              <a:path w="1099" h="1694">
                <a:moveTo>
                  <a:pt x="0" y="0"/>
                </a:moveTo>
                <a:lnTo>
                  <a:pt x="0" y="1694"/>
                </a:lnTo>
                <a:lnTo>
                  <a:pt x="1099" y="1694"/>
                </a:lnTo>
                <a:lnTo>
                  <a:pt x="1099" y="1397"/>
                </a:lnTo>
                <a:lnTo>
                  <a:pt x="319" y="1397"/>
                </a:lnTo>
                <a:lnTo>
                  <a:pt x="31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25" name="Freeform 6">
            <a:extLst>
              <a:ext uri="{FF2B5EF4-FFF2-40B4-BE49-F238E27FC236}">
                <a16:creationId xmlns:a16="http://schemas.microsoft.com/office/drawing/2014/main" id="{2F13F474-91EA-0185-733B-62682BD9F6E9}"/>
              </a:ext>
            </a:extLst>
          </p:cNvPr>
          <p:cNvSpPr>
            <a:spLocks noGrp="1"/>
          </p:cNvSpPr>
          <p:nvPr/>
        </p:nvSpPr>
        <p:spPr>
          <a:xfrm>
            <a:off x="3434382" y="327819"/>
            <a:ext cx="397001" cy="438124"/>
          </a:xfrm>
          <a:custGeom>
            <a:avLst/>
            <a:gdLst>
              <a:gd name="T0" fmla="*/ 556 w 1535"/>
              <a:gd name="T1" fmla="*/ 0 h 1694"/>
              <a:gd name="T2" fmla="*/ 0 w 1535"/>
              <a:gd name="T3" fmla="*/ 1694 h 1694"/>
              <a:gd name="T4" fmla="*/ 337 w 1535"/>
              <a:gd name="T5" fmla="*/ 1694 h 1694"/>
              <a:gd name="T6" fmla="*/ 453 w 1535"/>
              <a:gd name="T7" fmla="*/ 1321 h 1694"/>
              <a:gd name="T8" fmla="*/ 1083 w 1535"/>
              <a:gd name="T9" fmla="*/ 1321 h 1694"/>
              <a:gd name="T10" fmla="*/ 1197 w 1535"/>
              <a:gd name="T11" fmla="*/ 1694 h 1694"/>
              <a:gd name="T12" fmla="*/ 1535 w 1535"/>
              <a:gd name="T13" fmla="*/ 1694 h 1694"/>
              <a:gd name="T14" fmla="*/ 978 w 1535"/>
              <a:gd name="T15" fmla="*/ 0 h 1694"/>
              <a:gd name="T16" fmla="*/ 556 w 1535"/>
              <a:gd name="T17" fmla="*/ 0 h 1694"/>
              <a:gd name="T18" fmla="*/ 768 w 1535"/>
              <a:gd name="T19" fmla="*/ 301 h 1694"/>
              <a:gd name="T20" fmla="*/ 998 w 1535"/>
              <a:gd name="T21" fmla="*/ 1048 h 1694"/>
              <a:gd name="T22" fmla="*/ 536 w 1535"/>
              <a:gd name="T23" fmla="*/ 1048 h 1694"/>
              <a:gd name="T24" fmla="*/ 768 w 1535"/>
              <a:gd name="T25" fmla="*/ 301 h 1694"/>
            </a:gdLst>
            <a:ahLst/>
            <a:cxnLst/>
            <a:rect l="0" t="0" r="r" b="b"/>
            <a:pathLst>
              <a:path w="1535" h="1694">
                <a:moveTo>
                  <a:pt x="556" y="0"/>
                </a:moveTo>
                <a:lnTo>
                  <a:pt x="0" y="1694"/>
                </a:lnTo>
                <a:lnTo>
                  <a:pt x="337" y="1694"/>
                </a:lnTo>
                <a:lnTo>
                  <a:pt x="453" y="1321"/>
                </a:lnTo>
                <a:lnTo>
                  <a:pt x="1083" y="1321"/>
                </a:lnTo>
                <a:lnTo>
                  <a:pt x="1197" y="1694"/>
                </a:lnTo>
                <a:lnTo>
                  <a:pt x="1535" y="1694"/>
                </a:lnTo>
                <a:lnTo>
                  <a:pt x="978" y="0"/>
                </a:lnTo>
                <a:lnTo>
                  <a:pt x="556" y="0"/>
                </a:lnTo>
                <a:close/>
                <a:moveTo>
                  <a:pt x="768" y="301"/>
                </a:moveTo>
                <a:lnTo>
                  <a:pt x="998" y="1048"/>
                </a:lnTo>
                <a:lnTo>
                  <a:pt x="536" y="1048"/>
                </a:lnTo>
                <a:lnTo>
                  <a:pt x="768" y="30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26" name="Freeform 7">
            <a:extLst>
              <a:ext uri="{FF2B5EF4-FFF2-40B4-BE49-F238E27FC236}">
                <a16:creationId xmlns:a16="http://schemas.microsoft.com/office/drawing/2014/main" id="{87072C05-B626-BAF9-5316-96EAB02420F0}"/>
              </a:ext>
            </a:extLst>
          </p:cNvPr>
          <p:cNvSpPr>
            <a:spLocks noGrp="1"/>
          </p:cNvSpPr>
          <p:nvPr/>
        </p:nvSpPr>
        <p:spPr>
          <a:xfrm>
            <a:off x="2981257" y="327819"/>
            <a:ext cx="287858" cy="438124"/>
          </a:xfrm>
          <a:custGeom>
            <a:avLst/>
            <a:gdLst>
              <a:gd name="T0" fmla="*/ 0 w 1113"/>
              <a:gd name="T1" fmla="*/ 0 h 1694"/>
              <a:gd name="T2" fmla="*/ 0 w 1113"/>
              <a:gd name="T3" fmla="*/ 297 h 1694"/>
              <a:gd name="T4" fmla="*/ 396 w 1113"/>
              <a:gd name="T5" fmla="*/ 297 h 1694"/>
              <a:gd name="T6" fmla="*/ 396 w 1113"/>
              <a:gd name="T7" fmla="*/ 1397 h 1694"/>
              <a:gd name="T8" fmla="*/ 0 w 1113"/>
              <a:gd name="T9" fmla="*/ 1397 h 1694"/>
              <a:gd name="T10" fmla="*/ 0 w 1113"/>
              <a:gd name="T11" fmla="*/ 1694 h 1694"/>
              <a:gd name="T12" fmla="*/ 1113 w 1113"/>
              <a:gd name="T13" fmla="*/ 1694 h 1694"/>
              <a:gd name="T14" fmla="*/ 1113 w 1113"/>
              <a:gd name="T15" fmla="*/ 1397 h 1694"/>
              <a:gd name="T16" fmla="*/ 716 w 1113"/>
              <a:gd name="T17" fmla="*/ 1397 h 1694"/>
              <a:gd name="T18" fmla="*/ 716 w 1113"/>
              <a:gd name="T19" fmla="*/ 297 h 1694"/>
              <a:gd name="T20" fmla="*/ 1113 w 1113"/>
              <a:gd name="T21" fmla="*/ 297 h 1694"/>
              <a:gd name="T22" fmla="*/ 1113 w 1113"/>
              <a:gd name="T23" fmla="*/ 0 h 1694"/>
              <a:gd name="T24" fmla="*/ 0 w 1113"/>
              <a:gd name="T25" fmla="*/ 0 h 1694"/>
            </a:gdLst>
            <a:ahLst/>
            <a:cxnLst/>
            <a:rect l="0" t="0" r="r" b="b"/>
            <a:pathLst>
              <a:path w="1113" h="1694">
                <a:moveTo>
                  <a:pt x="0" y="0"/>
                </a:moveTo>
                <a:lnTo>
                  <a:pt x="0" y="297"/>
                </a:lnTo>
                <a:lnTo>
                  <a:pt x="396" y="297"/>
                </a:lnTo>
                <a:lnTo>
                  <a:pt x="396" y="1397"/>
                </a:lnTo>
                <a:lnTo>
                  <a:pt x="0" y="1397"/>
                </a:lnTo>
                <a:lnTo>
                  <a:pt x="0" y="1694"/>
                </a:lnTo>
                <a:lnTo>
                  <a:pt x="1113" y="1694"/>
                </a:lnTo>
                <a:lnTo>
                  <a:pt x="1113" y="1397"/>
                </a:lnTo>
                <a:lnTo>
                  <a:pt x="716" y="1397"/>
                </a:lnTo>
                <a:lnTo>
                  <a:pt x="716" y="297"/>
                </a:lnTo>
                <a:lnTo>
                  <a:pt x="1113" y="297"/>
                </a:lnTo>
                <a:lnTo>
                  <a:pt x="1113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27" name="Freeform 8">
            <a:extLst>
              <a:ext uri="{FF2B5EF4-FFF2-40B4-BE49-F238E27FC236}">
                <a16:creationId xmlns:a16="http://schemas.microsoft.com/office/drawing/2014/main" id="{AC6EA6C6-1057-DAC8-2609-B6EB51B72376}"/>
              </a:ext>
            </a:extLst>
          </p:cNvPr>
          <p:cNvSpPr>
            <a:spLocks noGrp="1"/>
          </p:cNvSpPr>
          <p:nvPr/>
        </p:nvSpPr>
        <p:spPr>
          <a:xfrm>
            <a:off x="2467353" y="327819"/>
            <a:ext cx="340619" cy="438124"/>
          </a:xfrm>
          <a:custGeom>
            <a:avLst/>
            <a:gdLst>
              <a:gd name="T0" fmla="*/ 884 w 932"/>
              <a:gd name="T1" fmla="*/ 372 h 1199"/>
              <a:gd name="T2" fmla="*/ 442 w 932"/>
              <a:gd name="T3" fmla="*/ 0 h 1199"/>
              <a:gd name="T4" fmla="*/ 0 w 932"/>
              <a:gd name="T5" fmla="*/ 0 h 1199"/>
              <a:gd name="T6" fmla="*/ 0 w 932"/>
              <a:gd name="T7" fmla="*/ 1199 h 1199"/>
              <a:gd name="T8" fmla="*/ 227 w 932"/>
              <a:gd name="T9" fmla="*/ 1199 h 1199"/>
              <a:gd name="T10" fmla="*/ 227 w 932"/>
              <a:gd name="T11" fmla="*/ 755 h 1199"/>
              <a:gd name="T12" fmla="*/ 418 w 932"/>
              <a:gd name="T13" fmla="*/ 755 h 1199"/>
              <a:gd name="T14" fmla="*/ 450 w 932"/>
              <a:gd name="T15" fmla="*/ 755 h 1199"/>
              <a:gd name="T16" fmla="*/ 681 w 932"/>
              <a:gd name="T17" fmla="*/ 1199 h 1199"/>
              <a:gd name="T18" fmla="*/ 932 w 932"/>
              <a:gd name="T19" fmla="*/ 1199 h 1199"/>
              <a:gd name="T20" fmla="*/ 676 w 932"/>
              <a:gd name="T21" fmla="*/ 707 h 1199"/>
              <a:gd name="T22" fmla="*/ 884 w 932"/>
              <a:gd name="T23" fmla="*/ 372 h 1199"/>
              <a:gd name="T24" fmla="*/ 645 w 932"/>
              <a:gd name="T25" fmla="*/ 372 h 1199"/>
              <a:gd name="T26" fmla="*/ 418 w 932"/>
              <a:gd name="T27" fmla="*/ 562 h 1199"/>
              <a:gd name="T28" fmla="*/ 227 w 932"/>
              <a:gd name="T29" fmla="*/ 562 h 1199"/>
              <a:gd name="T30" fmla="*/ 227 w 932"/>
              <a:gd name="T31" fmla="*/ 194 h 1199"/>
              <a:gd name="T32" fmla="*/ 418 w 932"/>
              <a:gd name="T33" fmla="*/ 194 h 1199"/>
              <a:gd name="T34" fmla="*/ 645 w 932"/>
              <a:gd name="T35" fmla="*/ 372 h 1199"/>
            </a:gdLst>
            <a:ahLst/>
            <a:cxnLst/>
            <a:rect l="0" t="0" r="r" b="b"/>
            <a:pathLst>
              <a:path w="932" h="1199">
                <a:moveTo>
                  <a:pt x="884" y="372"/>
                </a:moveTo>
                <a:cubicBezTo>
                  <a:pt x="884" y="92"/>
                  <a:pt x="693" y="0"/>
                  <a:pt x="442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199"/>
                  <a:pt x="0" y="1199"/>
                  <a:pt x="0" y="1199"/>
                </a:cubicBezTo>
                <a:cubicBezTo>
                  <a:pt x="227" y="1199"/>
                  <a:pt x="227" y="1199"/>
                  <a:pt x="227" y="1199"/>
                </a:cubicBezTo>
                <a:cubicBezTo>
                  <a:pt x="227" y="755"/>
                  <a:pt x="227" y="755"/>
                  <a:pt x="227" y="755"/>
                </a:cubicBezTo>
                <a:cubicBezTo>
                  <a:pt x="418" y="755"/>
                  <a:pt x="418" y="755"/>
                  <a:pt x="418" y="755"/>
                </a:cubicBezTo>
                <a:cubicBezTo>
                  <a:pt x="429" y="755"/>
                  <a:pt x="439" y="755"/>
                  <a:pt x="450" y="755"/>
                </a:cubicBezTo>
                <a:cubicBezTo>
                  <a:pt x="681" y="1199"/>
                  <a:pt x="681" y="1199"/>
                  <a:pt x="681" y="1199"/>
                </a:cubicBezTo>
                <a:cubicBezTo>
                  <a:pt x="932" y="1199"/>
                  <a:pt x="932" y="1199"/>
                  <a:pt x="932" y="1199"/>
                </a:cubicBezTo>
                <a:cubicBezTo>
                  <a:pt x="676" y="707"/>
                  <a:pt x="676" y="707"/>
                  <a:pt x="676" y="707"/>
                </a:cubicBezTo>
                <a:cubicBezTo>
                  <a:pt x="801" y="652"/>
                  <a:pt x="884" y="545"/>
                  <a:pt x="884" y="372"/>
                </a:cubicBezTo>
                <a:moveTo>
                  <a:pt x="645" y="372"/>
                </a:moveTo>
                <a:cubicBezTo>
                  <a:pt x="645" y="516"/>
                  <a:pt x="562" y="562"/>
                  <a:pt x="418" y="562"/>
                </a:cubicBezTo>
                <a:cubicBezTo>
                  <a:pt x="227" y="562"/>
                  <a:pt x="227" y="562"/>
                  <a:pt x="227" y="562"/>
                </a:cubicBezTo>
                <a:cubicBezTo>
                  <a:pt x="227" y="194"/>
                  <a:pt x="227" y="194"/>
                  <a:pt x="227" y="194"/>
                </a:cubicBezTo>
                <a:cubicBezTo>
                  <a:pt x="418" y="194"/>
                  <a:pt x="418" y="194"/>
                  <a:pt x="418" y="194"/>
                </a:cubicBezTo>
                <a:cubicBezTo>
                  <a:pt x="574" y="194"/>
                  <a:pt x="645" y="252"/>
                  <a:pt x="645" y="372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28" name="Freeform 9">
            <a:extLst>
              <a:ext uri="{FF2B5EF4-FFF2-40B4-BE49-F238E27FC236}">
                <a16:creationId xmlns:a16="http://schemas.microsoft.com/office/drawing/2014/main" id="{4E258757-AB3A-DE10-FDFE-35B9588E9C3E}"/>
              </a:ext>
            </a:extLst>
          </p:cNvPr>
          <p:cNvSpPr>
            <a:spLocks noGrp="1"/>
          </p:cNvSpPr>
          <p:nvPr/>
        </p:nvSpPr>
        <p:spPr>
          <a:xfrm>
            <a:off x="1977503" y="327819"/>
            <a:ext cx="283978" cy="438124"/>
          </a:xfrm>
          <a:custGeom>
            <a:avLst/>
            <a:gdLst>
              <a:gd name="T0" fmla="*/ 0 w 1098"/>
              <a:gd name="T1" fmla="*/ 0 h 1694"/>
              <a:gd name="T2" fmla="*/ 0 w 1098"/>
              <a:gd name="T3" fmla="*/ 1694 h 1694"/>
              <a:gd name="T4" fmla="*/ 1098 w 1098"/>
              <a:gd name="T5" fmla="*/ 1694 h 1694"/>
              <a:gd name="T6" fmla="*/ 1098 w 1098"/>
              <a:gd name="T7" fmla="*/ 1397 h 1694"/>
              <a:gd name="T8" fmla="*/ 321 w 1098"/>
              <a:gd name="T9" fmla="*/ 1397 h 1694"/>
              <a:gd name="T10" fmla="*/ 321 w 1098"/>
              <a:gd name="T11" fmla="*/ 973 h 1694"/>
              <a:gd name="T12" fmla="*/ 1030 w 1098"/>
              <a:gd name="T13" fmla="*/ 973 h 1694"/>
              <a:gd name="T14" fmla="*/ 1030 w 1098"/>
              <a:gd name="T15" fmla="*/ 687 h 1694"/>
              <a:gd name="T16" fmla="*/ 321 w 1098"/>
              <a:gd name="T17" fmla="*/ 687 h 1694"/>
              <a:gd name="T18" fmla="*/ 321 w 1098"/>
              <a:gd name="T19" fmla="*/ 297 h 1694"/>
              <a:gd name="T20" fmla="*/ 1098 w 1098"/>
              <a:gd name="T21" fmla="*/ 297 h 1694"/>
              <a:gd name="T22" fmla="*/ 1098 w 1098"/>
              <a:gd name="T23" fmla="*/ 0 h 1694"/>
              <a:gd name="T24" fmla="*/ 0 w 1098"/>
              <a:gd name="T25" fmla="*/ 0 h 1694"/>
            </a:gdLst>
            <a:ahLst/>
            <a:cxnLst/>
            <a:rect l="0" t="0" r="r" b="b"/>
            <a:pathLst>
              <a:path w="1098" h="1694">
                <a:moveTo>
                  <a:pt x="0" y="0"/>
                </a:moveTo>
                <a:lnTo>
                  <a:pt x="0" y="1694"/>
                </a:lnTo>
                <a:lnTo>
                  <a:pt x="1098" y="1694"/>
                </a:lnTo>
                <a:lnTo>
                  <a:pt x="1098" y="1397"/>
                </a:lnTo>
                <a:lnTo>
                  <a:pt x="321" y="1397"/>
                </a:lnTo>
                <a:lnTo>
                  <a:pt x="321" y="973"/>
                </a:lnTo>
                <a:lnTo>
                  <a:pt x="1030" y="973"/>
                </a:lnTo>
                <a:lnTo>
                  <a:pt x="1030" y="687"/>
                </a:lnTo>
                <a:lnTo>
                  <a:pt x="321" y="687"/>
                </a:lnTo>
                <a:lnTo>
                  <a:pt x="321" y="297"/>
                </a:lnTo>
                <a:lnTo>
                  <a:pt x="1098" y="297"/>
                </a:lnTo>
                <a:lnTo>
                  <a:pt x="109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29" name="Freeform 10">
            <a:extLst>
              <a:ext uri="{FF2B5EF4-FFF2-40B4-BE49-F238E27FC236}">
                <a16:creationId xmlns:a16="http://schemas.microsoft.com/office/drawing/2014/main" id="{74360D36-2B50-3114-9CB9-4BEE96BCCE6A}"/>
              </a:ext>
            </a:extLst>
          </p:cNvPr>
          <p:cNvSpPr>
            <a:spLocks noGrp="1"/>
          </p:cNvSpPr>
          <p:nvPr/>
        </p:nvSpPr>
        <p:spPr>
          <a:xfrm>
            <a:off x="1489204" y="327819"/>
            <a:ext cx="314238" cy="438124"/>
          </a:xfrm>
          <a:custGeom>
            <a:avLst/>
            <a:gdLst>
              <a:gd name="T0" fmla="*/ 406 w 860"/>
              <a:gd name="T1" fmla="*/ 791 h 1199"/>
              <a:gd name="T2" fmla="*/ 227 w 860"/>
              <a:gd name="T3" fmla="*/ 791 h 1199"/>
              <a:gd name="T4" fmla="*/ 227 w 860"/>
              <a:gd name="T5" fmla="*/ 1199 h 1199"/>
              <a:gd name="T6" fmla="*/ 0 w 860"/>
              <a:gd name="T7" fmla="*/ 1199 h 1199"/>
              <a:gd name="T8" fmla="*/ 0 w 860"/>
              <a:gd name="T9" fmla="*/ 0 h 1199"/>
              <a:gd name="T10" fmla="*/ 406 w 860"/>
              <a:gd name="T11" fmla="*/ 0 h 1199"/>
              <a:gd name="T12" fmla="*/ 860 w 860"/>
              <a:gd name="T13" fmla="*/ 396 h 1199"/>
              <a:gd name="T14" fmla="*/ 406 w 860"/>
              <a:gd name="T15" fmla="*/ 791 h 1199"/>
              <a:gd name="T16" fmla="*/ 394 w 860"/>
              <a:gd name="T17" fmla="*/ 194 h 1199"/>
              <a:gd name="T18" fmla="*/ 227 w 860"/>
              <a:gd name="T19" fmla="*/ 194 h 1199"/>
              <a:gd name="T20" fmla="*/ 227 w 860"/>
              <a:gd name="T21" fmla="*/ 598 h 1199"/>
              <a:gd name="T22" fmla="*/ 394 w 860"/>
              <a:gd name="T23" fmla="*/ 598 h 1199"/>
              <a:gd name="T24" fmla="*/ 621 w 860"/>
              <a:gd name="T25" fmla="*/ 396 h 1199"/>
              <a:gd name="T26" fmla="*/ 394 w 860"/>
              <a:gd name="T27" fmla="*/ 194 h 1199"/>
            </a:gdLst>
            <a:ahLst/>
            <a:cxnLst/>
            <a:rect l="0" t="0" r="r" b="b"/>
            <a:pathLst>
              <a:path w="860" h="1199">
                <a:moveTo>
                  <a:pt x="406" y="791"/>
                </a:moveTo>
                <a:cubicBezTo>
                  <a:pt x="227" y="791"/>
                  <a:pt x="227" y="791"/>
                  <a:pt x="227" y="791"/>
                </a:cubicBezTo>
                <a:cubicBezTo>
                  <a:pt x="227" y="1199"/>
                  <a:pt x="227" y="1199"/>
                  <a:pt x="227" y="1199"/>
                </a:cubicBezTo>
                <a:cubicBezTo>
                  <a:pt x="0" y="1199"/>
                  <a:pt x="0" y="1199"/>
                  <a:pt x="0" y="1199"/>
                </a:cubicBezTo>
                <a:cubicBezTo>
                  <a:pt x="0" y="0"/>
                  <a:pt x="0" y="0"/>
                  <a:pt x="0" y="0"/>
                </a:cubicBezTo>
                <a:cubicBezTo>
                  <a:pt x="406" y="0"/>
                  <a:pt x="406" y="0"/>
                  <a:pt x="406" y="0"/>
                </a:cubicBezTo>
                <a:cubicBezTo>
                  <a:pt x="661" y="0"/>
                  <a:pt x="860" y="116"/>
                  <a:pt x="860" y="396"/>
                </a:cubicBezTo>
                <a:cubicBezTo>
                  <a:pt x="860" y="671"/>
                  <a:pt x="659" y="791"/>
                  <a:pt x="406" y="791"/>
                </a:cubicBezTo>
                <a:moveTo>
                  <a:pt x="394" y="194"/>
                </a:moveTo>
                <a:cubicBezTo>
                  <a:pt x="227" y="194"/>
                  <a:pt x="227" y="194"/>
                  <a:pt x="227" y="194"/>
                </a:cubicBezTo>
                <a:cubicBezTo>
                  <a:pt x="227" y="598"/>
                  <a:pt x="227" y="598"/>
                  <a:pt x="227" y="598"/>
                </a:cubicBezTo>
                <a:cubicBezTo>
                  <a:pt x="394" y="598"/>
                  <a:pt x="394" y="598"/>
                  <a:pt x="394" y="598"/>
                </a:cubicBezTo>
                <a:cubicBezTo>
                  <a:pt x="525" y="598"/>
                  <a:pt x="621" y="534"/>
                  <a:pt x="621" y="396"/>
                </a:cubicBezTo>
                <a:cubicBezTo>
                  <a:pt x="621" y="252"/>
                  <a:pt x="525" y="194"/>
                  <a:pt x="394" y="194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30" name="Freeform 11">
            <a:extLst>
              <a:ext uri="{FF2B5EF4-FFF2-40B4-BE49-F238E27FC236}">
                <a16:creationId xmlns:a16="http://schemas.microsoft.com/office/drawing/2014/main" id="{1B032D16-0F2B-1DEC-D92A-ACAF24C07B0A}"/>
              </a:ext>
            </a:extLst>
          </p:cNvPr>
          <p:cNvSpPr>
            <a:spLocks noGrp="1"/>
          </p:cNvSpPr>
          <p:nvPr/>
        </p:nvSpPr>
        <p:spPr>
          <a:xfrm>
            <a:off x="833311" y="327819"/>
            <a:ext cx="444848" cy="438124"/>
          </a:xfrm>
          <a:custGeom>
            <a:avLst/>
            <a:gdLst>
              <a:gd name="T0" fmla="*/ 1265 w 1720"/>
              <a:gd name="T1" fmla="*/ 0 h 1694"/>
              <a:gd name="T2" fmla="*/ 860 w 1720"/>
              <a:gd name="T3" fmla="*/ 996 h 1694"/>
              <a:gd name="T4" fmla="*/ 456 w 1720"/>
              <a:gd name="T5" fmla="*/ 0 h 1694"/>
              <a:gd name="T6" fmla="*/ 0 w 1720"/>
              <a:gd name="T7" fmla="*/ 0 h 1694"/>
              <a:gd name="T8" fmla="*/ 0 w 1720"/>
              <a:gd name="T9" fmla="*/ 1694 h 1694"/>
              <a:gd name="T10" fmla="*/ 303 w 1720"/>
              <a:gd name="T11" fmla="*/ 1694 h 1694"/>
              <a:gd name="T12" fmla="*/ 303 w 1720"/>
              <a:gd name="T13" fmla="*/ 428 h 1694"/>
              <a:gd name="T14" fmla="*/ 692 w 1720"/>
              <a:gd name="T15" fmla="*/ 1321 h 1694"/>
              <a:gd name="T16" fmla="*/ 709 w 1720"/>
              <a:gd name="T17" fmla="*/ 1321 h 1694"/>
              <a:gd name="T18" fmla="*/ 1012 w 1720"/>
              <a:gd name="T19" fmla="*/ 1321 h 1694"/>
              <a:gd name="T20" fmla="*/ 1029 w 1720"/>
              <a:gd name="T21" fmla="*/ 1321 h 1694"/>
              <a:gd name="T22" fmla="*/ 1416 w 1720"/>
              <a:gd name="T23" fmla="*/ 428 h 1694"/>
              <a:gd name="T24" fmla="*/ 1416 w 1720"/>
              <a:gd name="T25" fmla="*/ 1694 h 1694"/>
              <a:gd name="T26" fmla="*/ 1720 w 1720"/>
              <a:gd name="T27" fmla="*/ 1694 h 1694"/>
              <a:gd name="T28" fmla="*/ 1720 w 1720"/>
              <a:gd name="T29" fmla="*/ 0 h 1694"/>
              <a:gd name="T30" fmla="*/ 1265 w 1720"/>
              <a:gd name="T31" fmla="*/ 0 h 1694"/>
            </a:gdLst>
            <a:ahLst/>
            <a:cxnLst/>
            <a:rect l="0" t="0" r="r" b="b"/>
            <a:pathLst>
              <a:path w="1720" h="1694">
                <a:moveTo>
                  <a:pt x="1265" y="0"/>
                </a:moveTo>
                <a:lnTo>
                  <a:pt x="860" y="996"/>
                </a:lnTo>
                <a:lnTo>
                  <a:pt x="456" y="0"/>
                </a:lnTo>
                <a:lnTo>
                  <a:pt x="0" y="0"/>
                </a:lnTo>
                <a:lnTo>
                  <a:pt x="0" y="1694"/>
                </a:lnTo>
                <a:lnTo>
                  <a:pt x="303" y="1694"/>
                </a:lnTo>
                <a:lnTo>
                  <a:pt x="303" y="428"/>
                </a:lnTo>
                <a:lnTo>
                  <a:pt x="692" y="1321"/>
                </a:lnTo>
                <a:lnTo>
                  <a:pt x="709" y="1321"/>
                </a:lnTo>
                <a:lnTo>
                  <a:pt x="1012" y="1321"/>
                </a:lnTo>
                <a:lnTo>
                  <a:pt x="1029" y="1321"/>
                </a:lnTo>
                <a:lnTo>
                  <a:pt x="1416" y="428"/>
                </a:lnTo>
                <a:lnTo>
                  <a:pt x="1416" y="1694"/>
                </a:lnTo>
                <a:lnTo>
                  <a:pt x="1720" y="1694"/>
                </a:lnTo>
                <a:lnTo>
                  <a:pt x="1720" y="0"/>
                </a:lnTo>
                <a:lnTo>
                  <a:pt x="126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31" name="Freeform 12">
            <a:extLst>
              <a:ext uri="{FF2B5EF4-FFF2-40B4-BE49-F238E27FC236}">
                <a16:creationId xmlns:a16="http://schemas.microsoft.com/office/drawing/2014/main" id="{13923343-4541-4792-ADC5-E6333E98D37A}"/>
              </a:ext>
            </a:extLst>
          </p:cNvPr>
          <p:cNvSpPr>
            <a:spLocks noGrp="1"/>
          </p:cNvSpPr>
          <p:nvPr/>
        </p:nvSpPr>
        <p:spPr>
          <a:xfrm>
            <a:off x="330271" y="327819"/>
            <a:ext cx="287858" cy="438124"/>
          </a:xfrm>
          <a:custGeom>
            <a:avLst/>
            <a:gdLst>
              <a:gd name="T0" fmla="*/ 0 w 1113"/>
              <a:gd name="T1" fmla="*/ 0 h 1694"/>
              <a:gd name="T2" fmla="*/ 0 w 1113"/>
              <a:gd name="T3" fmla="*/ 297 h 1694"/>
              <a:gd name="T4" fmla="*/ 397 w 1113"/>
              <a:gd name="T5" fmla="*/ 297 h 1694"/>
              <a:gd name="T6" fmla="*/ 397 w 1113"/>
              <a:gd name="T7" fmla="*/ 1397 h 1694"/>
              <a:gd name="T8" fmla="*/ 0 w 1113"/>
              <a:gd name="T9" fmla="*/ 1397 h 1694"/>
              <a:gd name="T10" fmla="*/ 0 w 1113"/>
              <a:gd name="T11" fmla="*/ 1694 h 1694"/>
              <a:gd name="T12" fmla="*/ 1113 w 1113"/>
              <a:gd name="T13" fmla="*/ 1694 h 1694"/>
              <a:gd name="T14" fmla="*/ 1113 w 1113"/>
              <a:gd name="T15" fmla="*/ 1397 h 1694"/>
              <a:gd name="T16" fmla="*/ 717 w 1113"/>
              <a:gd name="T17" fmla="*/ 1397 h 1694"/>
              <a:gd name="T18" fmla="*/ 717 w 1113"/>
              <a:gd name="T19" fmla="*/ 297 h 1694"/>
              <a:gd name="T20" fmla="*/ 1113 w 1113"/>
              <a:gd name="T21" fmla="*/ 297 h 1694"/>
              <a:gd name="T22" fmla="*/ 1113 w 1113"/>
              <a:gd name="T23" fmla="*/ 0 h 1694"/>
              <a:gd name="T24" fmla="*/ 0 w 1113"/>
              <a:gd name="T25" fmla="*/ 0 h 1694"/>
            </a:gdLst>
            <a:ahLst/>
            <a:cxnLst/>
            <a:rect l="0" t="0" r="r" b="b"/>
            <a:pathLst>
              <a:path w="1113" h="1694">
                <a:moveTo>
                  <a:pt x="0" y="0"/>
                </a:moveTo>
                <a:lnTo>
                  <a:pt x="0" y="297"/>
                </a:lnTo>
                <a:lnTo>
                  <a:pt x="397" y="297"/>
                </a:lnTo>
                <a:lnTo>
                  <a:pt x="397" y="1397"/>
                </a:lnTo>
                <a:lnTo>
                  <a:pt x="0" y="1397"/>
                </a:lnTo>
                <a:lnTo>
                  <a:pt x="0" y="1694"/>
                </a:lnTo>
                <a:lnTo>
                  <a:pt x="1113" y="1694"/>
                </a:lnTo>
                <a:lnTo>
                  <a:pt x="1113" y="1397"/>
                </a:lnTo>
                <a:lnTo>
                  <a:pt x="717" y="1397"/>
                </a:lnTo>
                <a:lnTo>
                  <a:pt x="717" y="297"/>
                </a:lnTo>
                <a:lnTo>
                  <a:pt x="1113" y="297"/>
                </a:lnTo>
                <a:lnTo>
                  <a:pt x="1113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802863CF-25C1-DECF-F640-C736ECDB9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271" y="2417400"/>
            <a:ext cx="9144000" cy="1847942"/>
          </a:xfrm>
        </p:spPr>
        <p:txBody>
          <a:bodyPr anchor="b"/>
          <a:lstStyle>
            <a:lvl1pPr algn="l">
              <a:buNone/>
              <a:defRPr sz="6400">
                <a:solidFill>
                  <a:schemeClr val="accent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623E9086-C2CE-8088-D447-C484543077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271" y="4383000"/>
            <a:ext cx="9144000" cy="1322348"/>
          </a:xfrm>
        </p:spPr>
        <p:txBody>
          <a:bodyPr/>
          <a:lstStyle>
            <a:lvl1pPr marL="0" indent="0" algn="l">
              <a:buNone/>
              <a:defRPr sz="4800">
                <a:solidFill>
                  <a:schemeClr val="accent1"/>
                </a:solidFill>
                <a:latin typeface="+mn-lt"/>
                <a:ea typeface="+mn-lt"/>
                <a:cs typeface="+mn-lt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t>Click to edit Master subtitle style</a:t>
            </a:r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C53F61BD-18EB-B863-761D-89639D8806F9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330271" y="5789336"/>
            <a:ext cx="5579198" cy="740845"/>
          </a:xfrm>
        </p:spPr>
        <p:txBody>
          <a:bodyPr anchor="b"/>
          <a:lstStyle>
            <a:lvl1pPr>
              <a:buNone/>
              <a:defRPr sz="2200" b="1">
                <a:solidFill>
                  <a:schemeClr val="accent1"/>
                </a:solidFill>
                <a:latin typeface="+mn-lt"/>
                <a:ea typeface="+mn-lt"/>
                <a:cs typeface="+mn-lt"/>
              </a:defRPr>
            </a:lvl1pPr>
            <a:lvl2pPr>
              <a:buNone/>
              <a:defRPr sz="2200">
                <a:solidFill>
                  <a:schemeClr val="accent1"/>
                </a:solidFill>
              </a:defRPr>
            </a:lvl2pPr>
            <a:lvl3pPr>
              <a:buNone/>
              <a:defRPr sz="2200">
                <a:solidFill>
                  <a:schemeClr val="accent1"/>
                </a:solidFill>
                <a:latin typeface="+mn-lt"/>
                <a:ea typeface="+mn-lt"/>
                <a:cs typeface="+mn-lt"/>
              </a:defRPr>
            </a:lvl3pPr>
            <a:lvl4pPr>
              <a:buNone/>
              <a:defRPr sz="2200">
                <a:solidFill>
                  <a:schemeClr val="accent1"/>
                </a:solidFill>
                <a:latin typeface="+mn-lt"/>
                <a:ea typeface="+mn-lt"/>
                <a:cs typeface="+mn-lt"/>
              </a:defRPr>
            </a:lvl4pPr>
            <a:lvl5pPr>
              <a:buNone/>
              <a:defRPr sz="2200">
                <a:solidFill>
                  <a:schemeClr val="accent1"/>
                </a:solidFill>
                <a:latin typeface="+mn-lt"/>
                <a:ea typeface="+mn-lt"/>
                <a:cs typeface="+mn-lt"/>
              </a:defRPr>
            </a:lvl5pPr>
            <a:lvl6pPr>
              <a:buNone/>
              <a:defRPr>
                <a:latin typeface="+mn-lt"/>
                <a:ea typeface="+mn-lt"/>
                <a:cs typeface="+mn-lt"/>
              </a:defRPr>
            </a:lvl6pPr>
          </a:lstStyle>
          <a:p>
            <a:pPr lvl="0">
              <a:buNone/>
            </a:pPr>
            <a: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5">
            <a:extLst>
              <a:ext uri="{FF2B5EF4-FFF2-40B4-BE49-F238E27FC236}">
                <a16:creationId xmlns:a16="http://schemas.microsoft.com/office/drawing/2014/main" id="{CFF1AFD2-F993-B30A-2282-C04F1F65AF00}"/>
              </a:ext>
            </a:extLst>
          </p:cNvPr>
          <p:cNvSpPr>
            <a:spLocks noGrp="1"/>
          </p:cNvSpPr>
          <p:nvPr/>
        </p:nvSpPr>
        <p:spPr>
          <a:xfrm>
            <a:off x="4018633" y="327819"/>
            <a:ext cx="284237" cy="438124"/>
          </a:xfrm>
          <a:custGeom>
            <a:avLst/>
            <a:gdLst>
              <a:gd name="T0" fmla="*/ 0 w 1099"/>
              <a:gd name="T1" fmla="*/ 0 h 1694"/>
              <a:gd name="T2" fmla="*/ 0 w 1099"/>
              <a:gd name="T3" fmla="*/ 1694 h 1694"/>
              <a:gd name="T4" fmla="*/ 1099 w 1099"/>
              <a:gd name="T5" fmla="*/ 1694 h 1694"/>
              <a:gd name="T6" fmla="*/ 1099 w 1099"/>
              <a:gd name="T7" fmla="*/ 1397 h 1694"/>
              <a:gd name="T8" fmla="*/ 319 w 1099"/>
              <a:gd name="T9" fmla="*/ 1397 h 1694"/>
              <a:gd name="T10" fmla="*/ 319 w 1099"/>
              <a:gd name="T11" fmla="*/ 0 h 1694"/>
              <a:gd name="T12" fmla="*/ 0 w 1099"/>
              <a:gd name="T13" fmla="*/ 0 h 1694"/>
            </a:gdLst>
            <a:ahLst/>
            <a:cxnLst/>
            <a:rect l="0" t="0" r="r" b="b"/>
            <a:pathLst>
              <a:path w="1099" h="1694">
                <a:moveTo>
                  <a:pt x="0" y="0"/>
                </a:moveTo>
                <a:lnTo>
                  <a:pt x="0" y="1694"/>
                </a:lnTo>
                <a:lnTo>
                  <a:pt x="1099" y="1694"/>
                </a:lnTo>
                <a:lnTo>
                  <a:pt x="1099" y="1397"/>
                </a:lnTo>
                <a:lnTo>
                  <a:pt x="319" y="1397"/>
                </a:lnTo>
                <a:lnTo>
                  <a:pt x="31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25" name="Freeform 6">
            <a:extLst>
              <a:ext uri="{FF2B5EF4-FFF2-40B4-BE49-F238E27FC236}">
                <a16:creationId xmlns:a16="http://schemas.microsoft.com/office/drawing/2014/main" id="{2F13F474-91EA-0185-733B-62682BD9F6E9}"/>
              </a:ext>
            </a:extLst>
          </p:cNvPr>
          <p:cNvSpPr>
            <a:spLocks noGrp="1"/>
          </p:cNvSpPr>
          <p:nvPr/>
        </p:nvSpPr>
        <p:spPr>
          <a:xfrm>
            <a:off x="3434382" y="327819"/>
            <a:ext cx="397001" cy="438124"/>
          </a:xfrm>
          <a:custGeom>
            <a:avLst/>
            <a:gdLst>
              <a:gd name="T0" fmla="*/ 556 w 1535"/>
              <a:gd name="T1" fmla="*/ 0 h 1694"/>
              <a:gd name="T2" fmla="*/ 0 w 1535"/>
              <a:gd name="T3" fmla="*/ 1694 h 1694"/>
              <a:gd name="T4" fmla="*/ 337 w 1535"/>
              <a:gd name="T5" fmla="*/ 1694 h 1694"/>
              <a:gd name="T6" fmla="*/ 453 w 1535"/>
              <a:gd name="T7" fmla="*/ 1321 h 1694"/>
              <a:gd name="T8" fmla="*/ 1083 w 1535"/>
              <a:gd name="T9" fmla="*/ 1321 h 1694"/>
              <a:gd name="T10" fmla="*/ 1197 w 1535"/>
              <a:gd name="T11" fmla="*/ 1694 h 1694"/>
              <a:gd name="T12" fmla="*/ 1535 w 1535"/>
              <a:gd name="T13" fmla="*/ 1694 h 1694"/>
              <a:gd name="T14" fmla="*/ 978 w 1535"/>
              <a:gd name="T15" fmla="*/ 0 h 1694"/>
              <a:gd name="T16" fmla="*/ 556 w 1535"/>
              <a:gd name="T17" fmla="*/ 0 h 1694"/>
              <a:gd name="T18" fmla="*/ 768 w 1535"/>
              <a:gd name="T19" fmla="*/ 301 h 1694"/>
              <a:gd name="T20" fmla="*/ 998 w 1535"/>
              <a:gd name="T21" fmla="*/ 1048 h 1694"/>
              <a:gd name="T22" fmla="*/ 536 w 1535"/>
              <a:gd name="T23" fmla="*/ 1048 h 1694"/>
              <a:gd name="T24" fmla="*/ 768 w 1535"/>
              <a:gd name="T25" fmla="*/ 301 h 1694"/>
            </a:gdLst>
            <a:ahLst/>
            <a:cxnLst/>
            <a:rect l="0" t="0" r="r" b="b"/>
            <a:pathLst>
              <a:path w="1535" h="1694">
                <a:moveTo>
                  <a:pt x="556" y="0"/>
                </a:moveTo>
                <a:lnTo>
                  <a:pt x="0" y="1694"/>
                </a:lnTo>
                <a:lnTo>
                  <a:pt x="337" y="1694"/>
                </a:lnTo>
                <a:lnTo>
                  <a:pt x="453" y="1321"/>
                </a:lnTo>
                <a:lnTo>
                  <a:pt x="1083" y="1321"/>
                </a:lnTo>
                <a:lnTo>
                  <a:pt x="1197" y="1694"/>
                </a:lnTo>
                <a:lnTo>
                  <a:pt x="1535" y="1694"/>
                </a:lnTo>
                <a:lnTo>
                  <a:pt x="978" y="0"/>
                </a:lnTo>
                <a:lnTo>
                  <a:pt x="556" y="0"/>
                </a:lnTo>
                <a:close/>
                <a:moveTo>
                  <a:pt x="768" y="301"/>
                </a:moveTo>
                <a:lnTo>
                  <a:pt x="998" y="1048"/>
                </a:lnTo>
                <a:lnTo>
                  <a:pt x="536" y="1048"/>
                </a:lnTo>
                <a:lnTo>
                  <a:pt x="768" y="30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26" name="Freeform 7">
            <a:extLst>
              <a:ext uri="{FF2B5EF4-FFF2-40B4-BE49-F238E27FC236}">
                <a16:creationId xmlns:a16="http://schemas.microsoft.com/office/drawing/2014/main" id="{87072C05-B626-BAF9-5316-96EAB02420F0}"/>
              </a:ext>
            </a:extLst>
          </p:cNvPr>
          <p:cNvSpPr>
            <a:spLocks noGrp="1"/>
          </p:cNvSpPr>
          <p:nvPr/>
        </p:nvSpPr>
        <p:spPr>
          <a:xfrm>
            <a:off x="2981257" y="327819"/>
            <a:ext cx="287858" cy="438124"/>
          </a:xfrm>
          <a:custGeom>
            <a:avLst/>
            <a:gdLst>
              <a:gd name="T0" fmla="*/ 0 w 1113"/>
              <a:gd name="T1" fmla="*/ 0 h 1694"/>
              <a:gd name="T2" fmla="*/ 0 w 1113"/>
              <a:gd name="T3" fmla="*/ 297 h 1694"/>
              <a:gd name="T4" fmla="*/ 396 w 1113"/>
              <a:gd name="T5" fmla="*/ 297 h 1694"/>
              <a:gd name="T6" fmla="*/ 396 w 1113"/>
              <a:gd name="T7" fmla="*/ 1397 h 1694"/>
              <a:gd name="T8" fmla="*/ 0 w 1113"/>
              <a:gd name="T9" fmla="*/ 1397 h 1694"/>
              <a:gd name="T10" fmla="*/ 0 w 1113"/>
              <a:gd name="T11" fmla="*/ 1694 h 1694"/>
              <a:gd name="T12" fmla="*/ 1113 w 1113"/>
              <a:gd name="T13" fmla="*/ 1694 h 1694"/>
              <a:gd name="T14" fmla="*/ 1113 w 1113"/>
              <a:gd name="T15" fmla="*/ 1397 h 1694"/>
              <a:gd name="T16" fmla="*/ 716 w 1113"/>
              <a:gd name="T17" fmla="*/ 1397 h 1694"/>
              <a:gd name="T18" fmla="*/ 716 w 1113"/>
              <a:gd name="T19" fmla="*/ 297 h 1694"/>
              <a:gd name="T20" fmla="*/ 1113 w 1113"/>
              <a:gd name="T21" fmla="*/ 297 h 1694"/>
              <a:gd name="T22" fmla="*/ 1113 w 1113"/>
              <a:gd name="T23" fmla="*/ 0 h 1694"/>
              <a:gd name="T24" fmla="*/ 0 w 1113"/>
              <a:gd name="T25" fmla="*/ 0 h 1694"/>
            </a:gdLst>
            <a:ahLst/>
            <a:cxnLst/>
            <a:rect l="0" t="0" r="r" b="b"/>
            <a:pathLst>
              <a:path w="1113" h="1694">
                <a:moveTo>
                  <a:pt x="0" y="0"/>
                </a:moveTo>
                <a:lnTo>
                  <a:pt x="0" y="297"/>
                </a:lnTo>
                <a:lnTo>
                  <a:pt x="396" y="297"/>
                </a:lnTo>
                <a:lnTo>
                  <a:pt x="396" y="1397"/>
                </a:lnTo>
                <a:lnTo>
                  <a:pt x="0" y="1397"/>
                </a:lnTo>
                <a:lnTo>
                  <a:pt x="0" y="1694"/>
                </a:lnTo>
                <a:lnTo>
                  <a:pt x="1113" y="1694"/>
                </a:lnTo>
                <a:lnTo>
                  <a:pt x="1113" y="1397"/>
                </a:lnTo>
                <a:lnTo>
                  <a:pt x="716" y="1397"/>
                </a:lnTo>
                <a:lnTo>
                  <a:pt x="716" y="297"/>
                </a:lnTo>
                <a:lnTo>
                  <a:pt x="1113" y="297"/>
                </a:lnTo>
                <a:lnTo>
                  <a:pt x="1113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27" name="Freeform 8">
            <a:extLst>
              <a:ext uri="{FF2B5EF4-FFF2-40B4-BE49-F238E27FC236}">
                <a16:creationId xmlns:a16="http://schemas.microsoft.com/office/drawing/2014/main" id="{AC6EA6C6-1057-DAC8-2609-B6EB51B72376}"/>
              </a:ext>
            </a:extLst>
          </p:cNvPr>
          <p:cNvSpPr>
            <a:spLocks noGrp="1"/>
          </p:cNvSpPr>
          <p:nvPr/>
        </p:nvSpPr>
        <p:spPr>
          <a:xfrm>
            <a:off x="2467353" y="327819"/>
            <a:ext cx="340619" cy="438124"/>
          </a:xfrm>
          <a:custGeom>
            <a:avLst/>
            <a:gdLst>
              <a:gd name="T0" fmla="*/ 884 w 932"/>
              <a:gd name="T1" fmla="*/ 372 h 1199"/>
              <a:gd name="T2" fmla="*/ 442 w 932"/>
              <a:gd name="T3" fmla="*/ 0 h 1199"/>
              <a:gd name="T4" fmla="*/ 0 w 932"/>
              <a:gd name="T5" fmla="*/ 0 h 1199"/>
              <a:gd name="T6" fmla="*/ 0 w 932"/>
              <a:gd name="T7" fmla="*/ 1199 h 1199"/>
              <a:gd name="T8" fmla="*/ 227 w 932"/>
              <a:gd name="T9" fmla="*/ 1199 h 1199"/>
              <a:gd name="T10" fmla="*/ 227 w 932"/>
              <a:gd name="T11" fmla="*/ 755 h 1199"/>
              <a:gd name="T12" fmla="*/ 418 w 932"/>
              <a:gd name="T13" fmla="*/ 755 h 1199"/>
              <a:gd name="T14" fmla="*/ 450 w 932"/>
              <a:gd name="T15" fmla="*/ 755 h 1199"/>
              <a:gd name="T16" fmla="*/ 681 w 932"/>
              <a:gd name="T17" fmla="*/ 1199 h 1199"/>
              <a:gd name="T18" fmla="*/ 932 w 932"/>
              <a:gd name="T19" fmla="*/ 1199 h 1199"/>
              <a:gd name="T20" fmla="*/ 676 w 932"/>
              <a:gd name="T21" fmla="*/ 707 h 1199"/>
              <a:gd name="T22" fmla="*/ 884 w 932"/>
              <a:gd name="T23" fmla="*/ 372 h 1199"/>
              <a:gd name="T24" fmla="*/ 645 w 932"/>
              <a:gd name="T25" fmla="*/ 372 h 1199"/>
              <a:gd name="T26" fmla="*/ 418 w 932"/>
              <a:gd name="T27" fmla="*/ 562 h 1199"/>
              <a:gd name="T28" fmla="*/ 227 w 932"/>
              <a:gd name="T29" fmla="*/ 562 h 1199"/>
              <a:gd name="T30" fmla="*/ 227 w 932"/>
              <a:gd name="T31" fmla="*/ 194 h 1199"/>
              <a:gd name="T32" fmla="*/ 418 w 932"/>
              <a:gd name="T33" fmla="*/ 194 h 1199"/>
              <a:gd name="T34" fmla="*/ 645 w 932"/>
              <a:gd name="T35" fmla="*/ 372 h 1199"/>
            </a:gdLst>
            <a:ahLst/>
            <a:cxnLst/>
            <a:rect l="0" t="0" r="r" b="b"/>
            <a:pathLst>
              <a:path w="932" h="1199">
                <a:moveTo>
                  <a:pt x="884" y="372"/>
                </a:moveTo>
                <a:cubicBezTo>
                  <a:pt x="884" y="92"/>
                  <a:pt x="693" y="0"/>
                  <a:pt x="442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199"/>
                  <a:pt x="0" y="1199"/>
                  <a:pt x="0" y="1199"/>
                </a:cubicBezTo>
                <a:cubicBezTo>
                  <a:pt x="227" y="1199"/>
                  <a:pt x="227" y="1199"/>
                  <a:pt x="227" y="1199"/>
                </a:cubicBezTo>
                <a:cubicBezTo>
                  <a:pt x="227" y="755"/>
                  <a:pt x="227" y="755"/>
                  <a:pt x="227" y="755"/>
                </a:cubicBezTo>
                <a:cubicBezTo>
                  <a:pt x="418" y="755"/>
                  <a:pt x="418" y="755"/>
                  <a:pt x="418" y="755"/>
                </a:cubicBezTo>
                <a:cubicBezTo>
                  <a:pt x="429" y="755"/>
                  <a:pt x="439" y="755"/>
                  <a:pt x="450" y="755"/>
                </a:cubicBezTo>
                <a:cubicBezTo>
                  <a:pt x="681" y="1199"/>
                  <a:pt x="681" y="1199"/>
                  <a:pt x="681" y="1199"/>
                </a:cubicBezTo>
                <a:cubicBezTo>
                  <a:pt x="932" y="1199"/>
                  <a:pt x="932" y="1199"/>
                  <a:pt x="932" y="1199"/>
                </a:cubicBezTo>
                <a:cubicBezTo>
                  <a:pt x="676" y="707"/>
                  <a:pt x="676" y="707"/>
                  <a:pt x="676" y="707"/>
                </a:cubicBezTo>
                <a:cubicBezTo>
                  <a:pt x="801" y="652"/>
                  <a:pt x="884" y="545"/>
                  <a:pt x="884" y="372"/>
                </a:cubicBezTo>
                <a:moveTo>
                  <a:pt x="645" y="372"/>
                </a:moveTo>
                <a:cubicBezTo>
                  <a:pt x="645" y="516"/>
                  <a:pt x="562" y="562"/>
                  <a:pt x="418" y="562"/>
                </a:cubicBezTo>
                <a:cubicBezTo>
                  <a:pt x="227" y="562"/>
                  <a:pt x="227" y="562"/>
                  <a:pt x="227" y="562"/>
                </a:cubicBezTo>
                <a:cubicBezTo>
                  <a:pt x="227" y="194"/>
                  <a:pt x="227" y="194"/>
                  <a:pt x="227" y="194"/>
                </a:cubicBezTo>
                <a:cubicBezTo>
                  <a:pt x="418" y="194"/>
                  <a:pt x="418" y="194"/>
                  <a:pt x="418" y="194"/>
                </a:cubicBezTo>
                <a:cubicBezTo>
                  <a:pt x="574" y="194"/>
                  <a:pt x="645" y="252"/>
                  <a:pt x="645" y="372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28" name="Freeform 9">
            <a:extLst>
              <a:ext uri="{FF2B5EF4-FFF2-40B4-BE49-F238E27FC236}">
                <a16:creationId xmlns:a16="http://schemas.microsoft.com/office/drawing/2014/main" id="{4E258757-AB3A-DE10-FDFE-35B9588E9C3E}"/>
              </a:ext>
            </a:extLst>
          </p:cNvPr>
          <p:cNvSpPr>
            <a:spLocks noGrp="1"/>
          </p:cNvSpPr>
          <p:nvPr/>
        </p:nvSpPr>
        <p:spPr>
          <a:xfrm>
            <a:off x="1977503" y="327819"/>
            <a:ext cx="283978" cy="438124"/>
          </a:xfrm>
          <a:custGeom>
            <a:avLst/>
            <a:gdLst>
              <a:gd name="T0" fmla="*/ 0 w 1098"/>
              <a:gd name="T1" fmla="*/ 0 h 1694"/>
              <a:gd name="T2" fmla="*/ 0 w 1098"/>
              <a:gd name="T3" fmla="*/ 1694 h 1694"/>
              <a:gd name="T4" fmla="*/ 1098 w 1098"/>
              <a:gd name="T5" fmla="*/ 1694 h 1694"/>
              <a:gd name="T6" fmla="*/ 1098 w 1098"/>
              <a:gd name="T7" fmla="*/ 1397 h 1694"/>
              <a:gd name="T8" fmla="*/ 321 w 1098"/>
              <a:gd name="T9" fmla="*/ 1397 h 1694"/>
              <a:gd name="T10" fmla="*/ 321 w 1098"/>
              <a:gd name="T11" fmla="*/ 973 h 1694"/>
              <a:gd name="T12" fmla="*/ 1030 w 1098"/>
              <a:gd name="T13" fmla="*/ 973 h 1694"/>
              <a:gd name="T14" fmla="*/ 1030 w 1098"/>
              <a:gd name="T15" fmla="*/ 687 h 1694"/>
              <a:gd name="T16" fmla="*/ 321 w 1098"/>
              <a:gd name="T17" fmla="*/ 687 h 1694"/>
              <a:gd name="T18" fmla="*/ 321 w 1098"/>
              <a:gd name="T19" fmla="*/ 297 h 1694"/>
              <a:gd name="T20" fmla="*/ 1098 w 1098"/>
              <a:gd name="T21" fmla="*/ 297 h 1694"/>
              <a:gd name="T22" fmla="*/ 1098 w 1098"/>
              <a:gd name="T23" fmla="*/ 0 h 1694"/>
              <a:gd name="T24" fmla="*/ 0 w 1098"/>
              <a:gd name="T25" fmla="*/ 0 h 1694"/>
            </a:gdLst>
            <a:ahLst/>
            <a:cxnLst/>
            <a:rect l="0" t="0" r="r" b="b"/>
            <a:pathLst>
              <a:path w="1098" h="1694">
                <a:moveTo>
                  <a:pt x="0" y="0"/>
                </a:moveTo>
                <a:lnTo>
                  <a:pt x="0" y="1694"/>
                </a:lnTo>
                <a:lnTo>
                  <a:pt x="1098" y="1694"/>
                </a:lnTo>
                <a:lnTo>
                  <a:pt x="1098" y="1397"/>
                </a:lnTo>
                <a:lnTo>
                  <a:pt x="321" y="1397"/>
                </a:lnTo>
                <a:lnTo>
                  <a:pt x="321" y="973"/>
                </a:lnTo>
                <a:lnTo>
                  <a:pt x="1030" y="973"/>
                </a:lnTo>
                <a:lnTo>
                  <a:pt x="1030" y="687"/>
                </a:lnTo>
                <a:lnTo>
                  <a:pt x="321" y="687"/>
                </a:lnTo>
                <a:lnTo>
                  <a:pt x="321" y="297"/>
                </a:lnTo>
                <a:lnTo>
                  <a:pt x="1098" y="297"/>
                </a:lnTo>
                <a:lnTo>
                  <a:pt x="109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29" name="Freeform 10">
            <a:extLst>
              <a:ext uri="{FF2B5EF4-FFF2-40B4-BE49-F238E27FC236}">
                <a16:creationId xmlns:a16="http://schemas.microsoft.com/office/drawing/2014/main" id="{74360D36-2B50-3114-9CB9-4BEE96BCCE6A}"/>
              </a:ext>
            </a:extLst>
          </p:cNvPr>
          <p:cNvSpPr>
            <a:spLocks noGrp="1"/>
          </p:cNvSpPr>
          <p:nvPr/>
        </p:nvSpPr>
        <p:spPr>
          <a:xfrm>
            <a:off x="1489204" y="327819"/>
            <a:ext cx="314238" cy="438124"/>
          </a:xfrm>
          <a:custGeom>
            <a:avLst/>
            <a:gdLst>
              <a:gd name="T0" fmla="*/ 406 w 860"/>
              <a:gd name="T1" fmla="*/ 791 h 1199"/>
              <a:gd name="T2" fmla="*/ 227 w 860"/>
              <a:gd name="T3" fmla="*/ 791 h 1199"/>
              <a:gd name="T4" fmla="*/ 227 w 860"/>
              <a:gd name="T5" fmla="*/ 1199 h 1199"/>
              <a:gd name="T6" fmla="*/ 0 w 860"/>
              <a:gd name="T7" fmla="*/ 1199 h 1199"/>
              <a:gd name="T8" fmla="*/ 0 w 860"/>
              <a:gd name="T9" fmla="*/ 0 h 1199"/>
              <a:gd name="T10" fmla="*/ 406 w 860"/>
              <a:gd name="T11" fmla="*/ 0 h 1199"/>
              <a:gd name="T12" fmla="*/ 860 w 860"/>
              <a:gd name="T13" fmla="*/ 396 h 1199"/>
              <a:gd name="T14" fmla="*/ 406 w 860"/>
              <a:gd name="T15" fmla="*/ 791 h 1199"/>
              <a:gd name="T16" fmla="*/ 394 w 860"/>
              <a:gd name="T17" fmla="*/ 194 h 1199"/>
              <a:gd name="T18" fmla="*/ 227 w 860"/>
              <a:gd name="T19" fmla="*/ 194 h 1199"/>
              <a:gd name="T20" fmla="*/ 227 w 860"/>
              <a:gd name="T21" fmla="*/ 598 h 1199"/>
              <a:gd name="T22" fmla="*/ 394 w 860"/>
              <a:gd name="T23" fmla="*/ 598 h 1199"/>
              <a:gd name="T24" fmla="*/ 621 w 860"/>
              <a:gd name="T25" fmla="*/ 396 h 1199"/>
              <a:gd name="T26" fmla="*/ 394 w 860"/>
              <a:gd name="T27" fmla="*/ 194 h 1199"/>
            </a:gdLst>
            <a:ahLst/>
            <a:cxnLst/>
            <a:rect l="0" t="0" r="r" b="b"/>
            <a:pathLst>
              <a:path w="860" h="1199">
                <a:moveTo>
                  <a:pt x="406" y="791"/>
                </a:moveTo>
                <a:cubicBezTo>
                  <a:pt x="227" y="791"/>
                  <a:pt x="227" y="791"/>
                  <a:pt x="227" y="791"/>
                </a:cubicBezTo>
                <a:cubicBezTo>
                  <a:pt x="227" y="1199"/>
                  <a:pt x="227" y="1199"/>
                  <a:pt x="227" y="1199"/>
                </a:cubicBezTo>
                <a:cubicBezTo>
                  <a:pt x="0" y="1199"/>
                  <a:pt x="0" y="1199"/>
                  <a:pt x="0" y="1199"/>
                </a:cubicBezTo>
                <a:cubicBezTo>
                  <a:pt x="0" y="0"/>
                  <a:pt x="0" y="0"/>
                  <a:pt x="0" y="0"/>
                </a:cubicBezTo>
                <a:cubicBezTo>
                  <a:pt x="406" y="0"/>
                  <a:pt x="406" y="0"/>
                  <a:pt x="406" y="0"/>
                </a:cubicBezTo>
                <a:cubicBezTo>
                  <a:pt x="661" y="0"/>
                  <a:pt x="860" y="116"/>
                  <a:pt x="860" y="396"/>
                </a:cubicBezTo>
                <a:cubicBezTo>
                  <a:pt x="860" y="671"/>
                  <a:pt x="659" y="791"/>
                  <a:pt x="406" y="791"/>
                </a:cubicBezTo>
                <a:moveTo>
                  <a:pt x="394" y="194"/>
                </a:moveTo>
                <a:cubicBezTo>
                  <a:pt x="227" y="194"/>
                  <a:pt x="227" y="194"/>
                  <a:pt x="227" y="194"/>
                </a:cubicBezTo>
                <a:cubicBezTo>
                  <a:pt x="227" y="598"/>
                  <a:pt x="227" y="598"/>
                  <a:pt x="227" y="598"/>
                </a:cubicBezTo>
                <a:cubicBezTo>
                  <a:pt x="394" y="598"/>
                  <a:pt x="394" y="598"/>
                  <a:pt x="394" y="598"/>
                </a:cubicBezTo>
                <a:cubicBezTo>
                  <a:pt x="525" y="598"/>
                  <a:pt x="621" y="534"/>
                  <a:pt x="621" y="396"/>
                </a:cubicBezTo>
                <a:cubicBezTo>
                  <a:pt x="621" y="252"/>
                  <a:pt x="525" y="194"/>
                  <a:pt x="394" y="194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30" name="Freeform 11">
            <a:extLst>
              <a:ext uri="{FF2B5EF4-FFF2-40B4-BE49-F238E27FC236}">
                <a16:creationId xmlns:a16="http://schemas.microsoft.com/office/drawing/2014/main" id="{1B032D16-0F2B-1DEC-D92A-ACAF24C07B0A}"/>
              </a:ext>
            </a:extLst>
          </p:cNvPr>
          <p:cNvSpPr>
            <a:spLocks noGrp="1"/>
          </p:cNvSpPr>
          <p:nvPr/>
        </p:nvSpPr>
        <p:spPr>
          <a:xfrm>
            <a:off x="833311" y="327819"/>
            <a:ext cx="444848" cy="438124"/>
          </a:xfrm>
          <a:custGeom>
            <a:avLst/>
            <a:gdLst>
              <a:gd name="T0" fmla="*/ 1265 w 1720"/>
              <a:gd name="T1" fmla="*/ 0 h 1694"/>
              <a:gd name="T2" fmla="*/ 860 w 1720"/>
              <a:gd name="T3" fmla="*/ 996 h 1694"/>
              <a:gd name="T4" fmla="*/ 456 w 1720"/>
              <a:gd name="T5" fmla="*/ 0 h 1694"/>
              <a:gd name="T6" fmla="*/ 0 w 1720"/>
              <a:gd name="T7" fmla="*/ 0 h 1694"/>
              <a:gd name="T8" fmla="*/ 0 w 1720"/>
              <a:gd name="T9" fmla="*/ 1694 h 1694"/>
              <a:gd name="T10" fmla="*/ 303 w 1720"/>
              <a:gd name="T11" fmla="*/ 1694 h 1694"/>
              <a:gd name="T12" fmla="*/ 303 w 1720"/>
              <a:gd name="T13" fmla="*/ 428 h 1694"/>
              <a:gd name="T14" fmla="*/ 692 w 1720"/>
              <a:gd name="T15" fmla="*/ 1321 h 1694"/>
              <a:gd name="T16" fmla="*/ 709 w 1720"/>
              <a:gd name="T17" fmla="*/ 1321 h 1694"/>
              <a:gd name="T18" fmla="*/ 1012 w 1720"/>
              <a:gd name="T19" fmla="*/ 1321 h 1694"/>
              <a:gd name="T20" fmla="*/ 1029 w 1720"/>
              <a:gd name="T21" fmla="*/ 1321 h 1694"/>
              <a:gd name="T22" fmla="*/ 1416 w 1720"/>
              <a:gd name="T23" fmla="*/ 428 h 1694"/>
              <a:gd name="T24" fmla="*/ 1416 w 1720"/>
              <a:gd name="T25" fmla="*/ 1694 h 1694"/>
              <a:gd name="T26" fmla="*/ 1720 w 1720"/>
              <a:gd name="T27" fmla="*/ 1694 h 1694"/>
              <a:gd name="T28" fmla="*/ 1720 w 1720"/>
              <a:gd name="T29" fmla="*/ 0 h 1694"/>
              <a:gd name="T30" fmla="*/ 1265 w 1720"/>
              <a:gd name="T31" fmla="*/ 0 h 1694"/>
            </a:gdLst>
            <a:ahLst/>
            <a:cxnLst/>
            <a:rect l="0" t="0" r="r" b="b"/>
            <a:pathLst>
              <a:path w="1720" h="1694">
                <a:moveTo>
                  <a:pt x="1265" y="0"/>
                </a:moveTo>
                <a:lnTo>
                  <a:pt x="860" y="996"/>
                </a:lnTo>
                <a:lnTo>
                  <a:pt x="456" y="0"/>
                </a:lnTo>
                <a:lnTo>
                  <a:pt x="0" y="0"/>
                </a:lnTo>
                <a:lnTo>
                  <a:pt x="0" y="1694"/>
                </a:lnTo>
                <a:lnTo>
                  <a:pt x="303" y="1694"/>
                </a:lnTo>
                <a:lnTo>
                  <a:pt x="303" y="428"/>
                </a:lnTo>
                <a:lnTo>
                  <a:pt x="692" y="1321"/>
                </a:lnTo>
                <a:lnTo>
                  <a:pt x="709" y="1321"/>
                </a:lnTo>
                <a:lnTo>
                  <a:pt x="1012" y="1321"/>
                </a:lnTo>
                <a:lnTo>
                  <a:pt x="1029" y="1321"/>
                </a:lnTo>
                <a:lnTo>
                  <a:pt x="1416" y="428"/>
                </a:lnTo>
                <a:lnTo>
                  <a:pt x="1416" y="1694"/>
                </a:lnTo>
                <a:lnTo>
                  <a:pt x="1720" y="1694"/>
                </a:lnTo>
                <a:lnTo>
                  <a:pt x="1720" y="0"/>
                </a:lnTo>
                <a:lnTo>
                  <a:pt x="126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31" name="Freeform 12">
            <a:extLst>
              <a:ext uri="{FF2B5EF4-FFF2-40B4-BE49-F238E27FC236}">
                <a16:creationId xmlns:a16="http://schemas.microsoft.com/office/drawing/2014/main" id="{13923343-4541-4792-ADC5-E6333E98D37A}"/>
              </a:ext>
            </a:extLst>
          </p:cNvPr>
          <p:cNvSpPr>
            <a:spLocks noGrp="1"/>
          </p:cNvSpPr>
          <p:nvPr/>
        </p:nvSpPr>
        <p:spPr>
          <a:xfrm>
            <a:off x="330271" y="327819"/>
            <a:ext cx="287858" cy="438124"/>
          </a:xfrm>
          <a:custGeom>
            <a:avLst/>
            <a:gdLst>
              <a:gd name="T0" fmla="*/ 0 w 1113"/>
              <a:gd name="T1" fmla="*/ 0 h 1694"/>
              <a:gd name="T2" fmla="*/ 0 w 1113"/>
              <a:gd name="T3" fmla="*/ 297 h 1694"/>
              <a:gd name="T4" fmla="*/ 397 w 1113"/>
              <a:gd name="T5" fmla="*/ 297 h 1694"/>
              <a:gd name="T6" fmla="*/ 397 w 1113"/>
              <a:gd name="T7" fmla="*/ 1397 h 1694"/>
              <a:gd name="T8" fmla="*/ 0 w 1113"/>
              <a:gd name="T9" fmla="*/ 1397 h 1694"/>
              <a:gd name="T10" fmla="*/ 0 w 1113"/>
              <a:gd name="T11" fmla="*/ 1694 h 1694"/>
              <a:gd name="T12" fmla="*/ 1113 w 1113"/>
              <a:gd name="T13" fmla="*/ 1694 h 1694"/>
              <a:gd name="T14" fmla="*/ 1113 w 1113"/>
              <a:gd name="T15" fmla="*/ 1397 h 1694"/>
              <a:gd name="T16" fmla="*/ 717 w 1113"/>
              <a:gd name="T17" fmla="*/ 1397 h 1694"/>
              <a:gd name="T18" fmla="*/ 717 w 1113"/>
              <a:gd name="T19" fmla="*/ 297 h 1694"/>
              <a:gd name="T20" fmla="*/ 1113 w 1113"/>
              <a:gd name="T21" fmla="*/ 297 h 1694"/>
              <a:gd name="T22" fmla="*/ 1113 w 1113"/>
              <a:gd name="T23" fmla="*/ 0 h 1694"/>
              <a:gd name="T24" fmla="*/ 0 w 1113"/>
              <a:gd name="T25" fmla="*/ 0 h 1694"/>
            </a:gdLst>
            <a:ahLst/>
            <a:cxnLst/>
            <a:rect l="0" t="0" r="r" b="b"/>
            <a:pathLst>
              <a:path w="1113" h="1694">
                <a:moveTo>
                  <a:pt x="0" y="0"/>
                </a:moveTo>
                <a:lnTo>
                  <a:pt x="0" y="297"/>
                </a:lnTo>
                <a:lnTo>
                  <a:pt x="397" y="297"/>
                </a:lnTo>
                <a:lnTo>
                  <a:pt x="397" y="1397"/>
                </a:lnTo>
                <a:lnTo>
                  <a:pt x="0" y="1397"/>
                </a:lnTo>
                <a:lnTo>
                  <a:pt x="0" y="1694"/>
                </a:lnTo>
                <a:lnTo>
                  <a:pt x="1113" y="1694"/>
                </a:lnTo>
                <a:lnTo>
                  <a:pt x="1113" y="1397"/>
                </a:lnTo>
                <a:lnTo>
                  <a:pt x="717" y="1397"/>
                </a:lnTo>
                <a:lnTo>
                  <a:pt x="717" y="297"/>
                </a:lnTo>
                <a:lnTo>
                  <a:pt x="1113" y="297"/>
                </a:lnTo>
                <a:lnTo>
                  <a:pt x="1113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802863CF-25C1-DECF-F640-C736ECDB9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271" y="2417400"/>
            <a:ext cx="9144000" cy="1847942"/>
          </a:xfrm>
        </p:spPr>
        <p:txBody>
          <a:bodyPr anchor="b"/>
          <a:lstStyle>
            <a:lvl1pPr algn="l">
              <a:buNone/>
              <a:defRPr sz="6400">
                <a:solidFill>
                  <a:schemeClr val="accent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623E9086-C2CE-8088-D447-C484543077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271" y="4383000"/>
            <a:ext cx="9144000" cy="1322348"/>
          </a:xfrm>
        </p:spPr>
        <p:txBody>
          <a:bodyPr/>
          <a:lstStyle>
            <a:lvl1pPr marL="0" indent="0" algn="l">
              <a:buNone/>
              <a:defRPr sz="4800">
                <a:solidFill>
                  <a:schemeClr val="accent1"/>
                </a:solidFill>
                <a:latin typeface="+mn-lt"/>
                <a:ea typeface="+mn-lt"/>
                <a:cs typeface="+mn-lt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t>Click to edit Master subtitle style</a:t>
            </a: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11F185D0-AFD5-29A8-8DBA-63C332F2594A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330271" y="5789336"/>
            <a:ext cx="5579198" cy="740845"/>
          </a:xfrm>
        </p:spPr>
        <p:txBody>
          <a:bodyPr anchor="b"/>
          <a:lstStyle>
            <a:lvl1pPr>
              <a:buNone/>
              <a:defRPr sz="2200" b="1">
                <a:solidFill>
                  <a:schemeClr val="accent1"/>
                </a:solidFill>
                <a:latin typeface="+mn-lt"/>
                <a:ea typeface="+mn-lt"/>
                <a:cs typeface="+mn-lt"/>
              </a:defRPr>
            </a:lvl1pPr>
            <a:lvl2pPr>
              <a:buNone/>
              <a:defRPr sz="2200">
                <a:solidFill>
                  <a:schemeClr val="accent1"/>
                </a:solidFill>
              </a:defRPr>
            </a:lvl2pPr>
            <a:lvl3pPr>
              <a:buNone/>
              <a:defRPr sz="2200">
                <a:solidFill>
                  <a:schemeClr val="accent1"/>
                </a:solidFill>
                <a:latin typeface="+mn-lt"/>
                <a:ea typeface="+mn-lt"/>
                <a:cs typeface="+mn-lt"/>
              </a:defRPr>
            </a:lvl3pPr>
            <a:lvl4pPr>
              <a:buNone/>
              <a:defRPr sz="2200">
                <a:solidFill>
                  <a:schemeClr val="accent1"/>
                </a:solidFill>
                <a:latin typeface="+mn-lt"/>
                <a:ea typeface="+mn-lt"/>
                <a:cs typeface="+mn-lt"/>
              </a:defRPr>
            </a:lvl4pPr>
            <a:lvl5pPr>
              <a:buNone/>
              <a:defRPr sz="2200">
                <a:solidFill>
                  <a:schemeClr val="accent1"/>
                </a:solidFill>
                <a:latin typeface="+mn-lt"/>
                <a:ea typeface="+mn-lt"/>
                <a:cs typeface="+mn-lt"/>
              </a:defRPr>
            </a:lvl5pPr>
            <a:lvl6pPr>
              <a:buNone/>
              <a:defRPr>
                <a:latin typeface="+mn-lt"/>
                <a:ea typeface="+mn-lt"/>
                <a:cs typeface="+mn-lt"/>
              </a:defRPr>
            </a:lvl6pPr>
          </a:lstStyle>
          <a:p>
            <a:pPr lvl="0">
              <a:buNone/>
            </a:pPr>
            <a: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5">
            <a:extLst>
              <a:ext uri="{FF2B5EF4-FFF2-40B4-BE49-F238E27FC236}">
                <a16:creationId xmlns:a16="http://schemas.microsoft.com/office/drawing/2014/main" id="{CFF1AFD2-F993-B30A-2282-C04F1F65AF00}"/>
              </a:ext>
            </a:extLst>
          </p:cNvPr>
          <p:cNvSpPr>
            <a:spLocks noGrp="1"/>
          </p:cNvSpPr>
          <p:nvPr/>
        </p:nvSpPr>
        <p:spPr>
          <a:xfrm>
            <a:off x="4018633" y="327819"/>
            <a:ext cx="284237" cy="438124"/>
          </a:xfrm>
          <a:custGeom>
            <a:avLst/>
            <a:gdLst>
              <a:gd name="T0" fmla="*/ 0 w 1099"/>
              <a:gd name="T1" fmla="*/ 0 h 1694"/>
              <a:gd name="T2" fmla="*/ 0 w 1099"/>
              <a:gd name="T3" fmla="*/ 1694 h 1694"/>
              <a:gd name="T4" fmla="*/ 1099 w 1099"/>
              <a:gd name="T5" fmla="*/ 1694 h 1694"/>
              <a:gd name="T6" fmla="*/ 1099 w 1099"/>
              <a:gd name="T7" fmla="*/ 1397 h 1694"/>
              <a:gd name="T8" fmla="*/ 319 w 1099"/>
              <a:gd name="T9" fmla="*/ 1397 h 1694"/>
              <a:gd name="T10" fmla="*/ 319 w 1099"/>
              <a:gd name="T11" fmla="*/ 0 h 1694"/>
              <a:gd name="T12" fmla="*/ 0 w 1099"/>
              <a:gd name="T13" fmla="*/ 0 h 1694"/>
            </a:gdLst>
            <a:ahLst/>
            <a:cxnLst/>
            <a:rect l="0" t="0" r="r" b="b"/>
            <a:pathLst>
              <a:path w="1099" h="1694">
                <a:moveTo>
                  <a:pt x="0" y="0"/>
                </a:moveTo>
                <a:lnTo>
                  <a:pt x="0" y="1694"/>
                </a:lnTo>
                <a:lnTo>
                  <a:pt x="1099" y="1694"/>
                </a:lnTo>
                <a:lnTo>
                  <a:pt x="1099" y="1397"/>
                </a:lnTo>
                <a:lnTo>
                  <a:pt x="319" y="1397"/>
                </a:lnTo>
                <a:lnTo>
                  <a:pt x="31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25" name="Freeform 6">
            <a:extLst>
              <a:ext uri="{FF2B5EF4-FFF2-40B4-BE49-F238E27FC236}">
                <a16:creationId xmlns:a16="http://schemas.microsoft.com/office/drawing/2014/main" id="{2F13F474-91EA-0185-733B-62682BD9F6E9}"/>
              </a:ext>
            </a:extLst>
          </p:cNvPr>
          <p:cNvSpPr>
            <a:spLocks noGrp="1"/>
          </p:cNvSpPr>
          <p:nvPr/>
        </p:nvSpPr>
        <p:spPr>
          <a:xfrm>
            <a:off x="3434382" y="327819"/>
            <a:ext cx="397001" cy="438124"/>
          </a:xfrm>
          <a:custGeom>
            <a:avLst/>
            <a:gdLst>
              <a:gd name="T0" fmla="*/ 556 w 1535"/>
              <a:gd name="T1" fmla="*/ 0 h 1694"/>
              <a:gd name="T2" fmla="*/ 0 w 1535"/>
              <a:gd name="T3" fmla="*/ 1694 h 1694"/>
              <a:gd name="T4" fmla="*/ 337 w 1535"/>
              <a:gd name="T5" fmla="*/ 1694 h 1694"/>
              <a:gd name="T6" fmla="*/ 453 w 1535"/>
              <a:gd name="T7" fmla="*/ 1321 h 1694"/>
              <a:gd name="T8" fmla="*/ 1083 w 1535"/>
              <a:gd name="T9" fmla="*/ 1321 h 1694"/>
              <a:gd name="T10" fmla="*/ 1197 w 1535"/>
              <a:gd name="T11" fmla="*/ 1694 h 1694"/>
              <a:gd name="T12" fmla="*/ 1535 w 1535"/>
              <a:gd name="T13" fmla="*/ 1694 h 1694"/>
              <a:gd name="T14" fmla="*/ 978 w 1535"/>
              <a:gd name="T15" fmla="*/ 0 h 1694"/>
              <a:gd name="T16" fmla="*/ 556 w 1535"/>
              <a:gd name="T17" fmla="*/ 0 h 1694"/>
              <a:gd name="T18" fmla="*/ 768 w 1535"/>
              <a:gd name="T19" fmla="*/ 301 h 1694"/>
              <a:gd name="T20" fmla="*/ 998 w 1535"/>
              <a:gd name="T21" fmla="*/ 1048 h 1694"/>
              <a:gd name="T22" fmla="*/ 536 w 1535"/>
              <a:gd name="T23" fmla="*/ 1048 h 1694"/>
              <a:gd name="T24" fmla="*/ 768 w 1535"/>
              <a:gd name="T25" fmla="*/ 301 h 1694"/>
            </a:gdLst>
            <a:ahLst/>
            <a:cxnLst/>
            <a:rect l="0" t="0" r="r" b="b"/>
            <a:pathLst>
              <a:path w="1535" h="1694">
                <a:moveTo>
                  <a:pt x="556" y="0"/>
                </a:moveTo>
                <a:lnTo>
                  <a:pt x="0" y="1694"/>
                </a:lnTo>
                <a:lnTo>
                  <a:pt x="337" y="1694"/>
                </a:lnTo>
                <a:lnTo>
                  <a:pt x="453" y="1321"/>
                </a:lnTo>
                <a:lnTo>
                  <a:pt x="1083" y="1321"/>
                </a:lnTo>
                <a:lnTo>
                  <a:pt x="1197" y="1694"/>
                </a:lnTo>
                <a:lnTo>
                  <a:pt x="1535" y="1694"/>
                </a:lnTo>
                <a:lnTo>
                  <a:pt x="978" y="0"/>
                </a:lnTo>
                <a:lnTo>
                  <a:pt x="556" y="0"/>
                </a:lnTo>
                <a:close/>
                <a:moveTo>
                  <a:pt x="768" y="301"/>
                </a:moveTo>
                <a:lnTo>
                  <a:pt x="998" y="1048"/>
                </a:lnTo>
                <a:lnTo>
                  <a:pt x="536" y="1048"/>
                </a:lnTo>
                <a:lnTo>
                  <a:pt x="768" y="30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26" name="Freeform 7">
            <a:extLst>
              <a:ext uri="{FF2B5EF4-FFF2-40B4-BE49-F238E27FC236}">
                <a16:creationId xmlns:a16="http://schemas.microsoft.com/office/drawing/2014/main" id="{87072C05-B626-BAF9-5316-96EAB02420F0}"/>
              </a:ext>
            </a:extLst>
          </p:cNvPr>
          <p:cNvSpPr>
            <a:spLocks noGrp="1"/>
          </p:cNvSpPr>
          <p:nvPr/>
        </p:nvSpPr>
        <p:spPr>
          <a:xfrm>
            <a:off x="2981257" y="327819"/>
            <a:ext cx="287858" cy="438124"/>
          </a:xfrm>
          <a:custGeom>
            <a:avLst/>
            <a:gdLst>
              <a:gd name="T0" fmla="*/ 0 w 1113"/>
              <a:gd name="T1" fmla="*/ 0 h 1694"/>
              <a:gd name="T2" fmla="*/ 0 w 1113"/>
              <a:gd name="T3" fmla="*/ 297 h 1694"/>
              <a:gd name="T4" fmla="*/ 396 w 1113"/>
              <a:gd name="T5" fmla="*/ 297 h 1694"/>
              <a:gd name="T6" fmla="*/ 396 w 1113"/>
              <a:gd name="T7" fmla="*/ 1397 h 1694"/>
              <a:gd name="T8" fmla="*/ 0 w 1113"/>
              <a:gd name="T9" fmla="*/ 1397 h 1694"/>
              <a:gd name="T10" fmla="*/ 0 w 1113"/>
              <a:gd name="T11" fmla="*/ 1694 h 1694"/>
              <a:gd name="T12" fmla="*/ 1113 w 1113"/>
              <a:gd name="T13" fmla="*/ 1694 h 1694"/>
              <a:gd name="T14" fmla="*/ 1113 w 1113"/>
              <a:gd name="T15" fmla="*/ 1397 h 1694"/>
              <a:gd name="T16" fmla="*/ 716 w 1113"/>
              <a:gd name="T17" fmla="*/ 1397 h 1694"/>
              <a:gd name="T18" fmla="*/ 716 w 1113"/>
              <a:gd name="T19" fmla="*/ 297 h 1694"/>
              <a:gd name="T20" fmla="*/ 1113 w 1113"/>
              <a:gd name="T21" fmla="*/ 297 h 1694"/>
              <a:gd name="T22" fmla="*/ 1113 w 1113"/>
              <a:gd name="T23" fmla="*/ 0 h 1694"/>
              <a:gd name="T24" fmla="*/ 0 w 1113"/>
              <a:gd name="T25" fmla="*/ 0 h 1694"/>
            </a:gdLst>
            <a:ahLst/>
            <a:cxnLst/>
            <a:rect l="0" t="0" r="r" b="b"/>
            <a:pathLst>
              <a:path w="1113" h="1694">
                <a:moveTo>
                  <a:pt x="0" y="0"/>
                </a:moveTo>
                <a:lnTo>
                  <a:pt x="0" y="297"/>
                </a:lnTo>
                <a:lnTo>
                  <a:pt x="396" y="297"/>
                </a:lnTo>
                <a:lnTo>
                  <a:pt x="396" y="1397"/>
                </a:lnTo>
                <a:lnTo>
                  <a:pt x="0" y="1397"/>
                </a:lnTo>
                <a:lnTo>
                  <a:pt x="0" y="1694"/>
                </a:lnTo>
                <a:lnTo>
                  <a:pt x="1113" y="1694"/>
                </a:lnTo>
                <a:lnTo>
                  <a:pt x="1113" y="1397"/>
                </a:lnTo>
                <a:lnTo>
                  <a:pt x="716" y="1397"/>
                </a:lnTo>
                <a:lnTo>
                  <a:pt x="716" y="297"/>
                </a:lnTo>
                <a:lnTo>
                  <a:pt x="1113" y="297"/>
                </a:lnTo>
                <a:lnTo>
                  <a:pt x="1113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27" name="Freeform 8">
            <a:extLst>
              <a:ext uri="{FF2B5EF4-FFF2-40B4-BE49-F238E27FC236}">
                <a16:creationId xmlns:a16="http://schemas.microsoft.com/office/drawing/2014/main" id="{AC6EA6C6-1057-DAC8-2609-B6EB51B72376}"/>
              </a:ext>
            </a:extLst>
          </p:cNvPr>
          <p:cNvSpPr>
            <a:spLocks noGrp="1"/>
          </p:cNvSpPr>
          <p:nvPr/>
        </p:nvSpPr>
        <p:spPr>
          <a:xfrm>
            <a:off x="2467353" y="327819"/>
            <a:ext cx="340619" cy="438124"/>
          </a:xfrm>
          <a:custGeom>
            <a:avLst/>
            <a:gdLst>
              <a:gd name="T0" fmla="*/ 884 w 932"/>
              <a:gd name="T1" fmla="*/ 372 h 1199"/>
              <a:gd name="T2" fmla="*/ 442 w 932"/>
              <a:gd name="T3" fmla="*/ 0 h 1199"/>
              <a:gd name="T4" fmla="*/ 0 w 932"/>
              <a:gd name="T5" fmla="*/ 0 h 1199"/>
              <a:gd name="T6" fmla="*/ 0 w 932"/>
              <a:gd name="T7" fmla="*/ 1199 h 1199"/>
              <a:gd name="T8" fmla="*/ 227 w 932"/>
              <a:gd name="T9" fmla="*/ 1199 h 1199"/>
              <a:gd name="T10" fmla="*/ 227 w 932"/>
              <a:gd name="T11" fmla="*/ 755 h 1199"/>
              <a:gd name="T12" fmla="*/ 418 w 932"/>
              <a:gd name="T13" fmla="*/ 755 h 1199"/>
              <a:gd name="T14" fmla="*/ 450 w 932"/>
              <a:gd name="T15" fmla="*/ 755 h 1199"/>
              <a:gd name="T16" fmla="*/ 681 w 932"/>
              <a:gd name="T17" fmla="*/ 1199 h 1199"/>
              <a:gd name="T18" fmla="*/ 932 w 932"/>
              <a:gd name="T19" fmla="*/ 1199 h 1199"/>
              <a:gd name="T20" fmla="*/ 676 w 932"/>
              <a:gd name="T21" fmla="*/ 707 h 1199"/>
              <a:gd name="T22" fmla="*/ 884 w 932"/>
              <a:gd name="T23" fmla="*/ 372 h 1199"/>
              <a:gd name="T24" fmla="*/ 645 w 932"/>
              <a:gd name="T25" fmla="*/ 372 h 1199"/>
              <a:gd name="T26" fmla="*/ 418 w 932"/>
              <a:gd name="T27" fmla="*/ 562 h 1199"/>
              <a:gd name="T28" fmla="*/ 227 w 932"/>
              <a:gd name="T29" fmla="*/ 562 h 1199"/>
              <a:gd name="T30" fmla="*/ 227 w 932"/>
              <a:gd name="T31" fmla="*/ 194 h 1199"/>
              <a:gd name="T32" fmla="*/ 418 w 932"/>
              <a:gd name="T33" fmla="*/ 194 h 1199"/>
              <a:gd name="T34" fmla="*/ 645 w 932"/>
              <a:gd name="T35" fmla="*/ 372 h 1199"/>
            </a:gdLst>
            <a:ahLst/>
            <a:cxnLst/>
            <a:rect l="0" t="0" r="r" b="b"/>
            <a:pathLst>
              <a:path w="932" h="1199">
                <a:moveTo>
                  <a:pt x="884" y="372"/>
                </a:moveTo>
                <a:cubicBezTo>
                  <a:pt x="884" y="92"/>
                  <a:pt x="693" y="0"/>
                  <a:pt x="442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199"/>
                  <a:pt x="0" y="1199"/>
                  <a:pt x="0" y="1199"/>
                </a:cubicBezTo>
                <a:cubicBezTo>
                  <a:pt x="227" y="1199"/>
                  <a:pt x="227" y="1199"/>
                  <a:pt x="227" y="1199"/>
                </a:cubicBezTo>
                <a:cubicBezTo>
                  <a:pt x="227" y="755"/>
                  <a:pt x="227" y="755"/>
                  <a:pt x="227" y="755"/>
                </a:cubicBezTo>
                <a:cubicBezTo>
                  <a:pt x="418" y="755"/>
                  <a:pt x="418" y="755"/>
                  <a:pt x="418" y="755"/>
                </a:cubicBezTo>
                <a:cubicBezTo>
                  <a:pt x="429" y="755"/>
                  <a:pt x="439" y="755"/>
                  <a:pt x="450" y="755"/>
                </a:cubicBezTo>
                <a:cubicBezTo>
                  <a:pt x="681" y="1199"/>
                  <a:pt x="681" y="1199"/>
                  <a:pt x="681" y="1199"/>
                </a:cubicBezTo>
                <a:cubicBezTo>
                  <a:pt x="932" y="1199"/>
                  <a:pt x="932" y="1199"/>
                  <a:pt x="932" y="1199"/>
                </a:cubicBezTo>
                <a:cubicBezTo>
                  <a:pt x="676" y="707"/>
                  <a:pt x="676" y="707"/>
                  <a:pt x="676" y="707"/>
                </a:cubicBezTo>
                <a:cubicBezTo>
                  <a:pt x="801" y="652"/>
                  <a:pt x="884" y="545"/>
                  <a:pt x="884" y="372"/>
                </a:cubicBezTo>
                <a:moveTo>
                  <a:pt x="645" y="372"/>
                </a:moveTo>
                <a:cubicBezTo>
                  <a:pt x="645" y="516"/>
                  <a:pt x="562" y="562"/>
                  <a:pt x="418" y="562"/>
                </a:cubicBezTo>
                <a:cubicBezTo>
                  <a:pt x="227" y="562"/>
                  <a:pt x="227" y="562"/>
                  <a:pt x="227" y="562"/>
                </a:cubicBezTo>
                <a:cubicBezTo>
                  <a:pt x="227" y="194"/>
                  <a:pt x="227" y="194"/>
                  <a:pt x="227" y="194"/>
                </a:cubicBezTo>
                <a:cubicBezTo>
                  <a:pt x="418" y="194"/>
                  <a:pt x="418" y="194"/>
                  <a:pt x="418" y="194"/>
                </a:cubicBezTo>
                <a:cubicBezTo>
                  <a:pt x="574" y="194"/>
                  <a:pt x="645" y="252"/>
                  <a:pt x="645" y="372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28" name="Freeform 9">
            <a:extLst>
              <a:ext uri="{FF2B5EF4-FFF2-40B4-BE49-F238E27FC236}">
                <a16:creationId xmlns:a16="http://schemas.microsoft.com/office/drawing/2014/main" id="{4E258757-AB3A-DE10-FDFE-35B9588E9C3E}"/>
              </a:ext>
            </a:extLst>
          </p:cNvPr>
          <p:cNvSpPr>
            <a:spLocks noGrp="1"/>
          </p:cNvSpPr>
          <p:nvPr/>
        </p:nvSpPr>
        <p:spPr>
          <a:xfrm>
            <a:off x="1977503" y="327819"/>
            <a:ext cx="283978" cy="438124"/>
          </a:xfrm>
          <a:custGeom>
            <a:avLst/>
            <a:gdLst>
              <a:gd name="T0" fmla="*/ 0 w 1098"/>
              <a:gd name="T1" fmla="*/ 0 h 1694"/>
              <a:gd name="T2" fmla="*/ 0 w 1098"/>
              <a:gd name="T3" fmla="*/ 1694 h 1694"/>
              <a:gd name="T4" fmla="*/ 1098 w 1098"/>
              <a:gd name="T5" fmla="*/ 1694 h 1694"/>
              <a:gd name="T6" fmla="*/ 1098 w 1098"/>
              <a:gd name="T7" fmla="*/ 1397 h 1694"/>
              <a:gd name="T8" fmla="*/ 321 w 1098"/>
              <a:gd name="T9" fmla="*/ 1397 h 1694"/>
              <a:gd name="T10" fmla="*/ 321 w 1098"/>
              <a:gd name="T11" fmla="*/ 973 h 1694"/>
              <a:gd name="T12" fmla="*/ 1030 w 1098"/>
              <a:gd name="T13" fmla="*/ 973 h 1694"/>
              <a:gd name="T14" fmla="*/ 1030 w 1098"/>
              <a:gd name="T15" fmla="*/ 687 h 1694"/>
              <a:gd name="T16" fmla="*/ 321 w 1098"/>
              <a:gd name="T17" fmla="*/ 687 h 1694"/>
              <a:gd name="T18" fmla="*/ 321 w 1098"/>
              <a:gd name="T19" fmla="*/ 297 h 1694"/>
              <a:gd name="T20" fmla="*/ 1098 w 1098"/>
              <a:gd name="T21" fmla="*/ 297 h 1694"/>
              <a:gd name="T22" fmla="*/ 1098 w 1098"/>
              <a:gd name="T23" fmla="*/ 0 h 1694"/>
              <a:gd name="T24" fmla="*/ 0 w 1098"/>
              <a:gd name="T25" fmla="*/ 0 h 1694"/>
            </a:gdLst>
            <a:ahLst/>
            <a:cxnLst/>
            <a:rect l="0" t="0" r="r" b="b"/>
            <a:pathLst>
              <a:path w="1098" h="1694">
                <a:moveTo>
                  <a:pt x="0" y="0"/>
                </a:moveTo>
                <a:lnTo>
                  <a:pt x="0" y="1694"/>
                </a:lnTo>
                <a:lnTo>
                  <a:pt x="1098" y="1694"/>
                </a:lnTo>
                <a:lnTo>
                  <a:pt x="1098" y="1397"/>
                </a:lnTo>
                <a:lnTo>
                  <a:pt x="321" y="1397"/>
                </a:lnTo>
                <a:lnTo>
                  <a:pt x="321" y="973"/>
                </a:lnTo>
                <a:lnTo>
                  <a:pt x="1030" y="973"/>
                </a:lnTo>
                <a:lnTo>
                  <a:pt x="1030" y="687"/>
                </a:lnTo>
                <a:lnTo>
                  <a:pt x="321" y="687"/>
                </a:lnTo>
                <a:lnTo>
                  <a:pt x="321" y="297"/>
                </a:lnTo>
                <a:lnTo>
                  <a:pt x="1098" y="297"/>
                </a:lnTo>
                <a:lnTo>
                  <a:pt x="109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29" name="Freeform 10">
            <a:extLst>
              <a:ext uri="{FF2B5EF4-FFF2-40B4-BE49-F238E27FC236}">
                <a16:creationId xmlns:a16="http://schemas.microsoft.com/office/drawing/2014/main" id="{74360D36-2B50-3114-9CB9-4BEE96BCCE6A}"/>
              </a:ext>
            </a:extLst>
          </p:cNvPr>
          <p:cNvSpPr>
            <a:spLocks noGrp="1"/>
          </p:cNvSpPr>
          <p:nvPr/>
        </p:nvSpPr>
        <p:spPr>
          <a:xfrm>
            <a:off x="1489204" y="327819"/>
            <a:ext cx="314238" cy="438124"/>
          </a:xfrm>
          <a:custGeom>
            <a:avLst/>
            <a:gdLst>
              <a:gd name="T0" fmla="*/ 406 w 860"/>
              <a:gd name="T1" fmla="*/ 791 h 1199"/>
              <a:gd name="T2" fmla="*/ 227 w 860"/>
              <a:gd name="T3" fmla="*/ 791 h 1199"/>
              <a:gd name="T4" fmla="*/ 227 w 860"/>
              <a:gd name="T5" fmla="*/ 1199 h 1199"/>
              <a:gd name="T6" fmla="*/ 0 w 860"/>
              <a:gd name="T7" fmla="*/ 1199 h 1199"/>
              <a:gd name="T8" fmla="*/ 0 w 860"/>
              <a:gd name="T9" fmla="*/ 0 h 1199"/>
              <a:gd name="T10" fmla="*/ 406 w 860"/>
              <a:gd name="T11" fmla="*/ 0 h 1199"/>
              <a:gd name="T12" fmla="*/ 860 w 860"/>
              <a:gd name="T13" fmla="*/ 396 h 1199"/>
              <a:gd name="T14" fmla="*/ 406 w 860"/>
              <a:gd name="T15" fmla="*/ 791 h 1199"/>
              <a:gd name="T16" fmla="*/ 394 w 860"/>
              <a:gd name="T17" fmla="*/ 194 h 1199"/>
              <a:gd name="T18" fmla="*/ 227 w 860"/>
              <a:gd name="T19" fmla="*/ 194 h 1199"/>
              <a:gd name="T20" fmla="*/ 227 w 860"/>
              <a:gd name="T21" fmla="*/ 598 h 1199"/>
              <a:gd name="T22" fmla="*/ 394 w 860"/>
              <a:gd name="T23" fmla="*/ 598 h 1199"/>
              <a:gd name="T24" fmla="*/ 621 w 860"/>
              <a:gd name="T25" fmla="*/ 396 h 1199"/>
              <a:gd name="T26" fmla="*/ 394 w 860"/>
              <a:gd name="T27" fmla="*/ 194 h 1199"/>
            </a:gdLst>
            <a:ahLst/>
            <a:cxnLst/>
            <a:rect l="0" t="0" r="r" b="b"/>
            <a:pathLst>
              <a:path w="860" h="1199">
                <a:moveTo>
                  <a:pt x="406" y="791"/>
                </a:moveTo>
                <a:cubicBezTo>
                  <a:pt x="227" y="791"/>
                  <a:pt x="227" y="791"/>
                  <a:pt x="227" y="791"/>
                </a:cubicBezTo>
                <a:cubicBezTo>
                  <a:pt x="227" y="1199"/>
                  <a:pt x="227" y="1199"/>
                  <a:pt x="227" y="1199"/>
                </a:cubicBezTo>
                <a:cubicBezTo>
                  <a:pt x="0" y="1199"/>
                  <a:pt x="0" y="1199"/>
                  <a:pt x="0" y="1199"/>
                </a:cubicBezTo>
                <a:cubicBezTo>
                  <a:pt x="0" y="0"/>
                  <a:pt x="0" y="0"/>
                  <a:pt x="0" y="0"/>
                </a:cubicBezTo>
                <a:cubicBezTo>
                  <a:pt x="406" y="0"/>
                  <a:pt x="406" y="0"/>
                  <a:pt x="406" y="0"/>
                </a:cubicBezTo>
                <a:cubicBezTo>
                  <a:pt x="661" y="0"/>
                  <a:pt x="860" y="116"/>
                  <a:pt x="860" y="396"/>
                </a:cubicBezTo>
                <a:cubicBezTo>
                  <a:pt x="860" y="671"/>
                  <a:pt x="659" y="791"/>
                  <a:pt x="406" y="791"/>
                </a:cubicBezTo>
                <a:moveTo>
                  <a:pt x="394" y="194"/>
                </a:moveTo>
                <a:cubicBezTo>
                  <a:pt x="227" y="194"/>
                  <a:pt x="227" y="194"/>
                  <a:pt x="227" y="194"/>
                </a:cubicBezTo>
                <a:cubicBezTo>
                  <a:pt x="227" y="598"/>
                  <a:pt x="227" y="598"/>
                  <a:pt x="227" y="598"/>
                </a:cubicBezTo>
                <a:cubicBezTo>
                  <a:pt x="394" y="598"/>
                  <a:pt x="394" y="598"/>
                  <a:pt x="394" y="598"/>
                </a:cubicBezTo>
                <a:cubicBezTo>
                  <a:pt x="525" y="598"/>
                  <a:pt x="621" y="534"/>
                  <a:pt x="621" y="396"/>
                </a:cubicBezTo>
                <a:cubicBezTo>
                  <a:pt x="621" y="252"/>
                  <a:pt x="525" y="194"/>
                  <a:pt x="394" y="194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30" name="Freeform 11">
            <a:extLst>
              <a:ext uri="{FF2B5EF4-FFF2-40B4-BE49-F238E27FC236}">
                <a16:creationId xmlns:a16="http://schemas.microsoft.com/office/drawing/2014/main" id="{1B032D16-0F2B-1DEC-D92A-ACAF24C07B0A}"/>
              </a:ext>
            </a:extLst>
          </p:cNvPr>
          <p:cNvSpPr>
            <a:spLocks noGrp="1"/>
          </p:cNvSpPr>
          <p:nvPr/>
        </p:nvSpPr>
        <p:spPr>
          <a:xfrm>
            <a:off x="833311" y="327819"/>
            <a:ext cx="444848" cy="438124"/>
          </a:xfrm>
          <a:custGeom>
            <a:avLst/>
            <a:gdLst>
              <a:gd name="T0" fmla="*/ 1265 w 1720"/>
              <a:gd name="T1" fmla="*/ 0 h 1694"/>
              <a:gd name="T2" fmla="*/ 860 w 1720"/>
              <a:gd name="T3" fmla="*/ 996 h 1694"/>
              <a:gd name="T4" fmla="*/ 456 w 1720"/>
              <a:gd name="T5" fmla="*/ 0 h 1694"/>
              <a:gd name="T6" fmla="*/ 0 w 1720"/>
              <a:gd name="T7" fmla="*/ 0 h 1694"/>
              <a:gd name="T8" fmla="*/ 0 w 1720"/>
              <a:gd name="T9" fmla="*/ 1694 h 1694"/>
              <a:gd name="T10" fmla="*/ 303 w 1720"/>
              <a:gd name="T11" fmla="*/ 1694 h 1694"/>
              <a:gd name="T12" fmla="*/ 303 w 1720"/>
              <a:gd name="T13" fmla="*/ 428 h 1694"/>
              <a:gd name="T14" fmla="*/ 692 w 1720"/>
              <a:gd name="T15" fmla="*/ 1321 h 1694"/>
              <a:gd name="T16" fmla="*/ 709 w 1720"/>
              <a:gd name="T17" fmla="*/ 1321 h 1694"/>
              <a:gd name="T18" fmla="*/ 1012 w 1720"/>
              <a:gd name="T19" fmla="*/ 1321 h 1694"/>
              <a:gd name="T20" fmla="*/ 1029 w 1720"/>
              <a:gd name="T21" fmla="*/ 1321 h 1694"/>
              <a:gd name="T22" fmla="*/ 1416 w 1720"/>
              <a:gd name="T23" fmla="*/ 428 h 1694"/>
              <a:gd name="T24" fmla="*/ 1416 w 1720"/>
              <a:gd name="T25" fmla="*/ 1694 h 1694"/>
              <a:gd name="T26" fmla="*/ 1720 w 1720"/>
              <a:gd name="T27" fmla="*/ 1694 h 1694"/>
              <a:gd name="T28" fmla="*/ 1720 w 1720"/>
              <a:gd name="T29" fmla="*/ 0 h 1694"/>
              <a:gd name="T30" fmla="*/ 1265 w 1720"/>
              <a:gd name="T31" fmla="*/ 0 h 1694"/>
            </a:gdLst>
            <a:ahLst/>
            <a:cxnLst/>
            <a:rect l="0" t="0" r="r" b="b"/>
            <a:pathLst>
              <a:path w="1720" h="1694">
                <a:moveTo>
                  <a:pt x="1265" y="0"/>
                </a:moveTo>
                <a:lnTo>
                  <a:pt x="860" y="996"/>
                </a:lnTo>
                <a:lnTo>
                  <a:pt x="456" y="0"/>
                </a:lnTo>
                <a:lnTo>
                  <a:pt x="0" y="0"/>
                </a:lnTo>
                <a:lnTo>
                  <a:pt x="0" y="1694"/>
                </a:lnTo>
                <a:lnTo>
                  <a:pt x="303" y="1694"/>
                </a:lnTo>
                <a:lnTo>
                  <a:pt x="303" y="428"/>
                </a:lnTo>
                <a:lnTo>
                  <a:pt x="692" y="1321"/>
                </a:lnTo>
                <a:lnTo>
                  <a:pt x="709" y="1321"/>
                </a:lnTo>
                <a:lnTo>
                  <a:pt x="1012" y="1321"/>
                </a:lnTo>
                <a:lnTo>
                  <a:pt x="1029" y="1321"/>
                </a:lnTo>
                <a:lnTo>
                  <a:pt x="1416" y="428"/>
                </a:lnTo>
                <a:lnTo>
                  <a:pt x="1416" y="1694"/>
                </a:lnTo>
                <a:lnTo>
                  <a:pt x="1720" y="1694"/>
                </a:lnTo>
                <a:lnTo>
                  <a:pt x="1720" y="0"/>
                </a:lnTo>
                <a:lnTo>
                  <a:pt x="126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31" name="Freeform 12">
            <a:extLst>
              <a:ext uri="{FF2B5EF4-FFF2-40B4-BE49-F238E27FC236}">
                <a16:creationId xmlns:a16="http://schemas.microsoft.com/office/drawing/2014/main" id="{13923343-4541-4792-ADC5-E6333E98D37A}"/>
              </a:ext>
            </a:extLst>
          </p:cNvPr>
          <p:cNvSpPr>
            <a:spLocks noGrp="1"/>
          </p:cNvSpPr>
          <p:nvPr/>
        </p:nvSpPr>
        <p:spPr>
          <a:xfrm>
            <a:off x="330271" y="327819"/>
            <a:ext cx="287858" cy="438124"/>
          </a:xfrm>
          <a:custGeom>
            <a:avLst/>
            <a:gdLst>
              <a:gd name="T0" fmla="*/ 0 w 1113"/>
              <a:gd name="T1" fmla="*/ 0 h 1694"/>
              <a:gd name="T2" fmla="*/ 0 w 1113"/>
              <a:gd name="T3" fmla="*/ 297 h 1694"/>
              <a:gd name="T4" fmla="*/ 397 w 1113"/>
              <a:gd name="T5" fmla="*/ 297 h 1694"/>
              <a:gd name="T6" fmla="*/ 397 w 1113"/>
              <a:gd name="T7" fmla="*/ 1397 h 1694"/>
              <a:gd name="T8" fmla="*/ 0 w 1113"/>
              <a:gd name="T9" fmla="*/ 1397 h 1694"/>
              <a:gd name="T10" fmla="*/ 0 w 1113"/>
              <a:gd name="T11" fmla="*/ 1694 h 1694"/>
              <a:gd name="T12" fmla="*/ 1113 w 1113"/>
              <a:gd name="T13" fmla="*/ 1694 h 1694"/>
              <a:gd name="T14" fmla="*/ 1113 w 1113"/>
              <a:gd name="T15" fmla="*/ 1397 h 1694"/>
              <a:gd name="T16" fmla="*/ 717 w 1113"/>
              <a:gd name="T17" fmla="*/ 1397 h 1694"/>
              <a:gd name="T18" fmla="*/ 717 w 1113"/>
              <a:gd name="T19" fmla="*/ 297 h 1694"/>
              <a:gd name="T20" fmla="*/ 1113 w 1113"/>
              <a:gd name="T21" fmla="*/ 297 h 1694"/>
              <a:gd name="T22" fmla="*/ 1113 w 1113"/>
              <a:gd name="T23" fmla="*/ 0 h 1694"/>
              <a:gd name="T24" fmla="*/ 0 w 1113"/>
              <a:gd name="T25" fmla="*/ 0 h 1694"/>
            </a:gdLst>
            <a:ahLst/>
            <a:cxnLst/>
            <a:rect l="0" t="0" r="r" b="b"/>
            <a:pathLst>
              <a:path w="1113" h="1694">
                <a:moveTo>
                  <a:pt x="0" y="0"/>
                </a:moveTo>
                <a:lnTo>
                  <a:pt x="0" y="297"/>
                </a:lnTo>
                <a:lnTo>
                  <a:pt x="397" y="297"/>
                </a:lnTo>
                <a:lnTo>
                  <a:pt x="397" y="1397"/>
                </a:lnTo>
                <a:lnTo>
                  <a:pt x="0" y="1397"/>
                </a:lnTo>
                <a:lnTo>
                  <a:pt x="0" y="1694"/>
                </a:lnTo>
                <a:lnTo>
                  <a:pt x="1113" y="1694"/>
                </a:lnTo>
                <a:lnTo>
                  <a:pt x="1113" y="1397"/>
                </a:lnTo>
                <a:lnTo>
                  <a:pt x="717" y="1397"/>
                </a:lnTo>
                <a:lnTo>
                  <a:pt x="717" y="297"/>
                </a:lnTo>
                <a:lnTo>
                  <a:pt x="1113" y="297"/>
                </a:lnTo>
                <a:lnTo>
                  <a:pt x="1113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802863CF-25C1-DECF-F640-C736ECDB9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271" y="2417400"/>
            <a:ext cx="9144000" cy="1847942"/>
          </a:xfrm>
        </p:spPr>
        <p:txBody>
          <a:bodyPr anchor="b"/>
          <a:lstStyle>
            <a:lvl1pPr algn="l">
              <a:buNone/>
              <a:defRPr sz="6400">
                <a:solidFill>
                  <a:schemeClr val="accent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623E9086-C2CE-8088-D447-C484543077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271" y="4383000"/>
            <a:ext cx="9144000" cy="1322348"/>
          </a:xfrm>
        </p:spPr>
        <p:txBody>
          <a:bodyPr/>
          <a:lstStyle>
            <a:lvl1pPr marL="0" indent="0" algn="l">
              <a:buNone/>
              <a:defRPr sz="4800">
                <a:solidFill>
                  <a:schemeClr val="accent1"/>
                </a:solidFill>
                <a:latin typeface="+mn-lt"/>
                <a:ea typeface="+mn-lt"/>
                <a:cs typeface="+mn-lt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t>Click to edit Master subtitle style</a:t>
            </a: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2F34A56-64A7-7D06-2C13-DE870A6B3F5B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330271" y="5789336"/>
            <a:ext cx="5579198" cy="740845"/>
          </a:xfrm>
        </p:spPr>
        <p:txBody>
          <a:bodyPr anchor="b"/>
          <a:lstStyle>
            <a:lvl1pPr>
              <a:buNone/>
              <a:defRPr sz="2200" b="1">
                <a:solidFill>
                  <a:schemeClr val="accent1"/>
                </a:solidFill>
                <a:latin typeface="+mn-lt"/>
                <a:ea typeface="+mn-lt"/>
                <a:cs typeface="+mn-lt"/>
              </a:defRPr>
            </a:lvl1pPr>
            <a:lvl2pPr>
              <a:buNone/>
              <a:defRPr sz="2200">
                <a:solidFill>
                  <a:schemeClr val="accent1"/>
                </a:solidFill>
              </a:defRPr>
            </a:lvl2pPr>
            <a:lvl3pPr>
              <a:buNone/>
              <a:defRPr sz="2200">
                <a:solidFill>
                  <a:schemeClr val="accent1"/>
                </a:solidFill>
                <a:latin typeface="+mn-lt"/>
                <a:ea typeface="+mn-lt"/>
                <a:cs typeface="+mn-lt"/>
              </a:defRPr>
            </a:lvl3pPr>
            <a:lvl4pPr>
              <a:buNone/>
              <a:defRPr sz="2200">
                <a:solidFill>
                  <a:schemeClr val="accent1"/>
                </a:solidFill>
                <a:latin typeface="+mn-lt"/>
                <a:ea typeface="+mn-lt"/>
                <a:cs typeface="+mn-lt"/>
              </a:defRPr>
            </a:lvl4pPr>
            <a:lvl5pPr>
              <a:buNone/>
              <a:defRPr sz="2200">
                <a:solidFill>
                  <a:schemeClr val="accent1"/>
                </a:solidFill>
                <a:latin typeface="+mn-lt"/>
                <a:ea typeface="+mn-lt"/>
                <a:cs typeface="+mn-lt"/>
              </a:defRPr>
            </a:lvl5pPr>
            <a:lvl6pPr>
              <a:buNone/>
              <a:defRPr>
                <a:latin typeface="+mn-lt"/>
                <a:ea typeface="+mn-lt"/>
                <a:cs typeface="+mn-lt"/>
              </a:defRPr>
            </a:lvl6pPr>
          </a:lstStyle>
          <a:p>
            <a:pPr lvl="0">
              <a:buNone/>
            </a:pPr>
            <a: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C1E3-6A7C-C21D-910D-C4B7DFFF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271" y="2417400"/>
            <a:ext cx="9144000" cy="1847942"/>
          </a:xfrm>
        </p:spPr>
        <p:txBody>
          <a:bodyPr anchor="b"/>
          <a:lstStyle>
            <a:lvl1pPr algn="l">
              <a:buNone/>
              <a:defRPr sz="6400">
                <a:solidFill>
                  <a:schemeClr val="bg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E0DA90-2FF2-F36C-F9FF-CD7A192F00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271" y="4383000"/>
            <a:ext cx="9144000" cy="1322348"/>
          </a:xfrm>
        </p:spPr>
        <p:txBody>
          <a:bodyPr/>
          <a:lstStyle>
            <a:lvl1pPr marL="0" indent="0" algn="l">
              <a:buNone/>
              <a:defRPr sz="48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t>Click to edit Master subtitle style</a:t>
            </a:r>
          </a:p>
        </p:txBody>
      </p:sp>
      <p:sp>
        <p:nvSpPr>
          <p:cNvPr id="17" name="Freeform 5">
            <a:extLst>
              <a:ext uri="{FF2B5EF4-FFF2-40B4-BE49-F238E27FC236}">
                <a16:creationId xmlns:a16="http://schemas.microsoft.com/office/drawing/2014/main" id="{A57B56D4-851E-7242-EAB1-CD5B53E8B9AB}"/>
              </a:ext>
            </a:extLst>
          </p:cNvPr>
          <p:cNvSpPr>
            <a:spLocks noGrp="1"/>
          </p:cNvSpPr>
          <p:nvPr/>
        </p:nvSpPr>
        <p:spPr>
          <a:xfrm>
            <a:off x="4018633" y="327819"/>
            <a:ext cx="284237" cy="438124"/>
          </a:xfrm>
          <a:custGeom>
            <a:avLst/>
            <a:gdLst>
              <a:gd name="T0" fmla="*/ 0 w 1099"/>
              <a:gd name="T1" fmla="*/ 0 h 1694"/>
              <a:gd name="T2" fmla="*/ 0 w 1099"/>
              <a:gd name="T3" fmla="*/ 1694 h 1694"/>
              <a:gd name="T4" fmla="*/ 1099 w 1099"/>
              <a:gd name="T5" fmla="*/ 1694 h 1694"/>
              <a:gd name="T6" fmla="*/ 1099 w 1099"/>
              <a:gd name="T7" fmla="*/ 1397 h 1694"/>
              <a:gd name="T8" fmla="*/ 319 w 1099"/>
              <a:gd name="T9" fmla="*/ 1397 h 1694"/>
              <a:gd name="T10" fmla="*/ 319 w 1099"/>
              <a:gd name="T11" fmla="*/ 0 h 1694"/>
              <a:gd name="T12" fmla="*/ 0 w 1099"/>
              <a:gd name="T13" fmla="*/ 0 h 1694"/>
            </a:gdLst>
            <a:ahLst/>
            <a:cxnLst/>
            <a:rect l="0" t="0" r="r" b="b"/>
            <a:pathLst>
              <a:path w="1099" h="1694">
                <a:moveTo>
                  <a:pt x="0" y="0"/>
                </a:moveTo>
                <a:lnTo>
                  <a:pt x="0" y="1694"/>
                </a:lnTo>
                <a:lnTo>
                  <a:pt x="1099" y="1694"/>
                </a:lnTo>
                <a:lnTo>
                  <a:pt x="1099" y="1397"/>
                </a:lnTo>
                <a:lnTo>
                  <a:pt x="319" y="1397"/>
                </a:lnTo>
                <a:lnTo>
                  <a:pt x="31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19" name="Freeform 6">
            <a:extLst>
              <a:ext uri="{FF2B5EF4-FFF2-40B4-BE49-F238E27FC236}">
                <a16:creationId xmlns:a16="http://schemas.microsoft.com/office/drawing/2014/main" id="{525FF1F4-36F0-A184-7B99-8F5F4A49C89F}"/>
              </a:ext>
            </a:extLst>
          </p:cNvPr>
          <p:cNvSpPr>
            <a:spLocks noGrp="1"/>
          </p:cNvSpPr>
          <p:nvPr/>
        </p:nvSpPr>
        <p:spPr>
          <a:xfrm>
            <a:off x="3434382" y="327819"/>
            <a:ext cx="397001" cy="438124"/>
          </a:xfrm>
          <a:custGeom>
            <a:avLst/>
            <a:gdLst>
              <a:gd name="T0" fmla="*/ 556 w 1535"/>
              <a:gd name="T1" fmla="*/ 0 h 1694"/>
              <a:gd name="T2" fmla="*/ 0 w 1535"/>
              <a:gd name="T3" fmla="*/ 1694 h 1694"/>
              <a:gd name="T4" fmla="*/ 337 w 1535"/>
              <a:gd name="T5" fmla="*/ 1694 h 1694"/>
              <a:gd name="T6" fmla="*/ 453 w 1535"/>
              <a:gd name="T7" fmla="*/ 1321 h 1694"/>
              <a:gd name="T8" fmla="*/ 1083 w 1535"/>
              <a:gd name="T9" fmla="*/ 1321 h 1694"/>
              <a:gd name="T10" fmla="*/ 1197 w 1535"/>
              <a:gd name="T11" fmla="*/ 1694 h 1694"/>
              <a:gd name="T12" fmla="*/ 1535 w 1535"/>
              <a:gd name="T13" fmla="*/ 1694 h 1694"/>
              <a:gd name="T14" fmla="*/ 978 w 1535"/>
              <a:gd name="T15" fmla="*/ 0 h 1694"/>
              <a:gd name="T16" fmla="*/ 556 w 1535"/>
              <a:gd name="T17" fmla="*/ 0 h 1694"/>
              <a:gd name="T18" fmla="*/ 768 w 1535"/>
              <a:gd name="T19" fmla="*/ 301 h 1694"/>
              <a:gd name="T20" fmla="*/ 998 w 1535"/>
              <a:gd name="T21" fmla="*/ 1048 h 1694"/>
              <a:gd name="T22" fmla="*/ 536 w 1535"/>
              <a:gd name="T23" fmla="*/ 1048 h 1694"/>
              <a:gd name="T24" fmla="*/ 768 w 1535"/>
              <a:gd name="T25" fmla="*/ 301 h 1694"/>
            </a:gdLst>
            <a:ahLst/>
            <a:cxnLst/>
            <a:rect l="0" t="0" r="r" b="b"/>
            <a:pathLst>
              <a:path w="1535" h="1694">
                <a:moveTo>
                  <a:pt x="556" y="0"/>
                </a:moveTo>
                <a:lnTo>
                  <a:pt x="0" y="1694"/>
                </a:lnTo>
                <a:lnTo>
                  <a:pt x="337" y="1694"/>
                </a:lnTo>
                <a:lnTo>
                  <a:pt x="453" y="1321"/>
                </a:lnTo>
                <a:lnTo>
                  <a:pt x="1083" y="1321"/>
                </a:lnTo>
                <a:lnTo>
                  <a:pt x="1197" y="1694"/>
                </a:lnTo>
                <a:lnTo>
                  <a:pt x="1535" y="1694"/>
                </a:lnTo>
                <a:lnTo>
                  <a:pt x="978" y="0"/>
                </a:lnTo>
                <a:lnTo>
                  <a:pt x="556" y="0"/>
                </a:lnTo>
                <a:close/>
                <a:moveTo>
                  <a:pt x="768" y="301"/>
                </a:moveTo>
                <a:lnTo>
                  <a:pt x="998" y="1048"/>
                </a:lnTo>
                <a:lnTo>
                  <a:pt x="536" y="1048"/>
                </a:lnTo>
                <a:lnTo>
                  <a:pt x="768" y="30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20" name="Freeform 7">
            <a:extLst>
              <a:ext uri="{FF2B5EF4-FFF2-40B4-BE49-F238E27FC236}">
                <a16:creationId xmlns:a16="http://schemas.microsoft.com/office/drawing/2014/main" id="{F198715B-A90B-9B06-A055-401A84B0921B}"/>
              </a:ext>
            </a:extLst>
          </p:cNvPr>
          <p:cNvSpPr>
            <a:spLocks noGrp="1"/>
          </p:cNvSpPr>
          <p:nvPr/>
        </p:nvSpPr>
        <p:spPr>
          <a:xfrm>
            <a:off x="2981257" y="327819"/>
            <a:ext cx="287858" cy="438124"/>
          </a:xfrm>
          <a:custGeom>
            <a:avLst/>
            <a:gdLst>
              <a:gd name="T0" fmla="*/ 0 w 1113"/>
              <a:gd name="T1" fmla="*/ 0 h 1694"/>
              <a:gd name="T2" fmla="*/ 0 w 1113"/>
              <a:gd name="T3" fmla="*/ 297 h 1694"/>
              <a:gd name="T4" fmla="*/ 396 w 1113"/>
              <a:gd name="T5" fmla="*/ 297 h 1694"/>
              <a:gd name="T6" fmla="*/ 396 w 1113"/>
              <a:gd name="T7" fmla="*/ 1397 h 1694"/>
              <a:gd name="T8" fmla="*/ 0 w 1113"/>
              <a:gd name="T9" fmla="*/ 1397 h 1694"/>
              <a:gd name="T10" fmla="*/ 0 w 1113"/>
              <a:gd name="T11" fmla="*/ 1694 h 1694"/>
              <a:gd name="T12" fmla="*/ 1113 w 1113"/>
              <a:gd name="T13" fmla="*/ 1694 h 1694"/>
              <a:gd name="T14" fmla="*/ 1113 w 1113"/>
              <a:gd name="T15" fmla="*/ 1397 h 1694"/>
              <a:gd name="T16" fmla="*/ 716 w 1113"/>
              <a:gd name="T17" fmla="*/ 1397 h 1694"/>
              <a:gd name="T18" fmla="*/ 716 w 1113"/>
              <a:gd name="T19" fmla="*/ 297 h 1694"/>
              <a:gd name="T20" fmla="*/ 1113 w 1113"/>
              <a:gd name="T21" fmla="*/ 297 h 1694"/>
              <a:gd name="T22" fmla="*/ 1113 w 1113"/>
              <a:gd name="T23" fmla="*/ 0 h 1694"/>
              <a:gd name="T24" fmla="*/ 0 w 1113"/>
              <a:gd name="T25" fmla="*/ 0 h 1694"/>
            </a:gdLst>
            <a:ahLst/>
            <a:cxnLst/>
            <a:rect l="0" t="0" r="r" b="b"/>
            <a:pathLst>
              <a:path w="1113" h="1694">
                <a:moveTo>
                  <a:pt x="0" y="0"/>
                </a:moveTo>
                <a:lnTo>
                  <a:pt x="0" y="297"/>
                </a:lnTo>
                <a:lnTo>
                  <a:pt x="396" y="297"/>
                </a:lnTo>
                <a:lnTo>
                  <a:pt x="396" y="1397"/>
                </a:lnTo>
                <a:lnTo>
                  <a:pt x="0" y="1397"/>
                </a:lnTo>
                <a:lnTo>
                  <a:pt x="0" y="1694"/>
                </a:lnTo>
                <a:lnTo>
                  <a:pt x="1113" y="1694"/>
                </a:lnTo>
                <a:lnTo>
                  <a:pt x="1113" y="1397"/>
                </a:lnTo>
                <a:lnTo>
                  <a:pt x="716" y="1397"/>
                </a:lnTo>
                <a:lnTo>
                  <a:pt x="716" y="297"/>
                </a:lnTo>
                <a:lnTo>
                  <a:pt x="1113" y="297"/>
                </a:lnTo>
                <a:lnTo>
                  <a:pt x="1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21" name="Freeform 8">
            <a:extLst>
              <a:ext uri="{FF2B5EF4-FFF2-40B4-BE49-F238E27FC236}">
                <a16:creationId xmlns:a16="http://schemas.microsoft.com/office/drawing/2014/main" id="{9D2E04D5-A2EE-135D-A8C9-6E695F9BCF31}"/>
              </a:ext>
            </a:extLst>
          </p:cNvPr>
          <p:cNvSpPr>
            <a:spLocks noGrp="1"/>
          </p:cNvSpPr>
          <p:nvPr/>
        </p:nvSpPr>
        <p:spPr>
          <a:xfrm>
            <a:off x="2467353" y="327819"/>
            <a:ext cx="340619" cy="438124"/>
          </a:xfrm>
          <a:custGeom>
            <a:avLst/>
            <a:gdLst>
              <a:gd name="T0" fmla="*/ 884 w 932"/>
              <a:gd name="T1" fmla="*/ 372 h 1199"/>
              <a:gd name="T2" fmla="*/ 442 w 932"/>
              <a:gd name="T3" fmla="*/ 0 h 1199"/>
              <a:gd name="T4" fmla="*/ 0 w 932"/>
              <a:gd name="T5" fmla="*/ 0 h 1199"/>
              <a:gd name="T6" fmla="*/ 0 w 932"/>
              <a:gd name="T7" fmla="*/ 1199 h 1199"/>
              <a:gd name="T8" fmla="*/ 227 w 932"/>
              <a:gd name="T9" fmla="*/ 1199 h 1199"/>
              <a:gd name="T10" fmla="*/ 227 w 932"/>
              <a:gd name="T11" fmla="*/ 755 h 1199"/>
              <a:gd name="T12" fmla="*/ 418 w 932"/>
              <a:gd name="T13" fmla="*/ 755 h 1199"/>
              <a:gd name="T14" fmla="*/ 450 w 932"/>
              <a:gd name="T15" fmla="*/ 755 h 1199"/>
              <a:gd name="T16" fmla="*/ 681 w 932"/>
              <a:gd name="T17" fmla="*/ 1199 h 1199"/>
              <a:gd name="T18" fmla="*/ 932 w 932"/>
              <a:gd name="T19" fmla="*/ 1199 h 1199"/>
              <a:gd name="T20" fmla="*/ 676 w 932"/>
              <a:gd name="T21" fmla="*/ 707 h 1199"/>
              <a:gd name="T22" fmla="*/ 884 w 932"/>
              <a:gd name="T23" fmla="*/ 372 h 1199"/>
              <a:gd name="T24" fmla="*/ 645 w 932"/>
              <a:gd name="T25" fmla="*/ 372 h 1199"/>
              <a:gd name="T26" fmla="*/ 418 w 932"/>
              <a:gd name="T27" fmla="*/ 562 h 1199"/>
              <a:gd name="T28" fmla="*/ 227 w 932"/>
              <a:gd name="T29" fmla="*/ 562 h 1199"/>
              <a:gd name="T30" fmla="*/ 227 w 932"/>
              <a:gd name="T31" fmla="*/ 194 h 1199"/>
              <a:gd name="T32" fmla="*/ 418 w 932"/>
              <a:gd name="T33" fmla="*/ 194 h 1199"/>
              <a:gd name="T34" fmla="*/ 645 w 932"/>
              <a:gd name="T35" fmla="*/ 372 h 1199"/>
            </a:gdLst>
            <a:ahLst/>
            <a:cxnLst/>
            <a:rect l="0" t="0" r="r" b="b"/>
            <a:pathLst>
              <a:path w="932" h="1199">
                <a:moveTo>
                  <a:pt x="884" y="372"/>
                </a:moveTo>
                <a:cubicBezTo>
                  <a:pt x="884" y="92"/>
                  <a:pt x="693" y="0"/>
                  <a:pt x="442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199"/>
                  <a:pt x="0" y="1199"/>
                  <a:pt x="0" y="1199"/>
                </a:cubicBezTo>
                <a:cubicBezTo>
                  <a:pt x="227" y="1199"/>
                  <a:pt x="227" y="1199"/>
                  <a:pt x="227" y="1199"/>
                </a:cubicBezTo>
                <a:cubicBezTo>
                  <a:pt x="227" y="755"/>
                  <a:pt x="227" y="755"/>
                  <a:pt x="227" y="755"/>
                </a:cubicBezTo>
                <a:cubicBezTo>
                  <a:pt x="418" y="755"/>
                  <a:pt x="418" y="755"/>
                  <a:pt x="418" y="755"/>
                </a:cubicBezTo>
                <a:cubicBezTo>
                  <a:pt x="429" y="755"/>
                  <a:pt x="439" y="755"/>
                  <a:pt x="450" y="755"/>
                </a:cubicBezTo>
                <a:cubicBezTo>
                  <a:pt x="681" y="1199"/>
                  <a:pt x="681" y="1199"/>
                  <a:pt x="681" y="1199"/>
                </a:cubicBezTo>
                <a:cubicBezTo>
                  <a:pt x="932" y="1199"/>
                  <a:pt x="932" y="1199"/>
                  <a:pt x="932" y="1199"/>
                </a:cubicBezTo>
                <a:cubicBezTo>
                  <a:pt x="676" y="707"/>
                  <a:pt x="676" y="707"/>
                  <a:pt x="676" y="707"/>
                </a:cubicBezTo>
                <a:cubicBezTo>
                  <a:pt x="801" y="652"/>
                  <a:pt x="884" y="545"/>
                  <a:pt x="884" y="372"/>
                </a:cubicBezTo>
                <a:moveTo>
                  <a:pt x="645" y="372"/>
                </a:moveTo>
                <a:cubicBezTo>
                  <a:pt x="645" y="516"/>
                  <a:pt x="562" y="562"/>
                  <a:pt x="418" y="562"/>
                </a:cubicBezTo>
                <a:cubicBezTo>
                  <a:pt x="227" y="562"/>
                  <a:pt x="227" y="562"/>
                  <a:pt x="227" y="562"/>
                </a:cubicBezTo>
                <a:cubicBezTo>
                  <a:pt x="227" y="194"/>
                  <a:pt x="227" y="194"/>
                  <a:pt x="227" y="194"/>
                </a:cubicBezTo>
                <a:cubicBezTo>
                  <a:pt x="418" y="194"/>
                  <a:pt x="418" y="194"/>
                  <a:pt x="418" y="194"/>
                </a:cubicBezTo>
                <a:cubicBezTo>
                  <a:pt x="574" y="194"/>
                  <a:pt x="645" y="252"/>
                  <a:pt x="645" y="372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22" name="Freeform 9">
            <a:extLst>
              <a:ext uri="{FF2B5EF4-FFF2-40B4-BE49-F238E27FC236}">
                <a16:creationId xmlns:a16="http://schemas.microsoft.com/office/drawing/2014/main" id="{8CE0DC1F-799B-3F7A-3A71-D20337A4746C}"/>
              </a:ext>
            </a:extLst>
          </p:cNvPr>
          <p:cNvSpPr>
            <a:spLocks noGrp="1"/>
          </p:cNvSpPr>
          <p:nvPr/>
        </p:nvSpPr>
        <p:spPr>
          <a:xfrm>
            <a:off x="1977503" y="327819"/>
            <a:ext cx="283978" cy="438124"/>
          </a:xfrm>
          <a:custGeom>
            <a:avLst/>
            <a:gdLst>
              <a:gd name="T0" fmla="*/ 0 w 1098"/>
              <a:gd name="T1" fmla="*/ 0 h 1694"/>
              <a:gd name="T2" fmla="*/ 0 w 1098"/>
              <a:gd name="T3" fmla="*/ 1694 h 1694"/>
              <a:gd name="T4" fmla="*/ 1098 w 1098"/>
              <a:gd name="T5" fmla="*/ 1694 h 1694"/>
              <a:gd name="T6" fmla="*/ 1098 w 1098"/>
              <a:gd name="T7" fmla="*/ 1397 h 1694"/>
              <a:gd name="T8" fmla="*/ 321 w 1098"/>
              <a:gd name="T9" fmla="*/ 1397 h 1694"/>
              <a:gd name="T10" fmla="*/ 321 w 1098"/>
              <a:gd name="T11" fmla="*/ 973 h 1694"/>
              <a:gd name="T12" fmla="*/ 1030 w 1098"/>
              <a:gd name="T13" fmla="*/ 973 h 1694"/>
              <a:gd name="T14" fmla="*/ 1030 w 1098"/>
              <a:gd name="T15" fmla="*/ 687 h 1694"/>
              <a:gd name="T16" fmla="*/ 321 w 1098"/>
              <a:gd name="T17" fmla="*/ 687 h 1694"/>
              <a:gd name="T18" fmla="*/ 321 w 1098"/>
              <a:gd name="T19" fmla="*/ 297 h 1694"/>
              <a:gd name="T20" fmla="*/ 1098 w 1098"/>
              <a:gd name="T21" fmla="*/ 297 h 1694"/>
              <a:gd name="T22" fmla="*/ 1098 w 1098"/>
              <a:gd name="T23" fmla="*/ 0 h 1694"/>
              <a:gd name="T24" fmla="*/ 0 w 1098"/>
              <a:gd name="T25" fmla="*/ 0 h 1694"/>
            </a:gdLst>
            <a:ahLst/>
            <a:cxnLst/>
            <a:rect l="0" t="0" r="r" b="b"/>
            <a:pathLst>
              <a:path w="1098" h="1694">
                <a:moveTo>
                  <a:pt x="0" y="0"/>
                </a:moveTo>
                <a:lnTo>
                  <a:pt x="0" y="1694"/>
                </a:lnTo>
                <a:lnTo>
                  <a:pt x="1098" y="1694"/>
                </a:lnTo>
                <a:lnTo>
                  <a:pt x="1098" y="1397"/>
                </a:lnTo>
                <a:lnTo>
                  <a:pt x="321" y="1397"/>
                </a:lnTo>
                <a:lnTo>
                  <a:pt x="321" y="973"/>
                </a:lnTo>
                <a:lnTo>
                  <a:pt x="1030" y="973"/>
                </a:lnTo>
                <a:lnTo>
                  <a:pt x="1030" y="687"/>
                </a:lnTo>
                <a:lnTo>
                  <a:pt x="321" y="687"/>
                </a:lnTo>
                <a:lnTo>
                  <a:pt x="321" y="297"/>
                </a:lnTo>
                <a:lnTo>
                  <a:pt x="1098" y="297"/>
                </a:lnTo>
                <a:lnTo>
                  <a:pt x="1098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23" name="Freeform 10">
            <a:extLst>
              <a:ext uri="{FF2B5EF4-FFF2-40B4-BE49-F238E27FC236}">
                <a16:creationId xmlns:a16="http://schemas.microsoft.com/office/drawing/2014/main" id="{E8EAEE22-055F-6869-D50D-D9C8C9082FDC}"/>
              </a:ext>
            </a:extLst>
          </p:cNvPr>
          <p:cNvSpPr>
            <a:spLocks noGrp="1"/>
          </p:cNvSpPr>
          <p:nvPr/>
        </p:nvSpPr>
        <p:spPr>
          <a:xfrm>
            <a:off x="1489204" y="327819"/>
            <a:ext cx="314238" cy="438124"/>
          </a:xfrm>
          <a:custGeom>
            <a:avLst/>
            <a:gdLst>
              <a:gd name="T0" fmla="*/ 406 w 860"/>
              <a:gd name="T1" fmla="*/ 791 h 1199"/>
              <a:gd name="T2" fmla="*/ 227 w 860"/>
              <a:gd name="T3" fmla="*/ 791 h 1199"/>
              <a:gd name="T4" fmla="*/ 227 w 860"/>
              <a:gd name="T5" fmla="*/ 1199 h 1199"/>
              <a:gd name="T6" fmla="*/ 0 w 860"/>
              <a:gd name="T7" fmla="*/ 1199 h 1199"/>
              <a:gd name="T8" fmla="*/ 0 w 860"/>
              <a:gd name="T9" fmla="*/ 0 h 1199"/>
              <a:gd name="T10" fmla="*/ 406 w 860"/>
              <a:gd name="T11" fmla="*/ 0 h 1199"/>
              <a:gd name="T12" fmla="*/ 860 w 860"/>
              <a:gd name="T13" fmla="*/ 396 h 1199"/>
              <a:gd name="T14" fmla="*/ 406 w 860"/>
              <a:gd name="T15" fmla="*/ 791 h 1199"/>
              <a:gd name="T16" fmla="*/ 394 w 860"/>
              <a:gd name="T17" fmla="*/ 194 h 1199"/>
              <a:gd name="T18" fmla="*/ 227 w 860"/>
              <a:gd name="T19" fmla="*/ 194 h 1199"/>
              <a:gd name="T20" fmla="*/ 227 w 860"/>
              <a:gd name="T21" fmla="*/ 598 h 1199"/>
              <a:gd name="T22" fmla="*/ 394 w 860"/>
              <a:gd name="T23" fmla="*/ 598 h 1199"/>
              <a:gd name="T24" fmla="*/ 621 w 860"/>
              <a:gd name="T25" fmla="*/ 396 h 1199"/>
              <a:gd name="T26" fmla="*/ 394 w 860"/>
              <a:gd name="T27" fmla="*/ 194 h 1199"/>
            </a:gdLst>
            <a:ahLst/>
            <a:cxnLst/>
            <a:rect l="0" t="0" r="r" b="b"/>
            <a:pathLst>
              <a:path w="860" h="1199">
                <a:moveTo>
                  <a:pt x="406" y="791"/>
                </a:moveTo>
                <a:cubicBezTo>
                  <a:pt x="227" y="791"/>
                  <a:pt x="227" y="791"/>
                  <a:pt x="227" y="791"/>
                </a:cubicBezTo>
                <a:cubicBezTo>
                  <a:pt x="227" y="1199"/>
                  <a:pt x="227" y="1199"/>
                  <a:pt x="227" y="1199"/>
                </a:cubicBezTo>
                <a:cubicBezTo>
                  <a:pt x="0" y="1199"/>
                  <a:pt x="0" y="1199"/>
                  <a:pt x="0" y="1199"/>
                </a:cubicBezTo>
                <a:cubicBezTo>
                  <a:pt x="0" y="0"/>
                  <a:pt x="0" y="0"/>
                  <a:pt x="0" y="0"/>
                </a:cubicBezTo>
                <a:cubicBezTo>
                  <a:pt x="406" y="0"/>
                  <a:pt x="406" y="0"/>
                  <a:pt x="406" y="0"/>
                </a:cubicBezTo>
                <a:cubicBezTo>
                  <a:pt x="661" y="0"/>
                  <a:pt x="860" y="116"/>
                  <a:pt x="860" y="396"/>
                </a:cubicBezTo>
                <a:cubicBezTo>
                  <a:pt x="860" y="671"/>
                  <a:pt x="659" y="791"/>
                  <a:pt x="406" y="791"/>
                </a:cubicBezTo>
                <a:moveTo>
                  <a:pt x="394" y="194"/>
                </a:moveTo>
                <a:cubicBezTo>
                  <a:pt x="227" y="194"/>
                  <a:pt x="227" y="194"/>
                  <a:pt x="227" y="194"/>
                </a:cubicBezTo>
                <a:cubicBezTo>
                  <a:pt x="227" y="598"/>
                  <a:pt x="227" y="598"/>
                  <a:pt x="227" y="598"/>
                </a:cubicBezTo>
                <a:cubicBezTo>
                  <a:pt x="394" y="598"/>
                  <a:pt x="394" y="598"/>
                  <a:pt x="394" y="598"/>
                </a:cubicBezTo>
                <a:cubicBezTo>
                  <a:pt x="525" y="598"/>
                  <a:pt x="621" y="534"/>
                  <a:pt x="621" y="396"/>
                </a:cubicBezTo>
                <a:cubicBezTo>
                  <a:pt x="621" y="252"/>
                  <a:pt x="525" y="194"/>
                  <a:pt x="394" y="194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24" name="Freeform 11">
            <a:extLst>
              <a:ext uri="{FF2B5EF4-FFF2-40B4-BE49-F238E27FC236}">
                <a16:creationId xmlns:a16="http://schemas.microsoft.com/office/drawing/2014/main" id="{EADAC67C-850F-96D3-0962-09E1B4CC3ECB}"/>
              </a:ext>
            </a:extLst>
          </p:cNvPr>
          <p:cNvSpPr>
            <a:spLocks noGrp="1"/>
          </p:cNvSpPr>
          <p:nvPr/>
        </p:nvSpPr>
        <p:spPr>
          <a:xfrm>
            <a:off x="833311" y="327819"/>
            <a:ext cx="444848" cy="438124"/>
          </a:xfrm>
          <a:custGeom>
            <a:avLst/>
            <a:gdLst>
              <a:gd name="T0" fmla="*/ 1265 w 1720"/>
              <a:gd name="T1" fmla="*/ 0 h 1694"/>
              <a:gd name="T2" fmla="*/ 860 w 1720"/>
              <a:gd name="T3" fmla="*/ 996 h 1694"/>
              <a:gd name="T4" fmla="*/ 456 w 1720"/>
              <a:gd name="T5" fmla="*/ 0 h 1694"/>
              <a:gd name="T6" fmla="*/ 0 w 1720"/>
              <a:gd name="T7" fmla="*/ 0 h 1694"/>
              <a:gd name="T8" fmla="*/ 0 w 1720"/>
              <a:gd name="T9" fmla="*/ 1694 h 1694"/>
              <a:gd name="T10" fmla="*/ 303 w 1720"/>
              <a:gd name="T11" fmla="*/ 1694 h 1694"/>
              <a:gd name="T12" fmla="*/ 303 w 1720"/>
              <a:gd name="T13" fmla="*/ 428 h 1694"/>
              <a:gd name="T14" fmla="*/ 692 w 1720"/>
              <a:gd name="T15" fmla="*/ 1321 h 1694"/>
              <a:gd name="T16" fmla="*/ 709 w 1720"/>
              <a:gd name="T17" fmla="*/ 1321 h 1694"/>
              <a:gd name="T18" fmla="*/ 1012 w 1720"/>
              <a:gd name="T19" fmla="*/ 1321 h 1694"/>
              <a:gd name="T20" fmla="*/ 1029 w 1720"/>
              <a:gd name="T21" fmla="*/ 1321 h 1694"/>
              <a:gd name="T22" fmla="*/ 1416 w 1720"/>
              <a:gd name="T23" fmla="*/ 428 h 1694"/>
              <a:gd name="T24" fmla="*/ 1416 w 1720"/>
              <a:gd name="T25" fmla="*/ 1694 h 1694"/>
              <a:gd name="T26" fmla="*/ 1720 w 1720"/>
              <a:gd name="T27" fmla="*/ 1694 h 1694"/>
              <a:gd name="T28" fmla="*/ 1720 w 1720"/>
              <a:gd name="T29" fmla="*/ 0 h 1694"/>
              <a:gd name="T30" fmla="*/ 1265 w 1720"/>
              <a:gd name="T31" fmla="*/ 0 h 1694"/>
            </a:gdLst>
            <a:ahLst/>
            <a:cxnLst/>
            <a:rect l="0" t="0" r="r" b="b"/>
            <a:pathLst>
              <a:path w="1720" h="1694">
                <a:moveTo>
                  <a:pt x="1265" y="0"/>
                </a:moveTo>
                <a:lnTo>
                  <a:pt x="860" y="996"/>
                </a:lnTo>
                <a:lnTo>
                  <a:pt x="456" y="0"/>
                </a:lnTo>
                <a:lnTo>
                  <a:pt x="0" y="0"/>
                </a:lnTo>
                <a:lnTo>
                  <a:pt x="0" y="1694"/>
                </a:lnTo>
                <a:lnTo>
                  <a:pt x="303" y="1694"/>
                </a:lnTo>
                <a:lnTo>
                  <a:pt x="303" y="428"/>
                </a:lnTo>
                <a:lnTo>
                  <a:pt x="692" y="1321"/>
                </a:lnTo>
                <a:lnTo>
                  <a:pt x="709" y="1321"/>
                </a:lnTo>
                <a:lnTo>
                  <a:pt x="1012" y="1321"/>
                </a:lnTo>
                <a:lnTo>
                  <a:pt x="1029" y="1321"/>
                </a:lnTo>
                <a:lnTo>
                  <a:pt x="1416" y="428"/>
                </a:lnTo>
                <a:lnTo>
                  <a:pt x="1416" y="1694"/>
                </a:lnTo>
                <a:lnTo>
                  <a:pt x="1720" y="1694"/>
                </a:lnTo>
                <a:lnTo>
                  <a:pt x="1720" y="0"/>
                </a:lnTo>
                <a:lnTo>
                  <a:pt x="126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25" name="Freeform 12">
            <a:extLst>
              <a:ext uri="{FF2B5EF4-FFF2-40B4-BE49-F238E27FC236}">
                <a16:creationId xmlns:a16="http://schemas.microsoft.com/office/drawing/2014/main" id="{683187A0-2E68-170D-55EF-0FA20E7A75B8}"/>
              </a:ext>
            </a:extLst>
          </p:cNvPr>
          <p:cNvSpPr>
            <a:spLocks noGrp="1"/>
          </p:cNvSpPr>
          <p:nvPr/>
        </p:nvSpPr>
        <p:spPr>
          <a:xfrm>
            <a:off x="330271" y="327819"/>
            <a:ext cx="287858" cy="438124"/>
          </a:xfrm>
          <a:custGeom>
            <a:avLst/>
            <a:gdLst>
              <a:gd name="T0" fmla="*/ 0 w 1113"/>
              <a:gd name="T1" fmla="*/ 0 h 1694"/>
              <a:gd name="T2" fmla="*/ 0 w 1113"/>
              <a:gd name="T3" fmla="*/ 297 h 1694"/>
              <a:gd name="T4" fmla="*/ 397 w 1113"/>
              <a:gd name="T5" fmla="*/ 297 h 1694"/>
              <a:gd name="T6" fmla="*/ 397 w 1113"/>
              <a:gd name="T7" fmla="*/ 1397 h 1694"/>
              <a:gd name="T8" fmla="*/ 0 w 1113"/>
              <a:gd name="T9" fmla="*/ 1397 h 1694"/>
              <a:gd name="T10" fmla="*/ 0 w 1113"/>
              <a:gd name="T11" fmla="*/ 1694 h 1694"/>
              <a:gd name="T12" fmla="*/ 1113 w 1113"/>
              <a:gd name="T13" fmla="*/ 1694 h 1694"/>
              <a:gd name="T14" fmla="*/ 1113 w 1113"/>
              <a:gd name="T15" fmla="*/ 1397 h 1694"/>
              <a:gd name="T16" fmla="*/ 717 w 1113"/>
              <a:gd name="T17" fmla="*/ 1397 h 1694"/>
              <a:gd name="T18" fmla="*/ 717 w 1113"/>
              <a:gd name="T19" fmla="*/ 297 h 1694"/>
              <a:gd name="T20" fmla="*/ 1113 w 1113"/>
              <a:gd name="T21" fmla="*/ 297 h 1694"/>
              <a:gd name="T22" fmla="*/ 1113 w 1113"/>
              <a:gd name="T23" fmla="*/ 0 h 1694"/>
              <a:gd name="T24" fmla="*/ 0 w 1113"/>
              <a:gd name="T25" fmla="*/ 0 h 1694"/>
            </a:gdLst>
            <a:ahLst/>
            <a:cxnLst/>
            <a:rect l="0" t="0" r="r" b="b"/>
            <a:pathLst>
              <a:path w="1113" h="1694">
                <a:moveTo>
                  <a:pt x="0" y="0"/>
                </a:moveTo>
                <a:lnTo>
                  <a:pt x="0" y="297"/>
                </a:lnTo>
                <a:lnTo>
                  <a:pt x="397" y="297"/>
                </a:lnTo>
                <a:lnTo>
                  <a:pt x="397" y="1397"/>
                </a:lnTo>
                <a:lnTo>
                  <a:pt x="0" y="1397"/>
                </a:lnTo>
                <a:lnTo>
                  <a:pt x="0" y="1694"/>
                </a:lnTo>
                <a:lnTo>
                  <a:pt x="1113" y="1694"/>
                </a:lnTo>
                <a:lnTo>
                  <a:pt x="1113" y="1397"/>
                </a:lnTo>
                <a:lnTo>
                  <a:pt x="717" y="1397"/>
                </a:lnTo>
                <a:lnTo>
                  <a:pt x="717" y="297"/>
                </a:lnTo>
                <a:lnTo>
                  <a:pt x="1113" y="297"/>
                </a:lnTo>
                <a:lnTo>
                  <a:pt x="1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DE35EBC5-835C-E753-0718-4DC94AE7D1D6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330271" y="5789336"/>
            <a:ext cx="5579198" cy="740845"/>
          </a:xfrm>
        </p:spPr>
        <p:txBody>
          <a:bodyPr anchor="b"/>
          <a:lstStyle>
            <a:lvl1pPr>
              <a:buNone/>
              <a:defRPr sz="2200" b="1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>
              <a:buNone/>
              <a:defRPr sz="2200">
                <a:solidFill>
                  <a:schemeClr val="accent1"/>
                </a:solidFill>
              </a:defRPr>
            </a:lvl2pPr>
            <a:lvl3pPr>
              <a:buNone/>
              <a:defRPr sz="2200">
                <a:solidFill>
                  <a:schemeClr val="accent1"/>
                </a:solidFill>
                <a:latin typeface="+mn-lt"/>
                <a:ea typeface="+mn-lt"/>
                <a:cs typeface="+mn-lt"/>
              </a:defRPr>
            </a:lvl3pPr>
            <a:lvl4pPr>
              <a:buNone/>
              <a:defRPr sz="2200">
                <a:solidFill>
                  <a:schemeClr val="accent1"/>
                </a:solidFill>
                <a:latin typeface="+mn-lt"/>
                <a:ea typeface="+mn-lt"/>
                <a:cs typeface="+mn-lt"/>
              </a:defRPr>
            </a:lvl4pPr>
            <a:lvl5pPr>
              <a:buNone/>
              <a:defRPr sz="2200">
                <a:solidFill>
                  <a:schemeClr val="accent1"/>
                </a:solidFill>
                <a:latin typeface="+mn-lt"/>
                <a:ea typeface="+mn-lt"/>
                <a:cs typeface="+mn-lt"/>
              </a:defRPr>
            </a:lvl5pPr>
            <a:lvl6pPr>
              <a:buNone/>
              <a:defRPr>
                <a:latin typeface="+mn-lt"/>
                <a:ea typeface="+mn-lt"/>
                <a:cs typeface="+mn-lt"/>
              </a:defRPr>
            </a:lvl6pPr>
          </a:lstStyle>
          <a:p>
            <a:pPr lvl="0">
              <a:buNone/>
            </a:pPr>
            <a: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77A24E86-91AA-6A9B-314A-752B77481A0D}"/>
              </a:ext>
            </a:extLst>
          </p:cNvPr>
          <p:cNvSpPr>
            <a:spLocks noGrp="1"/>
          </p:cNvSpPr>
          <p:nvPr/>
        </p:nvSpPr>
        <p:spPr>
          <a:xfrm>
            <a:off x="4018633" y="327819"/>
            <a:ext cx="284237" cy="438124"/>
          </a:xfrm>
          <a:custGeom>
            <a:avLst/>
            <a:gdLst>
              <a:gd name="T0" fmla="*/ 0 w 1099"/>
              <a:gd name="T1" fmla="*/ 0 h 1694"/>
              <a:gd name="T2" fmla="*/ 0 w 1099"/>
              <a:gd name="T3" fmla="*/ 1694 h 1694"/>
              <a:gd name="T4" fmla="*/ 1099 w 1099"/>
              <a:gd name="T5" fmla="*/ 1694 h 1694"/>
              <a:gd name="T6" fmla="*/ 1099 w 1099"/>
              <a:gd name="T7" fmla="*/ 1397 h 1694"/>
              <a:gd name="T8" fmla="*/ 319 w 1099"/>
              <a:gd name="T9" fmla="*/ 1397 h 1694"/>
              <a:gd name="T10" fmla="*/ 319 w 1099"/>
              <a:gd name="T11" fmla="*/ 0 h 1694"/>
              <a:gd name="T12" fmla="*/ 0 w 1099"/>
              <a:gd name="T13" fmla="*/ 0 h 1694"/>
            </a:gdLst>
            <a:ahLst/>
            <a:cxnLst/>
            <a:rect l="0" t="0" r="r" b="b"/>
            <a:pathLst>
              <a:path w="1099" h="1694">
                <a:moveTo>
                  <a:pt x="0" y="0"/>
                </a:moveTo>
                <a:lnTo>
                  <a:pt x="0" y="1694"/>
                </a:lnTo>
                <a:lnTo>
                  <a:pt x="1099" y="1694"/>
                </a:lnTo>
                <a:lnTo>
                  <a:pt x="1099" y="1397"/>
                </a:lnTo>
                <a:lnTo>
                  <a:pt x="319" y="1397"/>
                </a:lnTo>
                <a:lnTo>
                  <a:pt x="31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A879B37A-F4A9-2DDA-3FC3-9FC52384AE62}"/>
              </a:ext>
            </a:extLst>
          </p:cNvPr>
          <p:cNvSpPr>
            <a:spLocks noGrp="1"/>
          </p:cNvSpPr>
          <p:nvPr/>
        </p:nvSpPr>
        <p:spPr>
          <a:xfrm>
            <a:off x="3434382" y="327819"/>
            <a:ext cx="397001" cy="438124"/>
          </a:xfrm>
          <a:custGeom>
            <a:avLst/>
            <a:gdLst>
              <a:gd name="T0" fmla="*/ 556 w 1535"/>
              <a:gd name="T1" fmla="*/ 0 h 1694"/>
              <a:gd name="T2" fmla="*/ 0 w 1535"/>
              <a:gd name="T3" fmla="*/ 1694 h 1694"/>
              <a:gd name="T4" fmla="*/ 337 w 1535"/>
              <a:gd name="T5" fmla="*/ 1694 h 1694"/>
              <a:gd name="T6" fmla="*/ 453 w 1535"/>
              <a:gd name="T7" fmla="*/ 1321 h 1694"/>
              <a:gd name="T8" fmla="*/ 1083 w 1535"/>
              <a:gd name="T9" fmla="*/ 1321 h 1694"/>
              <a:gd name="T10" fmla="*/ 1197 w 1535"/>
              <a:gd name="T11" fmla="*/ 1694 h 1694"/>
              <a:gd name="T12" fmla="*/ 1535 w 1535"/>
              <a:gd name="T13" fmla="*/ 1694 h 1694"/>
              <a:gd name="T14" fmla="*/ 978 w 1535"/>
              <a:gd name="T15" fmla="*/ 0 h 1694"/>
              <a:gd name="T16" fmla="*/ 556 w 1535"/>
              <a:gd name="T17" fmla="*/ 0 h 1694"/>
              <a:gd name="T18" fmla="*/ 768 w 1535"/>
              <a:gd name="T19" fmla="*/ 301 h 1694"/>
              <a:gd name="T20" fmla="*/ 998 w 1535"/>
              <a:gd name="T21" fmla="*/ 1048 h 1694"/>
              <a:gd name="T22" fmla="*/ 536 w 1535"/>
              <a:gd name="T23" fmla="*/ 1048 h 1694"/>
              <a:gd name="T24" fmla="*/ 768 w 1535"/>
              <a:gd name="T25" fmla="*/ 301 h 1694"/>
            </a:gdLst>
            <a:ahLst/>
            <a:cxnLst/>
            <a:rect l="0" t="0" r="r" b="b"/>
            <a:pathLst>
              <a:path w="1535" h="1694">
                <a:moveTo>
                  <a:pt x="556" y="0"/>
                </a:moveTo>
                <a:lnTo>
                  <a:pt x="0" y="1694"/>
                </a:lnTo>
                <a:lnTo>
                  <a:pt x="337" y="1694"/>
                </a:lnTo>
                <a:lnTo>
                  <a:pt x="453" y="1321"/>
                </a:lnTo>
                <a:lnTo>
                  <a:pt x="1083" y="1321"/>
                </a:lnTo>
                <a:lnTo>
                  <a:pt x="1197" y="1694"/>
                </a:lnTo>
                <a:lnTo>
                  <a:pt x="1535" y="1694"/>
                </a:lnTo>
                <a:lnTo>
                  <a:pt x="978" y="0"/>
                </a:lnTo>
                <a:lnTo>
                  <a:pt x="556" y="0"/>
                </a:lnTo>
                <a:close/>
                <a:moveTo>
                  <a:pt x="768" y="301"/>
                </a:moveTo>
                <a:lnTo>
                  <a:pt x="998" y="1048"/>
                </a:lnTo>
                <a:lnTo>
                  <a:pt x="536" y="1048"/>
                </a:lnTo>
                <a:lnTo>
                  <a:pt x="768" y="30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93DABC58-132F-2F2F-EB5B-78B30A3D448C}"/>
              </a:ext>
            </a:extLst>
          </p:cNvPr>
          <p:cNvSpPr>
            <a:spLocks noGrp="1"/>
          </p:cNvSpPr>
          <p:nvPr/>
        </p:nvSpPr>
        <p:spPr>
          <a:xfrm>
            <a:off x="2981257" y="327819"/>
            <a:ext cx="287858" cy="438124"/>
          </a:xfrm>
          <a:custGeom>
            <a:avLst/>
            <a:gdLst>
              <a:gd name="T0" fmla="*/ 0 w 1113"/>
              <a:gd name="T1" fmla="*/ 0 h 1694"/>
              <a:gd name="T2" fmla="*/ 0 w 1113"/>
              <a:gd name="T3" fmla="*/ 297 h 1694"/>
              <a:gd name="T4" fmla="*/ 396 w 1113"/>
              <a:gd name="T5" fmla="*/ 297 h 1694"/>
              <a:gd name="T6" fmla="*/ 396 w 1113"/>
              <a:gd name="T7" fmla="*/ 1397 h 1694"/>
              <a:gd name="T8" fmla="*/ 0 w 1113"/>
              <a:gd name="T9" fmla="*/ 1397 h 1694"/>
              <a:gd name="T10" fmla="*/ 0 w 1113"/>
              <a:gd name="T11" fmla="*/ 1694 h 1694"/>
              <a:gd name="T12" fmla="*/ 1113 w 1113"/>
              <a:gd name="T13" fmla="*/ 1694 h 1694"/>
              <a:gd name="T14" fmla="*/ 1113 w 1113"/>
              <a:gd name="T15" fmla="*/ 1397 h 1694"/>
              <a:gd name="T16" fmla="*/ 716 w 1113"/>
              <a:gd name="T17" fmla="*/ 1397 h 1694"/>
              <a:gd name="T18" fmla="*/ 716 w 1113"/>
              <a:gd name="T19" fmla="*/ 297 h 1694"/>
              <a:gd name="T20" fmla="*/ 1113 w 1113"/>
              <a:gd name="T21" fmla="*/ 297 h 1694"/>
              <a:gd name="T22" fmla="*/ 1113 w 1113"/>
              <a:gd name="T23" fmla="*/ 0 h 1694"/>
              <a:gd name="T24" fmla="*/ 0 w 1113"/>
              <a:gd name="T25" fmla="*/ 0 h 1694"/>
            </a:gdLst>
            <a:ahLst/>
            <a:cxnLst/>
            <a:rect l="0" t="0" r="r" b="b"/>
            <a:pathLst>
              <a:path w="1113" h="1694">
                <a:moveTo>
                  <a:pt x="0" y="0"/>
                </a:moveTo>
                <a:lnTo>
                  <a:pt x="0" y="297"/>
                </a:lnTo>
                <a:lnTo>
                  <a:pt x="396" y="297"/>
                </a:lnTo>
                <a:lnTo>
                  <a:pt x="396" y="1397"/>
                </a:lnTo>
                <a:lnTo>
                  <a:pt x="0" y="1397"/>
                </a:lnTo>
                <a:lnTo>
                  <a:pt x="0" y="1694"/>
                </a:lnTo>
                <a:lnTo>
                  <a:pt x="1113" y="1694"/>
                </a:lnTo>
                <a:lnTo>
                  <a:pt x="1113" y="1397"/>
                </a:lnTo>
                <a:lnTo>
                  <a:pt x="716" y="1397"/>
                </a:lnTo>
                <a:lnTo>
                  <a:pt x="716" y="297"/>
                </a:lnTo>
                <a:lnTo>
                  <a:pt x="1113" y="297"/>
                </a:lnTo>
                <a:lnTo>
                  <a:pt x="1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17" name="Freeform 8">
            <a:extLst>
              <a:ext uri="{FF2B5EF4-FFF2-40B4-BE49-F238E27FC236}">
                <a16:creationId xmlns:a16="http://schemas.microsoft.com/office/drawing/2014/main" id="{DFE51362-844C-B4F1-1A83-A287F312E94A}"/>
              </a:ext>
            </a:extLst>
          </p:cNvPr>
          <p:cNvSpPr>
            <a:spLocks noGrp="1"/>
          </p:cNvSpPr>
          <p:nvPr/>
        </p:nvSpPr>
        <p:spPr>
          <a:xfrm>
            <a:off x="2467353" y="327819"/>
            <a:ext cx="340619" cy="438124"/>
          </a:xfrm>
          <a:custGeom>
            <a:avLst/>
            <a:gdLst>
              <a:gd name="T0" fmla="*/ 884 w 932"/>
              <a:gd name="T1" fmla="*/ 372 h 1199"/>
              <a:gd name="T2" fmla="*/ 442 w 932"/>
              <a:gd name="T3" fmla="*/ 0 h 1199"/>
              <a:gd name="T4" fmla="*/ 0 w 932"/>
              <a:gd name="T5" fmla="*/ 0 h 1199"/>
              <a:gd name="T6" fmla="*/ 0 w 932"/>
              <a:gd name="T7" fmla="*/ 1199 h 1199"/>
              <a:gd name="T8" fmla="*/ 227 w 932"/>
              <a:gd name="T9" fmla="*/ 1199 h 1199"/>
              <a:gd name="T10" fmla="*/ 227 w 932"/>
              <a:gd name="T11" fmla="*/ 755 h 1199"/>
              <a:gd name="T12" fmla="*/ 418 w 932"/>
              <a:gd name="T13" fmla="*/ 755 h 1199"/>
              <a:gd name="T14" fmla="*/ 450 w 932"/>
              <a:gd name="T15" fmla="*/ 755 h 1199"/>
              <a:gd name="T16" fmla="*/ 681 w 932"/>
              <a:gd name="T17" fmla="*/ 1199 h 1199"/>
              <a:gd name="T18" fmla="*/ 932 w 932"/>
              <a:gd name="T19" fmla="*/ 1199 h 1199"/>
              <a:gd name="T20" fmla="*/ 676 w 932"/>
              <a:gd name="T21" fmla="*/ 707 h 1199"/>
              <a:gd name="T22" fmla="*/ 884 w 932"/>
              <a:gd name="T23" fmla="*/ 372 h 1199"/>
              <a:gd name="T24" fmla="*/ 645 w 932"/>
              <a:gd name="T25" fmla="*/ 372 h 1199"/>
              <a:gd name="T26" fmla="*/ 418 w 932"/>
              <a:gd name="T27" fmla="*/ 562 h 1199"/>
              <a:gd name="T28" fmla="*/ 227 w 932"/>
              <a:gd name="T29" fmla="*/ 562 h 1199"/>
              <a:gd name="T30" fmla="*/ 227 w 932"/>
              <a:gd name="T31" fmla="*/ 194 h 1199"/>
              <a:gd name="T32" fmla="*/ 418 w 932"/>
              <a:gd name="T33" fmla="*/ 194 h 1199"/>
              <a:gd name="T34" fmla="*/ 645 w 932"/>
              <a:gd name="T35" fmla="*/ 372 h 1199"/>
            </a:gdLst>
            <a:ahLst/>
            <a:cxnLst/>
            <a:rect l="0" t="0" r="r" b="b"/>
            <a:pathLst>
              <a:path w="932" h="1199">
                <a:moveTo>
                  <a:pt x="884" y="372"/>
                </a:moveTo>
                <a:cubicBezTo>
                  <a:pt x="884" y="92"/>
                  <a:pt x="693" y="0"/>
                  <a:pt x="442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199"/>
                  <a:pt x="0" y="1199"/>
                  <a:pt x="0" y="1199"/>
                </a:cubicBezTo>
                <a:cubicBezTo>
                  <a:pt x="227" y="1199"/>
                  <a:pt x="227" y="1199"/>
                  <a:pt x="227" y="1199"/>
                </a:cubicBezTo>
                <a:cubicBezTo>
                  <a:pt x="227" y="755"/>
                  <a:pt x="227" y="755"/>
                  <a:pt x="227" y="755"/>
                </a:cubicBezTo>
                <a:cubicBezTo>
                  <a:pt x="418" y="755"/>
                  <a:pt x="418" y="755"/>
                  <a:pt x="418" y="755"/>
                </a:cubicBezTo>
                <a:cubicBezTo>
                  <a:pt x="429" y="755"/>
                  <a:pt x="439" y="755"/>
                  <a:pt x="450" y="755"/>
                </a:cubicBezTo>
                <a:cubicBezTo>
                  <a:pt x="681" y="1199"/>
                  <a:pt x="681" y="1199"/>
                  <a:pt x="681" y="1199"/>
                </a:cubicBezTo>
                <a:cubicBezTo>
                  <a:pt x="932" y="1199"/>
                  <a:pt x="932" y="1199"/>
                  <a:pt x="932" y="1199"/>
                </a:cubicBezTo>
                <a:cubicBezTo>
                  <a:pt x="676" y="707"/>
                  <a:pt x="676" y="707"/>
                  <a:pt x="676" y="707"/>
                </a:cubicBezTo>
                <a:cubicBezTo>
                  <a:pt x="801" y="652"/>
                  <a:pt x="884" y="545"/>
                  <a:pt x="884" y="372"/>
                </a:cubicBezTo>
                <a:moveTo>
                  <a:pt x="645" y="372"/>
                </a:moveTo>
                <a:cubicBezTo>
                  <a:pt x="645" y="516"/>
                  <a:pt x="562" y="562"/>
                  <a:pt x="418" y="562"/>
                </a:cubicBezTo>
                <a:cubicBezTo>
                  <a:pt x="227" y="562"/>
                  <a:pt x="227" y="562"/>
                  <a:pt x="227" y="562"/>
                </a:cubicBezTo>
                <a:cubicBezTo>
                  <a:pt x="227" y="194"/>
                  <a:pt x="227" y="194"/>
                  <a:pt x="227" y="194"/>
                </a:cubicBezTo>
                <a:cubicBezTo>
                  <a:pt x="418" y="194"/>
                  <a:pt x="418" y="194"/>
                  <a:pt x="418" y="194"/>
                </a:cubicBezTo>
                <a:cubicBezTo>
                  <a:pt x="574" y="194"/>
                  <a:pt x="645" y="252"/>
                  <a:pt x="645" y="372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19" name="Freeform 9">
            <a:extLst>
              <a:ext uri="{FF2B5EF4-FFF2-40B4-BE49-F238E27FC236}">
                <a16:creationId xmlns:a16="http://schemas.microsoft.com/office/drawing/2014/main" id="{E0F57AAB-C462-6A3A-9686-048341EA78B1}"/>
              </a:ext>
            </a:extLst>
          </p:cNvPr>
          <p:cNvSpPr>
            <a:spLocks noGrp="1"/>
          </p:cNvSpPr>
          <p:nvPr/>
        </p:nvSpPr>
        <p:spPr>
          <a:xfrm>
            <a:off x="1977503" y="327819"/>
            <a:ext cx="283978" cy="438124"/>
          </a:xfrm>
          <a:custGeom>
            <a:avLst/>
            <a:gdLst>
              <a:gd name="T0" fmla="*/ 0 w 1098"/>
              <a:gd name="T1" fmla="*/ 0 h 1694"/>
              <a:gd name="T2" fmla="*/ 0 w 1098"/>
              <a:gd name="T3" fmla="*/ 1694 h 1694"/>
              <a:gd name="T4" fmla="*/ 1098 w 1098"/>
              <a:gd name="T5" fmla="*/ 1694 h 1694"/>
              <a:gd name="T6" fmla="*/ 1098 w 1098"/>
              <a:gd name="T7" fmla="*/ 1397 h 1694"/>
              <a:gd name="T8" fmla="*/ 321 w 1098"/>
              <a:gd name="T9" fmla="*/ 1397 h 1694"/>
              <a:gd name="T10" fmla="*/ 321 w 1098"/>
              <a:gd name="T11" fmla="*/ 973 h 1694"/>
              <a:gd name="T12" fmla="*/ 1030 w 1098"/>
              <a:gd name="T13" fmla="*/ 973 h 1694"/>
              <a:gd name="T14" fmla="*/ 1030 w 1098"/>
              <a:gd name="T15" fmla="*/ 687 h 1694"/>
              <a:gd name="T16" fmla="*/ 321 w 1098"/>
              <a:gd name="T17" fmla="*/ 687 h 1694"/>
              <a:gd name="T18" fmla="*/ 321 w 1098"/>
              <a:gd name="T19" fmla="*/ 297 h 1694"/>
              <a:gd name="T20" fmla="*/ 1098 w 1098"/>
              <a:gd name="T21" fmla="*/ 297 h 1694"/>
              <a:gd name="T22" fmla="*/ 1098 w 1098"/>
              <a:gd name="T23" fmla="*/ 0 h 1694"/>
              <a:gd name="T24" fmla="*/ 0 w 1098"/>
              <a:gd name="T25" fmla="*/ 0 h 1694"/>
            </a:gdLst>
            <a:ahLst/>
            <a:cxnLst/>
            <a:rect l="0" t="0" r="r" b="b"/>
            <a:pathLst>
              <a:path w="1098" h="1694">
                <a:moveTo>
                  <a:pt x="0" y="0"/>
                </a:moveTo>
                <a:lnTo>
                  <a:pt x="0" y="1694"/>
                </a:lnTo>
                <a:lnTo>
                  <a:pt x="1098" y="1694"/>
                </a:lnTo>
                <a:lnTo>
                  <a:pt x="1098" y="1397"/>
                </a:lnTo>
                <a:lnTo>
                  <a:pt x="321" y="1397"/>
                </a:lnTo>
                <a:lnTo>
                  <a:pt x="321" y="973"/>
                </a:lnTo>
                <a:lnTo>
                  <a:pt x="1030" y="973"/>
                </a:lnTo>
                <a:lnTo>
                  <a:pt x="1030" y="687"/>
                </a:lnTo>
                <a:lnTo>
                  <a:pt x="321" y="687"/>
                </a:lnTo>
                <a:lnTo>
                  <a:pt x="321" y="297"/>
                </a:lnTo>
                <a:lnTo>
                  <a:pt x="1098" y="297"/>
                </a:lnTo>
                <a:lnTo>
                  <a:pt x="1098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20" name="Freeform 10">
            <a:extLst>
              <a:ext uri="{FF2B5EF4-FFF2-40B4-BE49-F238E27FC236}">
                <a16:creationId xmlns:a16="http://schemas.microsoft.com/office/drawing/2014/main" id="{8A0D371A-82CE-1829-AA32-FB790C7A60A1}"/>
              </a:ext>
            </a:extLst>
          </p:cNvPr>
          <p:cNvSpPr>
            <a:spLocks noGrp="1"/>
          </p:cNvSpPr>
          <p:nvPr/>
        </p:nvSpPr>
        <p:spPr>
          <a:xfrm>
            <a:off x="1489204" y="327819"/>
            <a:ext cx="314238" cy="438124"/>
          </a:xfrm>
          <a:custGeom>
            <a:avLst/>
            <a:gdLst>
              <a:gd name="T0" fmla="*/ 406 w 860"/>
              <a:gd name="T1" fmla="*/ 791 h 1199"/>
              <a:gd name="T2" fmla="*/ 227 w 860"/>
              <a:gd name="T3" fmla="*/ 791 h 1199"/>
              <a:gd name="T4" fmla="*/ 227 w 860"/>
              <a:gd name="T5" fmla="*/ 1199 h 1199"/>
              <a:gd name="T6" fmla="*/ 0 w 860"/>
              <a:gd name="T7" fmla="*/ 1199 h 1199"/>
              <a:gd name="T8" fmla="*/ 0 w 860"/>
              <a:gd name="T9" fmla="*/ 0 h 1199"/>
              <a:gd name="T10" fmla="*/ 406 w 860"/>
              <a:gd name="T11" fmla="*/ 0 h 1199"/>
              <a:gd name="T12" fmla="*/ 860 w 860"/>
              <a:gd name="T13" fmla="*/ 396 h 1199"/>
              <a:gd name="T14" fmla="*/ 406 w 860"/>
              <a:gd name="T15" fmla="*/ 791 h 1199"/>
              <a:gd name="T16" fmla="*/ 394 w 860"/>
              <a:gd name="T17" fmla="*/ 194 h 1199"/>
              <a:gd name="T18" fmla="*/ 227 w 860"/>
              <a:gd name="T19" fmla="*/ 194 h 1199"/>
              <a:gd name="T20" fmla="*/ 227 w 860"/>
              <a:gd name="T21" fmla="*/ 598 h 1199"/>
              <a:gd name="T22" fmla="*/ 394 w 860"/>
              <a:gd name="T23" fmla="*/ 598 h 1199"/>
              <a:gd name="T24" fmla="*/ 621 w 860"/>
              <a:gd name="T25" fmla="*/ 396 h 1199"/>
              <a:gd name="T26" fmla="*/ 394 w 860"/>
              <a:gd name="T27" fmla="*/ 194 h 1199"/>
            </a:gdLst>
            <a:ahLst/>
            <a:cxnLst/>
            <a:rect l="0" t="0" r="r" b="b"/>
            <a:pathLst>
              <a:path w="860" h="1199">
                <a:moveTo>
                  <a:pt x="406" y="791"/>
                </a:moveTo>
                <a:cubicBezTo>
                  <a:pt x="227" y="791"/>
                  <a:pt x="227" y="791"/>
                  <a:pt x="227" y="791"/>
                </a:cubicBezTo>
                <a:cubicBezTo>
                  <a:pt x="227" y="1199"/>
                  <a:pt x="227" y="1199"/>
                  <a:pt x="227" y="1199"/>
                </a:cubicBezTo>
                <a:cubicBezTo>
                  <a:pt x="0" y="1199"/>
                  <a:pt x="0" y="1199"/>
                  <a:pt x="0" y="1199"/>
                </a:cubicBezTo>
                <a:cubicBezTo>
                  <a:pt x="0" y="0"/>
                  <a:pt x="0" y="0"/>
                  <a:pt x="0" y="0"/>
                </a:cubicBezTo>
                <a:cubicBezTo>
                  <a:pt x="406" y="0"/>
                  <a:pt x="406" y="0"/>
                  <a:pt x="406" y="0"/>
                </a:cubicBezTo>
                <a:cubicBezTo>
                  <a:pt x="661" y="0"/>
                  <a:pt x="860" y="116"/>
                  <a:pt x="860" y="396"/>
                </a:cubicBezTo>
                <a:cubicBezTo>
                  <a:pt x="860" y="671"/>
                  <a:pt x="659" y="791"/>
                  <a:pt x="406" y="791"/>
                </a:cubicBezTo>
                <a:moveTo>
                  <a:pt x="394" y="194"/>
                </a:moveTo>
                <a:cubicBezTo>
                  <a:pt x="227" y="194"/>
                  <a:pt x="227" y="194"/>
                  <a:pt x="227" y="194"/>
                </a:cubicBezTo>
                <a:cubicBezTo>
                  <a:pt x="227" y="598"/>
                  <a:pt x="227" y="598"/>
                  <a:pt x="227" y="598"/>
                </a:cubicBezTo>
                <a:cubicBezTo>
                  <a:pt x="394" y="598"/>
                  <a:pt x="394" y="598"/>
                  <a:pt x="394" y="598"/>
                </a:cubicBezTo>
                <a:cubicBezTo>
                  <a:pt x="525" y="598"/>
                  <a:pt x="621" y="534"/>
                  <a:pt x="621" y="396"/>
                </a:cubicBezTo>
                <a:cubicBezTo>
                  <a:pt x="621" y="252"/>
                  <a:pt x="525" y="194"/>
                  <a:pt x="394" y="194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21" name="Freeform 11">
            <a:extLst>
              <a:ext uri="{FF2B5EF4-FFF2-40B4-BE49-F238E27FC236}">
                <a16:creationId xmlns:a16="http://schemas.microsoft.com/office/drawing/2014/main" id="{EA0DE082-4D8F-8158-56B4-AF85C4A0FA22}"/>
              </a:ext>
            </a:extLst>
          </p:cNvPr>
          <p:cNvSpPr>
            <a:spLocks noGrp="1"/>
          </p:cNvSpPr>
          <p:nvPr/>
        </p:nvSpPr>
        <p:spPr>
          <a:xfrm>
            <a:off x="833311" y="327819"/>
            <a:ext cx="444848" cy="438124"/>
          </a:xfrm>
          <a:custGeom>
            <a:avLst/>
            <a:gdLst>
              <a:gd name="T0" fmla="*/ 1265 w 1720"/>
              <a:gd name="T1" fmla="*/ 0 h 1694"/>
              <a:gd name="T2" fmla="*/ 860 w 1720"/>
              <a:gd name="T3" fmla="*/ 996 h 1694"/>
              <a:gd name="T4" fmla="*/ 456 w 1720"/>
              <a:gd name="T5" fmla="*/ 0 h 1694"/>
              <a:gd name="T6" fmla="*/ 0 w 1720"/>
              <a:gd name="T7" fmla="*/ 0 h 1694"/>
              <a:gd name="T8" fmla="*/ 0 w 1720"/>
              <a:gd name="T9" fmla="*/ 1694 h 1694"/>
              <a:gd name="T10" fmla="*/ 303 w 1720"/>
              <a:gd name="T11" fmla="*/ 1694 h 1694"/>
              <a:gd name="T12" fmla="*/ 303 w 1720"/>
              <a:gd name="T13" fmla="*/ 428 h 1694"/>
              <a:gd name="T14" fmla="*/ 692 w 1720"/>
              <a:gd name="T15" fmla="*/ 1321 h 1694"/>
              <a:gd name="T16" fmla="*/ 709 w 1720"/>
              <a:gd name="T17" fmla="*/ 1321 h 1694"/>
              <a:gd name="T18" fmla="*/ 1012 w 1720"/>
              <a:gd name="T19" fmla="*/ 1321 h 1694"/>
              <a:gd name="T20" fmla="*/ 1029 w 1720"/>
              <a:gd name="T21" fmla="*/ 1321 h 1694"/>
              <a:gd name="T22" fmla="*/ 1416 w 1720"/>
              <a:gd name="T23" fmla="*/ 428 h 1694"/>
              <a:gd name="T24" fmla="*/ 1416 w 1720"/>
              <a:gd name="T25" fmla="*/ 1694 h 1694"/>
              <a:gd name="T26" fmla="*/ 1720 w 1720"/>
              <a:gd name="T27" fmla="*/ 1694 h 1694"/>
              <a:gd name="T28" fmla="*/ 1720 w 1720"/>
              <a:gd name="T29" fmla="*/ 0 h 1694"/>
              <a:gd name="T30" fmla="*/ 1265 w 1720"/>
              <a:gd name="T31" fmla="*/ 0 h 1694"/>
            </a:gdLst>
            <a:ahLst/>
            <a:cxnLst/>
            <a:rect l="0" t="0" r="r" b="b"/>
            <a:pathLst>
              <a:path w="1720" h="1694">
                <a:moveTo>
                  <a:pt x="1265" y="0"/>
                </a:moveTo>
                <a:lnTo>
                  <a:pt x="860" y="996"/>
                </a:lnTo>
                <a:lnTo>
                  <a:pt x="456" y="0"/>
                </a:lnTo>
                <a:lnTo>
                  <a:pt x="0" y="0"/>
                </a:lnTo>
                <a:lnTo>
                  <a:pt x="0" y="1694"/>
                </a:lnTo>
                <a:lnTo>
                  <a:pt x="303" y="1694"/>
                </a:lnTo>
                <a:lnTo>
                  <a:pt x="303" y="428"/>
                </a:lnTo>
                <a:lnTo>
                  <a:pt x="692" y="1321"/>
                </a:lnTo>
                <a:lnTo>
                  <a:pt x="709" y="1321"/>
                </a:lnTo>
                <a:lnTo>
                  <a:pt x="1012" y="1321"/>
                </a:lnTo>
                <a:lnTo>
                  <a:pt x="1029" y="1321"/>
                </a:lnTo>
                <a:lnTo>
                  <a:pt x="1416" y="428"/>
                </a:lnTo>
                <a:lnTo>
                  <a:pt x="1416" y="1694"/>
                </a:lnTo>
                <a:lnTo>
                  <a:pt x="1720" y="1694"/>
                </a:lnTo>
                <a:lnTo>
                  <a:pt x="1720" y="0"/>
                </a:lnTo>
                <a:lnTo>
                  <a:pt x="126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22" name="Freeform 12">
            <a:extLst>
              <a:ext uri="{FF2B5EF4-FFF2-40B4-BE49-F238E27FC236}">
                <a16:creationId xmlns:a16="http://schemas.microsoft.com/office/drawing/2014/main" id="{530CFB56-59E9-38CF-519A-B532B32547AB}"/>
              </a:ext>
            </a:extLst>
          </p:cNvPr>
          <p:cNvSpPr>
            <a:spLocks noGrp="1"/>
          </p:cNvSpPr>
          <p:nvPr/>
        </p:nvSpPr>
        <p:spPr>
          <a:xfrm>
            <a:off x="330271" y="327819"/>
            <a:ext cx="287858" cy="438124"/>
          </a:xfrm>
          <a:custGeom>
            <a:avLst/>
            <a:gdLst>
              <a:gd name="T0" fmla="*/ 0 w 1113"/>
              <a:gd name="T1" fmla="*/ 0 h 1694"/>
              <a:gd name="T2" fmla="*/ 0 w 1113"/>
              <a:gd name="T3" fmla="*/ 297 h 1694"/>
              <a:gd name="T4" fmla="*/ 397 w 1113"/>
              <a:gd name="T5" fmla="*/ 297 h 1694"/>
              <a:gd name="T6" fmla="*/ 397 w 1113"/>
              <a:gd name="T7" fmla="*/ 1397 h 1694"/>
              <a:gd name="T8" fmla="*/ 0 w 1113"/>
              <a:gd name="T9" fmla="*/ 1397 h 1694"/>
              <a:gd name="T10" fmla="*/ 0 w 1113"/>
              <a:gd name="T11" fmla="*/ 1694 h 1694"/>
              <a:gd name="T12" fmla="*/ 1113 w 1113"/>
              <a:gd name="T13" fmla="*/ 1694 h 1694"/>
              <a:gd name="T14" fmla="*/ 1113 w 1113"/>
              <a:gd name="T15" fmla="*/ 1397 h 1694"/>
              <a:gd name="T16" fmla="*/ 717 w 1113"/>
              <a:gd name="T17" fmla="*/ 1397 h 1694"/>
              <a:gd name="T18" fmla="*/ 717 w 1113"/>
              <a:gd name="T19" fmla="*/ 297 h 1694"/>
              <a:gd name="T20" fmla="*/ 1113 w 1113"/>
              <a:gd name="T21" fmla="*/ 297 h 1694"/>
              <a:gd name="T22" fmla="*/ 1113 w 1113"/>
              <a:gd name="T23" fmla="*/ 0 h 1694"/>
              <a:gd name="T24" fmla="*/ 0 w 1113"/>
              <a:gd name="T25" fmla="*/ 0 h 1694"/>
            </a:gdLst>
            <a:ahLst/>
            <a:cxnLst/>
            <a:rect l="0" t="0" r="r" b="b"/>
            <a:pathLst>
              <a:path w="1113" h="1694">
                <a:moveTo>
                  <a:pt x="0" y="0"/>
                </a:moveTo>
                <a:lnTo>
                  <a:pt x="0" y="297"/>
                </a:lnTo>
                <a:lnTo>
                  <a:pt x="397" y="297"/>
                </a:lnTo>
                <a:lnTo>
                  <a:pt x="397" y="1397"/>
                </a:lnTo>
                <a:lnTo>
                  <a:pt x="0" y="1397"/>
                </a:lnTo>
                <a:lnTo>
                  <a:pt x="0" y="1694"/>
                </a:lnTo>
                <a:lnTo>
                  <a:pt x="1113" y="1694"/>
                </a:lnTo>
                <a:lnTo>
                  <a:pt x="1113" y="1397"/>
                </a:lnTo>
                <a:lnTo>
                  <a:pt x="717" y="1397"/>
                </a:lnTo>
                <a:lnTo>
                  <a:pt x="717" y="297"/>
                </a:lnTo>
                <a:lnTo>
                  <a:pt x="1113" y="297"/>
                </a:lnTo>
                <a:lnTo>
                  <a:pt x="1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FB5434B5-DD4C-F988-6EBA-085A7DD494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271" y="2417400"/>
            <a:ext cx="9144000" cy="1847942"/>
          </a:xfrm>
        </p:spPr>
        <p:txBody>
          <a:bodyPr anchor="b"/>
          <a:lstStyle>
            <a:lvl1pPr algn="l">
              <a:buNone/>
              <a:defRPr sz="6400">
                <a:solidFill>
                  <a:schemeClr val="bg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1E34748E-CBEF-26E7-AB9F-696FA5D599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271" y="4383000"/>
            <a:ext cx="9144000" cy="1322348"/>
          </a:xfrm>
        </p:spPr>
        <p:txBody>
          <a:bodyPr/>
          <a:lstStyle>
            <a:lvl1pPr marL="0" indent="0" algn="l">
              <a:buNone/>
              <a:defRPr sz="48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t>Click to edit Master subtitle style</a:t>
            </a: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B1788887-B968-8C8D-9236-5F4F1A1842F1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330271" y="5789336"/>
            <a:ext cx="5579198" cy="740845"/>
          </a:xfrm>
        </p:spPr>
        <p:txBody>
          <a:bodyPr anchor="b"/>
          <a:lstStyle>
            <a:lvl1pPr>
              <a:buNone/>
              <a:defRPr sz="2200" b="1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>
              <a:buNone/>
              <a:defRPr sz="2200">
                <a:solidFill>
                  <a:schemeClr val="accent1"/>
                </a:solidFill>
              </a:defRPr>
            </a:lvl2pPr>
            <a:lvl3pPr>
              <a:buNone/>
              <a:defRPr sz="2200">
                <a:solidFill>
                  <a:schemeClr val="accent1"/>
                </a:solidFill>
                <a:latin typeface="+mn-lt"/>
                <a:ea typeface="+mn-lt"/>
                <a:cs typeface="+mn-lt"/>
              </a:defRPr>
            </a:lvl3pPr>
            <a:lvl4pPr>
              <a:buNone/>
              <a:defRPr sz="2200">
                <a:solidFill>
                  <a:schemeClr val="accent1"/>
                </a:solidFill>
                <a:latin typeface="+mn-lt"/>
                <a:ea typeface="+mn-lt"/>
                <a:cs typeface="+mn-lt"/>
              </a:defRPr>
            </a:lvl4pPr>
            <a:lvl5pPr>
              <a:buNone/>
              <a:defRPr sz="2200">
                <a:solidFill>
                  <a:schemeClr val="accent1"/>
                </a:solidFill>
                <a:latin typeface="+mn-lt"/>
                <a:ea typeface="+mn-lt"/>
                <a:cs typeface="+mn-lt"/>
              </a:defRPr>
            </a:lvl5pPr>
            <a:lvl6pPr>
              <a:buNone/>
              <a:defRPr>
                <a:latin typeface="+mn-lt"/>
                <a:ea typeface="+mn-lt"/>
                <a:cs typeface="+mn-lt"/>
              </a:defRPr>
            </a:lvl6pPr>
          </a:lstStyle>
          <a:p>
            <a:pPr lvl="0">
              <a:buNone/>
            </a:pPr>
            <a: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9FE4-6876-B5B6-E975-473C9AD4B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4" y="327819"/>
            <a:ext cx="5163243" cy="3101181"/>
          </a:xfrm>
        </p:spPr>
        <p:txBody>
          <a:bodyPr/>
          <a:lstStyle>
            <a:lvl1pPr>
              <a:buNone/>
              <a:defRPr sz="64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A3DB1-810F-A8E3-C248-4835CAA99DF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GB"/>
              <a:t>29/10/2026</a:t>
            </a:r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B777E5-A94F-F8C3-D5F7-C4C35810FF1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Data Science and Machine Learning for Geoscientists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089025-7C4D-C600-55FE-4CBA1AECC50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BA53E11-492D-48B3-9F9B-09541CA2A39A}" type="slidenum">
              <a:t>‹#›</a:t>
            </a:fld>
            <a:endParaRPr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3EA03B-C9D6-61A6-148F-9BF74F07D9B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1" y="327025"/>
            <a:ext cx="5777508" cy="3101977"/>
          </a:xfrm>
        </p:spPr>
        <p:txBody>
          <a:bodyPr/>
          <a:lstStyle>
            <a:lvl1pPr>
              <a:buNone/>
              <a:defRPr>
                <a:solidFill>
                  <a:schemeClr val="accent1"/>
                </a:solidFill>
              </a:defRPr>
            </a:lvl1pPr>
            <a:lvl2pPr>
              <a:buNone/>
              <a:defRPr>
                <a:solidFill>
                  <a:schemeClr val="accent1"/>
                </a:solidFill>
              </a:defRPr>
            </a:lvl2pPr>
            <a:lvl3pPr>
              <a:buNone/>
              <a:defRPr>
                <a:solidFill>
                  <a:schemeClr val="accent1"/>
                </a:solidFill>
              </a:defRPr>
            </a:lvl3pPr>
            <a:lvl4pPr>
              <a:buNone/>
              <a:defRPr>
                <a:solidFill>
                  <a:schemeClr val="accent1"/>
                </a:solidFill>
              </a:defRPr>
            </a:lvl4pPr>
            <a:lvl5pPr>
              <a:buNone/>
              <a:defRPr>
                <a:solidFill>
                  <a:schemeClr val="accent1"/>
                </a:solidFill>
              </a:defRPr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9FE4-6876-B5B6-E975-473C9AD4B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4" y="327819"/>
            <a:ext cx="5163243" cy="3101181"/>
          </a:xfrm>
        </p:spPr>
        <p:txBody>
          <a:bodyPr/>
          <a:lstStyle>
            <a:lvl1pPr>
              <a:buNone/>
              <a:defRPr sz="64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A3DB1-810F-A8E3-C248-4835CAA99DF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GB"/>
              <a:t>29/10/2026</a:t>
            </a:r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B777E5-A94F-F8C3-D5F7-C4C35810FF1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Data Science and Machine Learning for Geoscientists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089025-7C4D-C600-55FE-4CBA1AECC50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BA53E11-492D-48B3-9F9B-09541CA2A39A}" type="slidenum">
              <a:t>‹#›</a:t>
            </a:fld>
            <a:endParaRPr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3EA03B-C9D6-61A6-148F-9BF74F07D9B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1" y="327025"/>
            <a:ext cx="5777508" cy="3101977"/>
          </a:xfrm>
        </p:spPr>
        <p:txBody>
          <a:bodyPr/>
          <a:lstStyle>
            <a:lvl1pPr>
              <a:buNone/>
              <a:defRPr>
                <a:solidFill>
                  <a:schemeClr val="accent1"/>
                </a:solidFill>
              </a:defRPr>
            </a:lvl1pPr>
            <a:lvl2pPr>
              <a:buNone/>
              <a:defRPr>
                <a:solidFill>
                  <a:schemeClr val="accent1"/>
                </a:solidFill>
              </a:defRPr>
            </a:lvl2pPr>
            <a:lvl3pPr>
              <a:buNone/>
              <a:defRPr>
                <a:solidFill>
                  <a:schemeClr val="accent1"/>
                </a:solidFill>
              </a:defRPr>
            </a:lvl3pPr>
            <a:lvl4pPr>
              <a:buNone/>
              <a:defRPr>
                <a:solidFill>
                  <a:schemeClr val="accent1"/>
                </a:solidFill>
              </a:defRPr>
            </a:lvl4pPr>
            <a:lvl5pPr>
              <a:buNone/>
              <a:defRPr>
                <a:solidFill>
                  <a:schemeClr val="accent1"/>
                </a:solidFill>
              </a:defRPr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9FE4-6876-B5B6-E975-473C9AD4B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4" y="327819"/>
            <a:ext cx="5163243" cy="3101181"/>
          </a:xfrm>
        </p:spPr>
        <p:txBody>
          <a:bodyPr/>
          <a:lstStyle>
            <a:lvl1pPr>
              <a:buNone/>
              <a:defRPr sz="64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A3DB1-810F-A8E3-C248-4835CAA99DF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GB"/>
              <a:t>29/10/2026</a:t>
            </a:r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B777E5-A94F-F8C3-D5F7-C4C35810FF1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Data Science and Machine Learning for Geoscientists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089025-7C4D-C600-55FE-4CBA1AECC50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BA53E11-492D-48B3-9F9B-09541CA2A39A}" type="slidenum">
              <a:t>‹#›</a:t>
            </a:fld>
            <a:endParaRPr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3EA03B-C9D6-61A6-148F-9BF74F07D9B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1" y="327025"/>
            <a:ext cx="5777508" cy="3101977"/>
          </a:xfrm>
        </p:spPr>
        <p:txBody>
          <a:bodyPr/>
          <a:lstStyle>
            <a:lvl1pPr>
              <a:buNone/>
              <a:defRPr>
                <a:solidFill>
                  <a:schemeClr val="accent1"/>
                </a:solidFill>
              </a:defRPr>
            </a:lvl1pPr>
            <a:lvl2pPr>
              <a:buNone/>
              <a:defRPr>
                <a:solidFill>
                  <a:schemeClr val="accent1"/>
                </a:solidFill>
              </a:defRPr>
            </a:lvl2pPr>
            <a:lvl3pPr>
              <a:buNone/>
              <a:defRPr>
                <a:solidFill>
                  <a:schemeClr val="accent1"/>
                </a:solidFill>
              </a:defRPr>
            </a:lvl3pPr>
            <a:lvl4pPr>
              <a:buNone/>
              <a:defRPr>
                <a:solidFill>
                  <a:schemeClr val="accent1"/>
                </a:solidFill>
              </a:defRPr>
            </a:lvl4pPr>
            <a:lvl5pPr>
              <a:buNone/>
              <a:defRPr>
                <a:solidFill>
                  <a:schemeClr val="accent1"/>
                </a:solidFill>
              </a:defRPr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9FE4-6876-B5B6-E975-473C9AD4B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4" y="238870"/>
            <a:ext cx="5163243" cy="3190130"/>
          </a:xfrm>
        </p:spPr>
        <p:txBody>
          <a:bodyPr/>
          <a:lstStyle>
            <a:lvl1pPr>
              <a:buNone/>
              <a:defRPr sz="6400">
                <a:solidFill>
                  <a:schemeClr val="bg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A3DB1-810F-A8E3-C248-4835CAA99DF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29/10/2026</a:t>
            </a:r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B777E5-A94F-F8C3-D5F7-C4C35810FF1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t>Data Science and Machine Learning for Geoscientists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089025-7C4D-C600-55FE-4CBA1AECC50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fld id="{CBA53E11-492D-48B3-9F9B-09541CA2A39A}" type="slidenum">
              <a:t>‹#›</a:t>
            </a:fld>
            <a:endParaRPr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3EA03B-C9D6-61A6-148F-9BF74F07D9B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1" y="327819"/>
            <a:ext cx="5777508" cy="3101183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C35426-417C-E41E-5A03-5974D3C79A08}"/>
              </a:ext>
            </a:extLst>
          </p:cNvPr>
          <p:cNvSpPr>
            <a:spLocks noGrp="1"/>
          </p:cNvSpPr>
          <p:nvPr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buNone/>
            </a:pPr>
            <a:r>
              <a:rPr sz="850" b="0">
                <a:solidFill>
                  <a:schemeClr val="bg1"/>
                </a:solidFill>
                <a:latin typeface="+mj-lt"/>
                <a:ea typeface="+mj-lt"/>
                <a:cs typeface="+mj-lt"/>
              </a:rPr>
              <a:t>Imperial College London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0AC38-BED1-9031-E2E0-CB195EDFD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26F26-EA3D-40AC-124C-008BE90D7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800" y="1394619"/>
            <a:ext cx="11540763" cy="4866481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C11D5-984D-8680-D542-25A06BDC5C8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GB"/>
              <a:t>29/10/2026</a:t>
            </a:r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E529F-F811-2979-BFFA-08BB8BC2F24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Data Science and Machine Learning for Geoscientists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69BFE-A663-D9A7-8252-C853694690A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BA53E11-492D-48B3-9F9B-09541CA2A39A}" type="slidenum">
              <a:t>‹#›</a:t>
            </a:fld>
            <a:endParaRPr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2B454FF-7060-E11B-6122-C9D16BC0604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0AC38-BED1-9031-E2E0-CB195EDFD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26F26-EA3D-40AC-124C-008BE90D7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800" y="1394619"/>
            <a:ext cx="11540763" cy="4866481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C11D5-984D-8680-D542-25A06BDC5C8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GB"/>
              <a:t>29/10/2026</a:t>
            </a:r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E529F-F811-2979-BFFA-08BB8BC2F24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Data Science and Machine Learning for Geoscientists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69BFE-A663-D9A7-8252-C853694690A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BA53E11-492D-48B3-9F9B-09541CA2A39A}" type="slidenum">
              <a:t>‹#›</a:t>
            </a:fld>
            <a:endParaRPr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2B454FF-7060-E11B-6122-C9D16BC0604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0AC38-BED1-9031-E2E0-CB195EDFD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26F26-EA3D-40AC-124C-008BE90D7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800" y="1394619"/>
            <a:ext cx="11540763" cy="4866481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C11D5-984D-8680-D542-25A06BDC5C8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GB"/>
              <a:t>29/10/2026</a:t>
            </a:r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E529F-F811-2979-BFFA-08BB8BC2F24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Data Science and Machine Learning for Geoscientists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69BFE-A663-D9A7-8252-C853694690A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BA53E11-492D-48B3-9F9B-09541CA2A39A}" type="slidenum">
              <a:t>‹#›</a:t>
            </a:fld>
            <a:endParaRPr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2B454FF-7060-E11B-6122-C9D16BC0604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934A7-BB27-0705-778A-9BC1A80F5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232" y="252000"/>
            <a:ext cx="11541025" cy="378044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3D824-2B92-00E0-3B10-2E7351FAE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232" y="1394619"/>
            <a:ext cx="5583238" cy="4866481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16325E-A8D8-4356-8054-A314C1AF0A0C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283325" y="1394619"/>
            <a:ext cx="5583238" cy="4866481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109A4F-CF52-ABB2-91FD-CF9C01BF0DA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GB"/>
              <a:t>29/10/2026</a:t>
            </a:r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5B9B47-9D04-96FB-8B95-D7BC38470F9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Data Science and Machine Learning for Geoscientists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D9458-0376-0EC1-BA89-A49552E192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BA53E11-492D-48B3-9F9B-09541CA2A39A}" type="slidenum">
              <a:t>‹#›</a:t>
            </a:fld>
            <a:endParaRPr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E5619CB-8093-9292-D19B-3E145BB563F3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934A7-BB27-0705-778A-9BC1A80F5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232" y="252000"/>
            <a:ext cx="11541025" cy="378044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3D824-2B92-00E0-3B10-2E7351FAE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232" y="1394619"/>
            <a:ext cx="5583238" cy="4866481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16325E-A8D8-4356-8054-A314C1AF0A0C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283325" y="1394619"/>
            <a:ext cx="5583238" cy="4866481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109A4F-CF52-ABB2-91FD-CF9C01BF0DA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GB"/>
              <a:t>29/10/2026</a:t>
            </a:r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5B9B47-9D04-96FB-8B95-D7BC38470F9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Data Science and Machine Learning for Geoscientists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D9458-0376-0EC1-BA89-A49552E192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BA53E11-492D-48B3-9F9B-09541CA2A39A}" type="slidenum">
              <a:t>‹#›</a:t>
            </a:fld>
            <a:endParaRPr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E5619CB-8093-9292-D19B-3E145BB563F3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934A7-BB27-0705-778A-9BC1A80F5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232" y="252000"/>
            <a:ext cx="11541025" cy="378044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3D824-2B92-00E0-3B10-2E7351FAE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232" y="1394619"/>
            <a:ext cx="5583238" cy="4866481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16325E-A8D8-4356-8054-A314C1AF0A0C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283325" y="1394619"/>
            <a:ext cx="5583238" cy="4866481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109A4F-CF52-ABB2-91FD-CF9C01BF0DA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GB"/>
              <a:t>29/10/2026</a:t>
            </a:r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5B9B47-9D04-96FB-8B95-D7BC38470F9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Data Science and Machine Learning for Geoscientists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D9458-0376-0EC1-BA89-A49552E192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BA53E11-492D-48B3-9F9B-09541CA2A39A}" type="slidenum">
              <a:t>‹#›</a:t>
            </a:fld>
            <a:endParaRPr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E5619CB-8093-9292-D19B-3E145BB563F3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GB"/>
              <a:t>29/10/2026</a:t>
            </a:r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Data Science and Machine Learning for Geoscientists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BA53E11-492D-48B3-9F9B-09541CA2A39A}" type="slidenum">
              <a:t>‹#›</a:t>
            </a:fld>
            <a:endParaRPr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232" y="1394619"/>
            <a:ext cx="3600000" cy="4866481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96397" y="1394619"/>
            <a:ext cx="3600000" cy="4866481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66562" y="1394619"/>
            <a:ext cx="3600000" cy="4866481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CBB1273F-0B9B-4FDD-4203-5D0C87B419DE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GB"/>
              <a:t>29/10/2026</a:t>
            </a:r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Data Science and Machine Learning for Geoscientists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BA53E11-492D-48B3-9F9B-09541CA2A39A}" type="slidenum">
              <a:t>‹#›</a:t>
            </a:fld>
            <a:endParaRPr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232" y="1394619"/>
            <a:ext cx="3600000" cy="4866481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96397" y="1394619"/>
            <a:ext cx="3600000" cy="4866481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66562" y="1394619"/>
            <a:ext cx="3600000" cy="4866481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CBB1273F-0B9B-4FDD-4203-5D0C87B419DE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GB"/>
              <a:t>29/10/2026</a:t>
            </a:r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Data Science and Machine Learning for Geoscientists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BA53E11-492D-48B3-9F9B-09541CA2A39A}" type="slidenum">
              <a:t>‹#›</a:t>
            </a:fld>
            <a:endParaRPr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232" y="1394619"/>
            <a:ext cx="3600000" cy="4866481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96397" y="1394619"/>
            <a:ext cx="3600000" cy="4866481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66562" y="1394619"/>
            <a:ext cx="3600000" cy="4866481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CBB1273F-0B9B-4FDD-4203-5D0C87B419DE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GB"/>
              <a:t>29/10/2026</a:t>
            </a:r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Data Science and Machine Learning for Geoscientists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BA53E11-492D-48B3-9F9B-09541CA2A39A}" type="slidenum">
              <a:t>‹#›</a:t>
            </a:fld>
            <a:endParaRPr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493" y="3429000"/>
            <a:ext cx="3600000" cy="2832100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76876" y="3429000"/>
            <a:ext cx="3600000" cy="2832100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35258" y="3429000"/>
            <a:ext cx="3600000" cy="2832100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47AD979-9E36-27D3-D861-472A37C9BD30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318490" y="1394619"/>
            <a:ext cx="3600000" cy="1836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t>Click icon to add picture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BA925AEF-9705-43FC-B311-1B9A5C872480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4276876" y="1394619"/>
            <a:ext cx="3600000" cy="1836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t>Click icon to add picture</a:t>
            </a:r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71EBAC93-1C14-C84A-FF75-AC90D6C8A890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8235261" y="1394619"/>
            <a:ext cx="3600000" cy="1836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t>Click icon to add picture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A6EB687B-5D2E-6018-5C19-6211E4ADBA8B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aptions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GB"/>
              <a:t>29/10/2026</a:t>
            </a:r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Data Science and Machine Learning for Geoscientists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BA53E11-492D-48B3-9F9B-09541CA2A39A}" type="slidenum">
              <a:t>‹#›</a:t>
            </a:fld>
            <a:endParaRPr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493" y="3429000"/>
            <a:ext cx="3600000" cy="2832100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76876" y="3429000"/>
            <a:ext cx="3600000" cy="2832100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35258" y="3429000"/>
            <a:ext cx="3600000" cy="2832100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47AD979-9E36-27D3-D861-472A37C9BD30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318490" y="1394619"/>
            <a:ext cx="3600000" cy="1836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t>Click icon to add picture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BA925AEF-9705-43FC-B311-1B9A5C872480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4276876" y="1394619"/>
            <a:ext cx="3600000" cy="1836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t>Click icon to add picture</a:t>
            </a:r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71EBAC93-1C14-C84A-FF75-AC90D6C8A890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8235261" y="1394619"/>
            <a:ext cx="3600000" cy="1836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t>Click icon to add picture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A6EB687B-5D2E-6018-5C19-6211E4ADBA8B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aptions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GB"/>
              <a:t>29/10/2026</a:t>
            </a:r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Data Science and Machine Learning for Geoscientists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BA53E11-492D-48B3-9F9B-09541CA2A39A}" type="slidenum">
              <a:t>‹#›</a:t>
            </a:fld>
            <a:endParaRPr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493" y="3429000"/>
            <a:ext cx="3600000" cy="2832100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76876" y="3429000"/>
            <a:ext cx="3600000" cy="2832100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35258" y="3429000"/>
            <a:ext cx="3600000" cy="2832100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47AD979-9E36-27D3-D861-472A37C9BD30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318490" y="1394619"/>
            <a:ext cx="3600000" cy="1836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t>Click icon to add picture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BA925AEF-9705-43FC-B311-1B9A5C872480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4276876" y="1394619"/>
            <a:ext cx="3600000" cy="1836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t>Click icon to add picture</a:t>
            </a:r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71EBAC93-1C14-C84A-FF75-AC90D6C8A890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8235261" y="1394619"/>
            <a:ext cx="3600000" cy="1836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t>Click icon to add picture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A6EB687B-5D2E-6018-5C19-6211E4ADBA8B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F41CF-A3E3-C272-C94C-947AC89C8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2" y="327819"/>
            <a:ext cx="9984000" cy="5933281"/>
          </a:xfrm>
        </p:spPr>
        <p:txBody>
          <a:bodyPr/>
          <a:lstStyle>
            <a:lvl1pPr>
              <a:buNone/>
              <a:defRPr sz="48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80FA7-D3DB-DCE0-62D3-E92CDF5E1BD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GB"/>
              <a:t>29/10/2026</a:t>
            </a:r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FFF8CC-E316-E641-C9CE-DF3DAA8A642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Data Science and Machine Learning for Geoscientists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F5865-014C-FA86-09B0-6C05A0B661A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BA53E11-492D-48B3-9F9B-09541CA2A39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F41CF-A3E3-C272-C94C-947AC89C8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2" y="327819"/>
            <a:ext cx="9984000" cy="5933281"/>
          </a:xfrm>
        </p:spPr>
        <p:txBody>
          <a:bodyPr/>
          <a:lstStyle>
            <a:lvl1pPr>
              <a:buNone/>
              <a:defRPr sz="48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80FA7-D3DB-DCE0-62D3-E92CDF5E1BD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GB"/>
              <a:t>29/10/2026</a:t>
            </a:r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FFF8CC-E316-E641-C9CE-DF3DAA8A642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Data Science and Machine Learning for Geoscientists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F5865-014C-FA86-09B0-6C05A0B661A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BA53E11-492D-48B3-9F9B-09541CA2A39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F41CF-A3E3-C272-C94C-947AC89C8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2" y="327819"/>
            <a:ext cx="9984000" cy="5933281"/>
          </a:xfrm>
        </p:spPr>
        <p:txBody>
          <a:bodyPr/>
          <a:lstStyle>
            <a:lvl1pPr>
              <a:buNone/>
              <a:defRPr sz="48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80FA7-D3DB-DCE0-62D3-E92CDF5E1BD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GB"/>
              <a:t>29/10/2026</a:t>
            </a:r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FFF8CC-E316-E641-C9CE-DF3DAA8A642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Data Science and Machine Learning for Geoscientists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F5865-014C-FA86-09B0-6C05A0B661A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BA53E11-492D-48B3-9F9B-09541CA2A39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F41CF-A3E3-C272-C94C-947AC89C8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2" y="327025"/>
            <a:ext cx="9984000" cy="5934075"/>
          </a:xfrm>
        </p:spPr>
        <p:txBody>
          <a:bodyPr/>
          <a:lstStyle>
            <a:lvl1pPr>
              <a:buNone/>
              <a:defRPr sz="4800">
                <a:solidFill>
                  <a:schemeClr val="bg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80FA7-D3DB-DCE0-62D3-E92CDF5E1BD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29/10/2026</a:t>
            </a:r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FFF8CC-E316-E641-C9CE-DF3DAA8A642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t>Data Science and Machine Learning for Geoscientists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F5865-014C-FA86-09B0-6C05A0B661A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fld id="{CBA53E11-492D-48B3-9F9B-09541CA2A39A}" type="slidenum">
              <a:t>‹#›</a:t>
            </a:fld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A8D6E0-472D-9B14-F3A6-BC2F23E87040}"/>
              </a:ext>
            </a:extLst>
          </p:cNvPr>
          <p:cNvSpPr>
            <a:spLocks noGrp="1"/>
          </p:cNvSpPr>
          <p:nvPr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buNone/>
            </a:pPr>
            <a:r>
              <a:rPr sz="850" b="0">
                <a:solidFill>
                  <a:schemeClr val="bg1"/>
                </a:solidFill>
                <a:latin typeface="+mj-lt"/>
                <a:ea typeface="+mj-lt"/>
                <a:cs typeface="+mj-lt"/>
              </a:rPr>
              <a:t>Imperial College London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21AD4-68E5-D832-D55C-9ACFCD153AF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GB"/>
              <a:t>29/10/2026</a:t>
            </a:r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1EA1B-04BA-0493-81EB-3E7823E1902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Data Science and Machine Learning for Geoscientists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22947-0466-77E3-9884-7FFF54F0FEA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BA53E11-492D-48B3-9F9B-09541CA2A39A}" type="slidenum">
              <a:t>‹#›</a:t>
            </a:fld>
            <a:endParaRPr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5A24D7B-41EB-9794-42AE-564F6680EA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</p:spPr>
        <p:txBody>
          <a:bodyPr anchor="b"/>
          <a:lstStyle>
            <a:lvl1pPr algn="l">
              <a:buNone/>
              <a:defRPr sz="6400">
                <a:solidFill>
                  <a:schemeClr val="accent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14EAC6AD-293C-6C12-F9F6-48F5FCB0E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/>
          <a:lstStyle>
            <a:lvl1pPr marL="0" indent="0" algn="l">
              <a:buNone/>
              <a:defRPr sz="4750">
                <a:solidFill>
                  <a:schemeClr val="accent1"/>
                </a:solidFill>
                <a:latin typeface="+mn-lt"/>
                <a:ea typeface="+mn-lt"/>
                <a:cs typeface="+mn-lt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21AD4-68E5-D832-D55C-9ACFCD153AF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GB"/>
              <a:t>29/10/2026</a:t>
            </a:r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1EA1B-04BA-0493-81EB-3E7823E1902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Data Science and Machine Learning for Geoscientists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22947-0466-77E3-9884-7FFF54F0FEA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BA53E11-492D-48B3-9F9B-09541CA2A39A}" type="slidenum">
              <a:t>‹#›</a:t>
            </a:fld>
            <a:endParaRPr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5A24D7B-41EB-9794-42AE-564F6680EA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</p:spPr>
        <p:txBody>
          <a:bodyPr anchor="b"/>
          <a:lstStyle>
            <a:lvl1pPr algn="l">
              <a:buNone/>
              <a:defRPr sz="6400">
                <a:solidFill>
                  <a:schemeClr val="accent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14EAC6AD-293C-6C12-F9F6-48F5FCB0E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/>
          <a:lstStyle>
            <a:lvl1pPr marL="0" indent="0" algn="l">
              <a:buNone/>
              <a:defRPr sz="4750">
                <a:solidFill>
                  <a:schemeClr val="accent1"/>
                </a:solidFill>
                <a:latin typeface="+mn-lt"/>
                <a:ea typeface="+mn-lt"/>
                <a:cs typeface="+mn-lt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21AD4-68E5-D832-D55C-9ACFCD153AF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GB"/>
              <a:t>29/10/2026</a:t>
            </a:r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1EA1B-04BA-0493-81EB-3E7823E1902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Data Science and Machine Learning for Geoscientists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22947-0466-77E3-9884-7FFF54F0FEA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BA53E11-492D-48B3-9F9B-09541CA2A39A}" type="slidenum">
              <a:t>‹#›</a:t>
            </a:fld>
            <a:endParaRPr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5A24D7B-41EB-9794-42AE-564F6680EA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</p:spPr>
        <p:txBody>
          <a:bodyPr anchor="b"/>
          <a:lstStyle>
            <a:lvl1pPr algn="l">
              <a:buNone/>
              <a:defRPr sz="6400">
                <a:solidFill>
                  <a:schemeClr val="accent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14EAC6AD-293C-6C12-F9F6-48F5FCB0E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/>
          <a:lstStyle>
            <a:lvl1pPr marL="0" indent="0" algn="l">
              <a:buNone/>
              <a:defRPr sz="4750">
                <a:solidFill>
                  <a:schemeClr val="accent1"/>
                </a:solidFill>
                <a:latin typeface="+mn-lt"/>
                <a:ea typeface="+mn-lt"/>
                <a:cs typeface="+mn-lt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EE2EA-C029-0AE3-B18F-CB5D823CD41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29/10/2026</a:t>
            </a:r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4AA3B-FC1A-1DAF-C282-4ED6FC74031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t>Data Science and Machine Learning for Geoscientists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8A0A1-4076-F926-D730-16EF8BBD729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fld id="{CBA53E11-492D-48B3-9F9B-09541CA2A39A}" type="slidenum">
              <a:t>‹#›</a:t>
            </a:fld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3E70A2-A3C6-29D0-1DEB-4D8F9283B18B}"/>
              </a:ext>
            </a:extLst>
          </p:cNvPr>
          <p:cNvSpPr>
            <a:spLocks noGrp="1"/>
          </p:cNvSpPr>
          <p:nvPr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buNone/>
            </a:pPr>
            <a:r>
              <a:rPr sz="850" b="0">
                <a:solidFill>
                  <a:schemeClr val="bg1"/>
                </a:solidFill>
                <a:latin typeface="+mj-lt"/>
                <a:ea typeface="+mj-lt"/>
                <a:cs typeface="+mj-lt"/>
              </a:rPr>
              <a:t>Imperial College London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E2710C7-980D-1529-A1C4-D0B9144297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</p:spPr>
        <p:txBody>
          <a:bodyPr anchor="b"/>
          <a:lstStyle>
            <a:lvl1pPr algn="l">
              <a:buNone/>
              <a:defRPr sz="6400">
                <a:solidFill>
                  <a:schemeClr val="bg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01609BCD-EF9A-DF89-AAD2-167090C57F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/>
          <a:lstStyle>
            <a:lvl1pPr marL="0" indent="0" algn="l">
              <a:buNone/>
              <a:defRPr sz="48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GB"/>
              <a:t>29/10/2026</a:t>
            </a:r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Data Science and Machine Learning for Geoscientists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BA53E11-492D-48B3-9F9B-09541CA2A39A}" type="slidenum">
              <a:t>‹#›</a:t>
            </a:fld>
            <a:endParaRPr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52399BF-03C9-B24E-A780-BE7CD263C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5583670" cy="378044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D02234B-F0AA-AEA6-E636-52276BDE0E86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558367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D7AD65-3E40-A55B-332E-BB6300B58FD1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325800" y="1394619"/>
            <a:ext cx="5583670" cy="4866481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90AF79-7BDC-6C86-6328-5E1E4E4A08BD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an icon to add content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GB"/>
              <a:t>29/10/2026</a:t>
            </a:r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Data Science and Machine Learning for Geoscientists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BA53E11-492D-48B3-9F9B-09541CA2A39A}" type="slidenum">
              <a:t>‹#›</a:t>
            </a:fld>
            <a:endParaRPr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52399BF-03C9-B24E-A780-BE7CD263C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5583670" cy="378044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D02234B-F0AA-AEA6-E636-52276BDE0E86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558367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D7AD65-3E40-A55B-332E-BB6300B58FD1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325800" y="1394619"/>
            <a:ext cx="5583670" cy="4866481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90AF79-7BDC-6C86-6328-5E1E4E4A08BD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an icon to add content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Content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GB"/>
              <a:t>29/10/2026</a:t>
            </a:r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Data Science and Machine Learning for Geoscientists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BA53E11-492D-48B3-9F9B-09541CA2A39A}" type="slidenum">
              <a:t>‹#›</a:t>
            </a:fld>
            <a:endParaRPr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52399BF-03C9-B24E-A780-BE7CD263C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5583670" cy="378044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D02234B-F0AA-AEA6-E636-52276BDE0E86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558367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D7AD65-3E40-A55B-332E-BB6300B58FD1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325800" y="1394619"/>
            <a:ext cx="5583670" cy="4866481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90AF79-7BDC-6C86-6328-5E1E4E4A08BD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an icon to add content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Four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GB"/>
              <a:t>29/10/2026</a:t>
            </a:r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Data Science and Machine Learning for Geoscientists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BA53E11-492D-48B3-9F9B-09541CA2A39A}" type="slidenum">
              <a:t>‹#›</a:t>
            </a:fld>
            <a:endParaRPr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4275880" y="327819"/>
            <a:ext cx="3744000" cy="292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t>Click icon to add picture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8122200" y="327819"/>
            <a:ext cx="3744000" cy="292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t>Click icon to add picture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CAACF40-E2EE-B805-06BA-00FF4664A1A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360000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t>Click to edit Master subtitle style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3600000" cy="378044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820BEAE3-D117-6A35-4CA0-AD8A32FA8AD8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4275880" y="3336100"/>
            <a:ext cx="3744000" cy="292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t>Click icon to add picture</a:t>
            </a:r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A380118A-A6AE-E8BE-5470-901DF79D51DC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8122200" y="3336100"/>
            <a:ext cx="3744000" cy="292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t>Click icon to add picture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Four Images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GB"/>
              <a:t>29/10/2026</a:t>
            </a:r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Data Science and Machine Learning for Geoscientists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BA53E11-492D-48B3-9F9B-09541CA2A39A}" type="slidenum">
              <a:t>‹#›</a:t>
            </a:fld>
            <a:endParaRPr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4275880" y="327819"/>
            <a:ext cx="3744000" cy="292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t>Click icon to add picture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8122200" y="327819"/>
            <a:ext cx="3744000" cy="292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t>Click icon to add picture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CAACF40-E2EE-B805-06BA-00FF4664A1A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360000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t>Click to edit Master subtitle style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3600000" cy="378044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820BEAE3-D117-6A35-4CA0-AD8A32FA8AD8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4275880" y="3336100"/>
            <a:ext cx="3744000" cy="292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t>Click icon to add picture</a:t>
            </a:r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A380118A-A6AE-E8BE-5470-901DF79D51DC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8122200" y="3336100"/>
            <a:ext cx="3744000" cy="292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t>Click icon to add picture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Four Images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GB"/>
              <a:t>29/10/2026</a:t>
            </a:r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Data Science and Machine Learning for Geoscientists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BA53E11-492D-48B3-9F9B-09541CA2A39A}" type="slidenum">
              <a:t>‹#›</a:t>
            </a:fld>
            <a:endParaRPr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4275880" y="327819"/>
            <a:ext cx="3744000" cy="292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t>Click icon to add picture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8122200" y="327819"/>
            <a:ext cx="3744000" cy="292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t>Click icon to add picture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CAACF40-E2EE-B805-06BA-00FF4664A1A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360000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t>Click to edit Master subtitle style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3600000" cy="378044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820BEAE3-D117-6A35-4CA0-AD8A32FA8AD8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4275880" y="3336100"/>
            <a:ext cx="3744000" cy="292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t>Click icon to add picture</a:t>
            </a:r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A380118A-A6AE-E8BE-5470-901DF79D51DC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8122200" y="3336100"/>
            <a:ext cx="3744000" cy="292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t>Click icon to add picture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Nin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GB"/>
              <a:t>29/10/2026</a:t>
            </a:r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Data Science and Machine Learning for Geoscientists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BA53E11-492D-48B3-9F9B-09541CA2A39A}" type="slidenum">
              <a:t>‹#›</a:t>
            </a:fld>
            <a:endParaRPr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4275880" y="327028"/>
            <a:ext cx="2466000" cy="1926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t>Click icon to add picture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838040" y="327028"/>
            <a:ext cx="2466000" cy="1926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t>Click icon to add picture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CAACF40-E2EE-B805-06BA-00FF4664A1A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360000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t>Click to edit Master subtitle style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3600000" cy="378044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3BF8A661-BC32-12AC-2F2D-D852D8FEEC19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9400200" y="327028"/>
            <a:ext cx="2466000" cy="1926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t>Click icon to add picture</a:t>
            </a:r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424D9351-99D0-9E5B-7115-9BACEF47F4E4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4275880" y="2331064"/>
            <a:ext cx="2466000" cy="1926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t>Click icon to add picture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7E1A1E6C-1250-255D-C128-8D998573C34C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6838040" y="2331000"/>
            <a:ext cx="2466000" cy="1926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t>Click icon to add picture</a:t>
            </a:r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707F7AF8-8070-56D1-C887-AB07C4710C1B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9400200" y="2331000"/>
            <a:ext cx="2466000" cy="1926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t>Click icon to add picture</a:t>
            </a:r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DCCCE168-E156-6A02-DEEC-8F9AC2E8B010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4275880" y="4335100"/>
            <a:ext cx="2466000" cy="1926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t>Click icon to add picture</a:t>
            </a:r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935D5F28-4EFB-7DB6-B73E-ECA9F671D622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6838040" y="4335100"/>
            <a:ext cx="2466000" cy="1926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t>Click icon to add picture</a:t>
            </a:r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EBE80ECC-3276-2379-3DA7-E599F908B356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9400200" y="4335100"/>
            <a:ext cx="2466000" cy="1926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t>Click icon to add picture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Nine Images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GB"/>
              <a:t>29/10/2026</a:t>
            </a:r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Data Science and Machine Learning for Geoscientists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BA53E11-492D-48B3-9F9B-09541CA2A39A}" type="slidenum">
              <a:t>‹#›</a:t>
            </a:fld>
            <a:endParaRPr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4275880" y="327028"/>
            <a:ext cx="2466000" cy="1926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t>Click icon to add picture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838040" y="327028"/>
            <a:ext cx="2466000" cy="1926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t>Click icon to add picture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CAACF40-E2EE-B805-06BA-00FF4664A1A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360000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t>Click to edit Master subtitle style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3600000" cy="378044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3BF8A661-BC32-12AC-2F2D-D852D8FEEC19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9400200" y="327028"/>
            <a:ext cx="2466000" cy="1926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t>Click icon to add picture</a:t>
            </a:r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424D9351-99D0-9E5B-7115-9BACEF47F4E4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4275880" y="2331064"/>
            <a:ext cx="2466000" cy="1926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t>Click icon to add picture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7E1A1E6C-1250-255D-C128-8D998573C34C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6838040" y="2331000"/>
            <a:ext cx="2466000" cy="1926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t>Click icon to add picture</a:t>
            </a:r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707F7AF8-8070-56D1-C887-AB07C4710C1B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9400200" y="2331000"/>
            <a:ext cx="2466000" cy="1926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t>Click icon to add picture</a:t>
            </a:r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DCCCE168-E156-6A02-DEEC-8F9AC2E8B010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4275880" y="4335100"/>
            <a:ext cx="2466000" cy="1926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t>Click icon to add picture</a:t>
            </a:r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935D5F28-4EFB-7DB6-B73E-ECA9F671D622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6838040" y="4335100"/>
            <a:ext cx="2466000" cy="1926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t>Click icon to add picture</a:t>
            </a:r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EBE80ECC-3276-2379-3DA7-E599F908B356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9400200" y="4335100"/>
            <a:ext cx="2466000" cy="1926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t>Click icon to add picture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Nine Images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GB"/>
              <a:t>29/10/2026</a:t>
            </a:r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Data Science and Machine Learning for Geoscientists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BA53E11-492D-48B3-9F9B-09541CA2A39A}" type="slidenum">
              <a:t>‹#›</a:t>
            </a:fld>
            <a:endParaRPr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4275880" y="327028"/>
            <a:ext cx="2466000" cy="1926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t>Click icon to add picture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838040" y="327028"/>
            <a:ext cx="2466000" cy="1926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t>Click icon to add picture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CAACF40-E2EE-B805-06BA-00FF4664A1A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360000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t>Click to edit Master subtitle style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3600000" cy="378044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3BF8A661-BC32-12AC-2F2D-D852D8FEEC19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9400200" y="327028"/>
            <a:ext cx="2466000" cy="1926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t>Click icon to add picture</a:t>
            </a:r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424D9351-99D0-9E5B-7115-9BACEF47F4E4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4275880" y="2331064"/>
            <a:ext cx="2466000" cy="1926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t>Click icon to add picture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7E1A1E6C-1250-255D-C128-8D998573C34C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6838040" y="2331000"/>
            <a:ext cx="2466000" cy="1926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t>Click icon to add picture</a:t>
            </a:r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707F7AF8-8070-56D1-C887-AB07C4710C1B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9400200" y="2331000"/>
            <a:ext cx="2466000" cy="1926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t>Click icon to add picture</a:t>
            </a:r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DCCCE168-E156-6A02-DEEC-8F9AC2E8B010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4275880" y="4335100"/>
            <a:ext cx="2466000" cy="1926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t>Click icon to add picture</a:t>
            </a:r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935D5F28-4EFB-7DB6-B73E-ECA9F671D622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6838040" y="4335100"/>
            <a:ext cx="2466000" cy="1926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t>Click icon to add picture</a:t>
            </a:r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EBE80ECC-3276-2379-3DA7-E599F908B356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9400200" y="4335100"/>
            <a:ext cx="2466000" cy="1926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t>Click icon to add picture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GB"/>
              <a:t>29/10/2026</a:t>
            </a:r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Data Science and Machine Learning for Geoscientists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BA53E11-492D-48B3-9F9B-09541CA2A39A}" type="slidenum">
              <a:t>‹#›</a:t>
            </a:fld>
            <a:endParaRPr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26232" y="327819"/>
            <a:ext cx="5583238" cy="5933281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62146EC-D096-3118-B564-94943B4AAEC4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buNone/>
              <a:defRPr sz="850">
                <a:solidFill>
                  <a:schemeClr val="accent1"/>
                </a:solidFill>
              </a:defRPr>
            </a:lvl1pPr>
            <a:lvl2pPr>
              <a:buNone/>
              <a:defRPr sz="850">
                <a:solidFill>
                  <a:schemeClr val="accent1"/>
                </a:solidFill>
              </a:defRPr>
            </a:lvl2pPr>
            <a:lvl3pPr>
              <a:buNone/>
              <a:defRPr sz="850">
                <a:solidFill>
                  <a:schemeClr val="accent1"/>
                </a:solidFill>
              </a:defRPr>
            </a:lvl3pPr>
            <a:lvl4pPr>
              <a:buNone/>
              <a:defRPr sz="850">
                <a:solidFill>
                  <a:schemeClr val="accent1"/>
                </a:solidFill>
              </a:defRPr>
            </a:lvl4pPr>
            <a:lvl5pPr>
              <a:buNone/>
              <a:defRPr sz="850">
                <a:solidFill>
                  <a:schemeClr val="accent1"/>
                </a:solidFill>
              </a:defRPr>
            </a:lvl5pPr>
          </a:lstStyle>
          <a:p>
            <a:pPr lvl="0">
              <a:buNone/>
            </a:pPr>
            <a:r>
              <a:t>Image caption goes here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C8087009-76FB-8577-E442-4BA57C9BC40D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an icon to add content</a:t>
            </a: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GB"/>
              <a:t>29/10/2026</a:t>
            </a:r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Data Science and Machine Learning for Geoscientists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BA53E11-492D-48B3-9F9B-09541CA2A39A}" type="slidenum">
              <a:t>‹#›</a:t>
            </a:fld>
            <a:endParaRPr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26232" y="327819"/>
            <a:ext cx="5583238" cy="5933281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62146EC-D096-3118-B564-94943B4AAEC4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buNone/>
              <a:defRPr sz="850">
                <a:solidFill>
                  <a:schemeClr val="accent1"/>
                </a:solidFill>
              </a:defRPr>
            </a:lvl1pPr>
            <a:lvl2pPr>
              <a:buNone/>
              <a:defRPr sz="850">
                <a:solidFill>
                  <a:schemeClr val="accent1"/>
                </a:solidFill>
              </a:defRPr>
            </a:lvl2pPr>
            <a:lvl3pPr>
              <a:buNone/>
              <a:defRPr sz="850">
                <a:solidFill>
                  <a:schemeClr val="accent1"/>
                </a:solidFill>
              </a:defRPr>
            </a:lvl3pPr>
            <a:lvl4pPr>
              <a:buNone/>
              <a:defRPr sz="850">
                <a:solidFill>
                  <a:schemeClr val="accent1"/>
                </a:solidFill>
              </a:defRPr>
            </a:lvl4pPr>
            <a:lvl5pPr>
              <a:buNone/>
              <a:defRPr sz="850">
                <a:solidFill>
                  <a:schemeClr val="accent1"/>
                </a:solidFill>
              </a:defRPr>
            </a:lvl5pPr>
          </a:lstStyle>
          <a:p>
            <a:pPr lvl="0">
              <a:buNone/>
            </a:pPr>
            <a:r>
              <a:t>Image caption goes here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C8087009-76FB-8577-E442-4BA57C9BC40D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an icon to add content</a:t>
            </a: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ontent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GB"/>
              <a:t>29/10/2026</a:t>
            </a:r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Data Science and Machine Learning for Geoscientists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BA53E11-492D-48B3-9F9B-09541CA2A39A}" type="slidenum">
              <a:t>‹#›</a:t>
            </a:fld>
            <a:endParaRPr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26232" y="327819"/>
            <a:ext cx="5583238" cy="5933281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62146EC-D096-3118-B564-94943B4AAEC4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buNone/>
              <a:defRPr sz="850">
                <a:solidFill>
                  <a:schemeClr val="accent1"/>
                </a:solidFill>
              </a:defRPr>
            </a:lvl1pPr>
            <a:lvl2pPr>
              <a:buNone/>
              <a:defRPr sz="850">
                <a:solidFill>
                  <a:schemeClr val="accent1"/>
                </a:solidFill>
              </a:defRPr>
            </a:lvl2pPr>
            <a:lvl3pPr>
              <a:buNone/>
              <a:defRPr sz="850">
                <a:solidFill>
                  <a:schemeClr val="accent1"/>
                </a:solidFill>
              </a:defRPr>
            </a:lvl3pPr>
            <a:lvl4pPr>
              <a:buNone/>
              <a:defRPr sz="850">
                <a:solidFill>
                  <a:schemeClr val="accent1"/>
                </a:solidFill>
              </a:defRPr>
            </a:lvl4pPr>
            <a:lvl5pPr>
              <a:buNone/>
              <a:defRPr sz="850">
                <a:solidFill>
                  <a:schemeClr val="accent1"/>
                </a:solidFill>
              </a:defRPr>
            </a:lvl5pPr>
          </a:lstStyle>
          <a:p>
            <a:pPr lvl="0">
              <a:buNone/>
            </a:pPr>
            <a:r>
              <a:t>Image caption goes here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C8087009-76FB-8577-E442-4BA57C9BC40D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an icon to add content</a:t>
            </a: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GB"/>
              <a:t>29/10/2026</a:t>
            </a:r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Data Science and Machine Learning for Geoscientists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BA53E11-492D-48B3-9F9B-09541CA2A39A}" type="slidenum">
              <a:t>‹#›</a:t>
            </a:fld>
            <a:endParaRPr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291761" y="327819"/>
            <a:ext cx="5574008" cy="5933281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E9D81BEA-7EB3-2BC8-30E0-0E8C91FA2361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buNone/>
              <a:defRPr sz="850">
                <a:solidFill>
                  <a:schemeClr val="accent1"/>
                </a:solidFill>
              </a:defRPr>
            </a:lvl1pPr>
            <a:lvl2pPr>
              <a:buNone/>
              <a:defRPr sz="850">
                <a:solidFill>
                  <a:schemeClr val="accent1"/>
                </a:solidFill>
              </a:defRPr>
            </a:lvl2pPr>
            <a:lvl3pPr>
              <a:buNone/>
              <a:defRPr sz="850">
                <a:solidFill>
                  <a:schemeClr val="accent1"/>
                </a:solidFill>
              </a:defRPr>
            </a:lvl3pPr>
            <a:lvl4pPr>
              <a:buNone/>
              <a:defRPr sz="850">
                <a:solidFill>
                  <a:schemeClr val="accent1"/>
                </a:solidFill>
              </a:defRPr>
            </a:lvl4pPr>
            <a:lvl5pPr>
              <a:buNone/>
              <a:defRPr sz="850">
                <a:solidFill>
                  <a:schemeClr val="accent1"/>
                </a:solidFill>
              </a:defRPr>
            </a:lvl5pPr>
          </a:lstStyle>
          <a:p>
            <a:pPr lvl="0">
              <a:buNone/>
            </a:pPr>
            <a:r>
              <a:t>Image caption goes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09D4F2-8CDC-D853-BB4E-3D1330CD34A2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26593" y="328613"/>
            <a:ext cx="5583670" cy="5932487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an icon to add content</a:t>
            </a: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ex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GB"/>
              <a:t>29/10/2026</a:t>
            </a:r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Data Science and Machine Learning for Geoscientists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BA53E11-492D-48B3-9F9B-09541CA2A39A}" type="slidenum">
              <a:t>‹#›</a:t>
            </a:fld>
            <a:endParaRPr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291761" y="327819"/>
            <a:ext cx="5574008" cy="5933281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E9D81BEA-7EB3-2BC8-30E0-0E8C91FA2361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buNone/>
              <a:defRPr sz="850">
                <a:solidFill>
                  <a:schemeClr val="accent1"/>
                </a:solidFill>
              </a:defRPr>
            </a:lvl1pPr>
            <a:lvl2pPr>
              <a:buNone/>
              <a:defRPr sz="850">
                <a:solidFill>
                  <a:schemeClr val="accent1"/>
                </a:solidFill>
              </a:defRPr>
            </a:lvl2pPr>
            <a:lvl3pPr>
              <a:buNone/>
              <a:defRPr sz="850">
                <a:solidFill>
                  <a:schemeClr val="accent1"/>
                </a:solidFill>
              </a:defRPr>
            </a:lvl3pPr>
            <a:lvl4pPr>
              <a:buNone/>
              <a:defRPr sz="850">
                <a:solidFill>
                  <a:schemeClr val="accent1"/>
                </a:solidFill>
              </a:defRPr>
            </a:lvl4pPr>
            <a:lvl5pPr>
              <a:buNone/>
              <a:defRPr sz="850">
                <a:solidFill>
                  <a:schemeClr val="accent1"/>
                </a:solidFill>
              </a:defRPr>
            </a:lvl5pPr>
          </a:lstStyle>
          <a:p>
            <a:pPr lvl="0">
              <a:buNone/>
            </a:pPr>
            <a:r>
              <a:t>Image caption goes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09D4F2-8CDC-D853-BB4E-3D1330CD34A2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26593" y="328613"/>
            <a:ext cx="5583670" cy="5932487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an icon to add content</a:t>
            </a: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ext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GB"/>
              <a:t>29/10/2026</a:t>
            </a:r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Data Science and Machine Learning for Geoscientists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BA53E11-492D-48B3-9F9B-09541CA2A39A}" type="slidenum">
              <a:t>‹#›</a:t>
            </a:fld>
            <a:endParaRPr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291761" y="327819"/>
            <a:ext cx="5574008" cy="5933281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E9D81BEA-7EB3-2BC8-30E0-0E8C91FA2361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buNone/>
              <a:defRPr sz="850">
                <a:solidFill>
                  <a:schemeClr val="accent1"/>
                </a:solidFill>
              </a:defRPr>
            </a:lvl1pPr>
            <a:lvl2pPr>
              <a:buNone/>
              <a:defRPr sz="850">
                <a:solidFill>
                  <a:schemeClr val="accent1"/>
                </a:solidFill>
              </a:defRPr>
            </a:lvl2pPr>
            <a:lvl3pPr>
              <a:buNone/>
              <a:defRPr sz="850">
                <a:solidFill>
                  <a:schemeClr val="accent1"/>
                </a:solidFill>
              </a:defRPr>
            </a:lvl3pPr>
            <a:lvl4pPr>
              <a:buNone/>
              <a:defRPr sz="850">
                <a:solidFill>
                  <a:schemeClr val="accent1"/>
                </a:solidFill>
              </a:defRPr>
            </a:lvl4pPr>
            <a:lvl5pPr>
              <a:buNone/>
              <a:defRPr sz="850">
                <a:solidFill>
                  <a:schemeClr val="accent1"/>
                </a:solidFill>
              </a:defRPr>
            </a:lvl5pPr>
          </a:lstStyle>
          <a:p>
            <a:pPr lvl="0">
              <a:buNone/>
            </a:pPr>
            <a:r>
              <a:t>Image caption goes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09D4F2-8CDC-D853-BB4E-3D1330CD34A2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26593" y="328613"/>
            <a:ext cx="5583670" cy="5932487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an icon to add content</a:t>
            </a: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5956E3-49F4-0F54-ECD1-833CCCC1832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GB"/>
              <a:t>29/10/2026</a:t>
            </a:r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47AF09-A289-B391-8698-2A6786771E1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Data Science and Machine Learning for Geoscientists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D67CF9-6C56-BF00-C251-8AA14203B1E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BA53E11-492D-48B3-9F9B-09541CA2A39A}" type="slidenum">
              <a:t>‹#›</a:t>
            </a:fld>
            <a:endParaRPr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754C307-7FD2-615A-261A-9396C9B3C626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326232" y="327819"/>
            <a:ext cx="11541025" cy="59332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t>Click icon to add picture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194B053A-20C0-FAD5-8DBE-F33035C94A95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buNone/>
              <a:defRPr sz="850">
                <a:solidFill>
                  <a:schemeClr val="accent1"/>
                </a:solidFill>
              </a:defRPr>
            </a:lvl1pPr>
            <a:lvl2pPr>
              <a:buNone/>
              <a:defRPr sz="850">
                <a:solidFill>
                  <a:schemeClr val="accent1"/>
                </a:solidFill>
              </a:defRPr>
            </a:lvl2pPr>
            <a:lvl3pPr>
              <a:buNone/>
              <a:defRPr sz="850">
                <a:solidFill>
                  <a:schemeClr val="accent1"/>
                </a:solidFill>
              </a:defRPr>
            </a:lvl3pPr>
            <a:lvl4pPr>
              <a:buNone/>
              <a:defRPr sz="850">
                <a:solidFill>
                  <a:schemeClr val="accent1"/>
                </a:solidFill>
              </a:defRPr>
            </a:lvl4pPr>
            <a:lvl5pPr>
              <a:buNone/>
              <a:defRPr sz="850">
                <a:solidFill>
                  <a:schemeClr val="accent1"/>
                </a:solidFill>
              </a:defRPr>
            </a:lvl5pPr>
          </a:lstStyle>
          <a:p>
            <a:pPr lvl="0">
              <a:buNone/>
            </a:pPr>
            <a:r>
              <a:t>Image caption goes here</a:t>
            </a: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5956E3-49F4-0F54-ECD1-833CCCC1832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GB"/>
              <a:t>29/10/2026</a:t>
            </a:r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47AF09-A289-B391-8698-2A6786771E1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Data Science and Machine Learning for Geoscientists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D67CF9-6C56-BF00-C251-8AA14203B1E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BA53E11-492D-48B3-9F9B-09541CA2A39A}" type="slidenum">
              <a:t>‹#›</a:t>
            </a:fld>
            <a:endParaRPr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754C307-7FD2-615A-261A-9396C9B3C626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326232" y="327819"/>
            <a:ext cx="11541025" cy="59332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t>Click icon to add picture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194B053A-20C0-FAD5-8DBE-F33035C94A95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buNone/>
              <a:defRPr sz="850">
                <a:solidFill>
                  <a:schemeClr val="accent1"/>
                </a:solidFill>
              </a:defRPr>
            </a:lvl1pPr>
            <a:lvl2pPr>
              <a:buNone/>
              <a:defRPr sz="850">
                <a:solidFill>
                  <a:schemeClr val="accent1"/>
                </a:solidFill>
              </a:defRPr>
            </a:lvl2pPr>
            <a:lvl3pPr>
              <a:buNone/>
              <a:defRPr sz="850">
                <a:solidFill>
                  <a:schemeClr val="accent1"/>
                </a:solidFill>
              </a:defRPr>
            </a:lvl3pPr>
            <a:lvl4pPr>
              <a:buNone/>
              <a:defRPr sz="850">
                <a:solidFill>
                  <a:schemeClr val="accent1"/>
                </a:solidFill>
              </a:defRPr>
            </a:lvl4pPr>
            <a:lvl5pPr>
              <a:buNone/>
              <a:defRPr sz="850">
                <a:solidFill>
                  <a:schemeClr val="accent1"/>
                </a:solidFill>
              </a:defRPr>
            </a:lvl5pPr>
          </a:lstStyle>
          <a:p>
            <a:pPr lvl="0">
              <a:buNone/>
            </a:pPr>
            <a:r>
              <a:t>Image caption goes here</a:t>
            </a: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5956E3-49F4-0F54-ECD1-833CCCC1832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GB"/>
              <a:t>29/10/2026</a:t>
            </a:r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47AF09-A289-B391-8698-2A6786771E1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Data Science and Machine Learning for Geoscientists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D67CF9-6C56-BF00-C251-8AA14203B1E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BA53E11-492D-48B3-9F9B-09541CA2A39A}" type="slidenum">
              <a:t>‹#›</a:t>
            </a:fld>
            <a:endParaRPr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754C307-7FD2-615A-261A-9396C9B3C626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326232" y="327819"/>
            <a:ext cx="11541025" cy="59332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t>Click icon to add picture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194B053A-20C0-FAD5-8DBE-F33035C94A95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buNone/>
              <a:defRPr sz="850">
                <a:solidFill>
                  <a:schemeClr val="accent1"/>
                </a:solidFill>
              </a:defRPr>
            </a:lvl1pPr>
            <a:lvl2pPr>
              <a:buNone/>
              <a:defRPr sz="850">
                <a:solidFill>
                  <a:schemeClr val="accent1"/>
                </a:solidFill>
              </a:defRPr>
            </a:lvl2pPr>
            <a:lvl3pPr>
              <a:buNone/>
              <a:defRPr sz="850">
                <a:solidFill>
                  <a:schemeClr val="accent1"/>
                </a:solidFill>
              </a:defRPr>
            </a:lvl3pPr>
            <a:lvl4pPr>
              <a:buNone/>
              <a:defRPr sz="850">
                <a:solidFill>
                  <a:schemeClr val="accent1"/>
                </a:solidFill>
              </a:defRPr>
            </a:lvl4pPr>
            <a:lvl5pPr>
              <a:buNone/>
              <a:defRPr sz="850">
                <a:solidFill>
                  <a:schemeClr val="accent1"/>
                </a:solidFill>
              </a:defRPr>
            </a:lvl5pPr>
          </a:lstStyle>
          <a:p>
            <a:pPr lvl="0">
              <a:buNone/>
            </a:pPr>
            <a:r>
              <a:t>Image caption goes here</a:t>
            </a: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754C307-7FD2-615A-261A-9396C9B3C626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1" y="3"/>
            <a:ext cx="12193489" cy="685799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t>Click icon to add picture</a:t>
            </a: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5">
            <a:extLst>
              <a:ext uri="{FF2B5EF4-FFF2-40B4-BE49-F238E27FC236}">
                <a16:creationId xmlns:a16="http://schemas.microsoft.com/office/drawing/2014/main" id="{E39A89AD-BEB6-79FD-8F05-4DF88E68FEE2}"/>
              </a:ext>
            </a:extLst>
          </p:cNvPr>
          <p:cNvSpPr>
            <a:spLocks noGrp="1"/>
          </p:cNvSpPr>
          <p:nvPr/>
        </p:nvSpPr>
        <p:spPr>
          <a:xfrm>
            <a:off x="11041147" y="327819"/>
            <a:ext cx="825415" cy="1272297"/>
          </a:xfrm>
          <a:custGeom>
            <a:avLst/>
            <a:gdLst>
              <a:gd name="T0" fmla="*/ 0 w 1099"/>
              <a:gd name="T1" fmla="*/ 0 h 1694"/>
              <a:gd name="T2" fmla="*/ 0 w 1099"/>
              <a:gd name="T3" fmla="*/ 1694 h 1694"/>
              <a:gd name="T4" fmla="*/ 1099 w 1099"/>
              <a:gd name="T5" fmla="*/ 1694 h 1694"/>
              <a:gd name="T6" fmla="*/ 1099 w 1099"/>
              <a:gd name="T7" fmla="*/ 1397 h 1694"/>
              <a:gd name="T8" fmla="*/ 319 w 1099"/>
              <a:gd name="T9" fmla="*/ 1397 h 1694"/>
              <a:gd name="T10" fmla="*/ 319 w 1099"/>
              <a:gd name="T11" fmla="*/ 0 h 1694"/>
              <a:gd name="T12" fmla="*/ 0 w 1099"/>
              <a:gd name="T13" fmla="*/ 0 h 1694"/>
            </a:gdLst>
            <a:ahLst/>
            <a:cxnLst/>
            <a:rect l="0" t="0" r="r" b="b"/>
            <a:pathLst>
              <a:path w="1099" h="1694">
                <a:moveTo>
                  <a:pt x="0" y="0"/>
                </a:moveTo>
                <a:lnTo>
                  <a:pt x="0" y="1694"/>
                </a:lnTo>
                <a:lnTo>
                  <a:pt x="1099" y="1694"/>
                </a:lnTo>
                <a:lnTo>
                  <a:pt x="1099" y="1397"/>
                </a:lnTo>
                <a:lnTo>
                  <a:pt x="319" y="1397"/>
                </a:lnTo>
                <a:lnTo>
                  <a:pt x="31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4" name="Freeform 6">
            <a:extLst>
              <a:ext uri="{FF2B5EF4-FFF2-40B4-BE49-F238E27FC236}">
                <a16:creationId xmlns:a16="http://schemas.microsoft.com/office/drawing/2014/main" id="{733ED1C0-423D-3BA1-7D76-5AD063DB4966}"/>
              </a:ext>
            </a:extLst>
          </p:cNvPr>
          <p:cNvSpPr>
            <a:spLocks noGrp="1"/>
          </p:cNvSpPr>
          <p:nvPr/>
        </p:nvSpPr>
        <p:spPr>
          <a:xfrm>
            <a:off x="9344501" y="327819"/>
            <a:ext cx="1152878" cy="1272297"/>
          </a:xfrm>
          <a:custGeom>
            <a:avLst/>
            <a:gdLst>
              <a:gd name="T0" fmla="*/ 556 w 1535"/>
              <a:gd name="T1" fmla="*/ 0 h 1694"/>
              <a:gd name="T2" fmla="*/ 0 w 1535"/>
              <a:gd name="T3" fmla="*/ 1694 h 1694"/>
              <a:gd name="T4" fmla="*/ 337 w 1535"/>
              <a:gd name="T5" fmla="*/ 1694 h 1694"/>
              <a:gd name="T6" fmla="*/ 453 w 1535"/>
              <a:gd name="T7" fmla="*/ 1321 h 1694"/>
              <a:gd name="T8" fmla="*/ 1083 w 1535"/>
              <a:gd name="T9" fmla="*/ 1321 h 1694"/>
              <a:gd name="T10" fmla="*/ 1197 w 1535"/>
              <a:gd name="T11" fmla="*/ 1694 h 1694"/>
              <a:gd name="T12" fmla="*/ 1535 w 1535"/>
              <a:gd name="T13" fmla="*/ 1694 h 1694"/>
              <a:gd name="T14" fmla="*/ 978 w 1535"/>
              <a:gd name="T15" fmla="*/ 0 h 1694"/>
              <a:gd name="T16" fmla="*/ 556 w 1535"/>
              <a:gd name="T17" fmla="*/ 0 h 1694"/>
              <a:gd name="T18" fmla="*/ 768 w 1535"/>
              <a:gd name="T19" fmla="*/ 301 h 1694"/>
              <a:gd name="T20" fmla="*/ 998 w 1535"/>
              <a:gd name="T21" fmla="*/ 1048 h 1694"/>
              <a:gd name="T22" fmla="*/ 536 w 1535"/>
              <a:gd name="T23" fmla="*/ 1048 h 1694"/>
              <a:gd name="T24" fmla="*/ 768 w 1535"/>
              <a:gd name="T25" fmla="*/ 301 h 1694"/>
            </a:gdLst>
            <a:ahLst/>
            <a:cxnLst/>
            <a:rect l="0" t="0" r="r" b="b"/>
            <a:pathLst>
              <a:path w="1535" h="1694">
                <a:moveTo>
                  <a:pt x="556" y="0"/>
                </a:moveTo>
                <a:lnTo>
                  <a:pt x="0" y="1694"/>
                </a:lnTo>
                <a:lnTo>
                  <a:pt x="337" y="1694"/>
                </a:lnTo>
                <a:lnTo>
                  <a:pt x="453" y="1321"/>
                </a:lnTo>
                <a:lnTo>
                  <a:pt x="1083" y="1321"/>
                </a:lnTo>
                <a:lnTo>
                  <a:pt x="1197" y="1694"/>
                </a:lnTo>
                <a:lnTo>
                  <a:pt x="1535" y="1694"/>
                </a:lnTo>
                <a:lnTo>
                  <a:pt x="978" y="0"/>
                </a:lnTo>
                <a:lnTo>
                  <a:pt x="556" y="0"/>
                </a:lnTo>
                <a:close/>
                <a:moveTo>
                  <a:pt x="768" y="301"/>
                </a:moveTo>
                <a:lnTo>
                  <a:pt x="998" y="1048"/>
                </a:lnTo>
                <a:lnTo>
                  <a:pt x="536" y="1048"/>
                </a:lnTo>
                <a:lnTo>
                  <a:pt x="768" y="30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5" name="Freeform 7">
            <a:extLst>
              <a:ext uri="{FF2B5EF4-FFF2-40B4-BE49-F238E27FC236}">
                <a16:creationId xmlns:a16="http://schemas.microsoft.com/office/drawing/2014/main" id="{24321CB6-88B2-41D3-45AD-465FCCF9FFB4}"/>
              </a:ext>
            </a:extLst>
          </p:cNvPr>
          <p:cNvSpPr>
            <a:spLocks noGrp="1"/>
          </p:cNvSpPr>
          <p:nvPr/>
        </p:nvSpPr>
        <p:spPr>
          <a:xfrm>
            <a:off x="8028642" y="327819"/>
            <a:ext cx="835930" cy="1272297"/>
          </a:xfrm>
          <a:custGeom>
            <a:avLst/>
            <a:gdLst>
              <a:gd name="T0" fmla="*/ 0 w 1113"/>
              <a:gd name="T1" fmla="*/ 0 h 1694"/>
              <a:gd name="T2" fmla="*/ 0 w 1113"/>
              <a:gd name="T3" fmla="*/ 297 h 1694"/>
              <a:gd name="T4" fmla="*/ 396 w 1113"/>
              <a:gd name="T5" fmla="*/ 297 h 1694"/>
              <a:gd name="T6" fmla="*/ 396 w 1113"/>
              <a:gd name="T7" fmla="*/ 1397 h 1694"/>
              <a:gd name="T8" fmla="*/ 0 w 1113"/>
              <a:gd name="T9" fmla="*/ 1397 h 1694"/>
              <a:gd name="T10" fmla="*/ 0 w 1113"/>
              <a:gd name="T11" fmla="*/ 1694 h 1694"/>
              <a:gd name="T12" fmla="*/ 1113 w 1113"/>
              <a:gd name="T13" fmla="*/ 1694 h 1694"/>
              <a:gd name="T14" fmla="*/ 1113 w 1113"/>
              <a:gd name="T15" fmla="*/ 1397 h 1694"/>
              <a:gd name="T16" fmla="*/ 716 w 1113"/>
              <a:gd name="T17" fmla="*/ 1397 h 1694"/>
              <a:gd name="T18" fmla="*/ 716 w 1113"/>
              <a:gd name="T19" fmla="*/ 297 h 1694"/>
              <a:gd name="T20" fmla="*/ 1113 w 1113"/>
              <a:gd name="T21" fmla="*/ 297 h 1694"/>
              <a:gd name="T22" fmla="*/ 1113 w 1113"/>
              <a:gd name="T23" fmla="*/ 0 h 1694"/>
              <a:gd name="T24" fmla="*/ 0 w 1113"/>
              <a:gd name="T25" fmla="*/ 0 h 1694"/>
            </a:gdLst>
            <a:ahLst/>
            <a:cxnLst/>
            <a:rect l="0" t="0" r="r" b="b"/>
            <a:pathLst>
              <a:path w="1113" h="1694">
                <a:moveTo>
                  <a:pt x="0" y="0"/>
                </a:moveTo>
                <a:lnTo>
                  <a:pt x="0" y="297"/>
                </a:lnTo>
                <a:lnTo>
                  <a:pt x="396" y="297"/>
                </a:lnTo>
                <a:lnTo>
                  <a:pt x="396" y="1397"/>
                </a:lnTo>
                <a:lnTo>
                  <a:pt x="0" y="1397"/>
                </a:lnTo>
                <a:lnTo>
                  <a:pt x="0" y="1694"/>
                </a:lnTo>
                <a:lnTo>
                  <a:pt x="1113" y="1694"/>
                </a:lnTo>
                <a:lnTo>
                  <a:pt x="1113" y="1397"/>
                </a:lnTo>
                <a:lnTo>
                  <a:pt x="716" y="1397"/>
                </a:lnTo>
                <a:lnTo>
                  <a:pt x="716" y="297"/>
                </a:lnTo>
                <a:lnTo>
                  <a:pt x="1113" y="297"/>
                </a:lnTo>
                <a:lnTo>
                  <a:pt x="1113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15" name="Freeform 8">
            <a:extLst>
              <a:ext uri="{FF2B5EF4-FFF2-40B4-BE49-F238E27FC236}">
                <a16:creationId xmlns:a16="http://schemas.microsoft.com/office/drawing/2014/main" id="{28DF50ED-77B5-2CCB-445E-BE59A74640E2}"/>
              </a:ext>
            </a:extLst>
          </p:cNvPr>
          <p:cNvSpPr>
            <a:spLocks noGrp="1"/>
          </p:cNvSpPr>
          <p:nvPr/>
        </p:nvSpPr>
        <p:spPr>
          <a:xfrm>
            <a:off x="6536285" y="327819"/>
            <a:ext cx="989146" cy="1272297"/>
          </a:xfrm>
          <a:custGeom>
            <a:avLst/>
            <a:gdLst>
              <a:gd name="T0" fmla="*/ 884 w 932"/>
              <a:gd name="T1" fmla="*/ 372 h 1199"/>
              <a:gd name="T2" fmla="*/ 442 w 932"/>
              <a:gd name="T3" fmla="*/ 0 h 1199"/>
              <a:gd name="T4" fmla="*/ 0 w 932"/>
              <a:gd name="T5" fmla="*/ 0 h 1199"/>
              <a:gd name="T6" fmla="*/ 0 w 932"/>
              <a:gd name="T7" fmla="*/ 1199 h 1199"/>
              <a:gd name="T8" fmla="*/ 227 w 932"/>
              <a:gd name="T9" fmla="*/ 1199 h 1199"/>
              <a:gd name="T10" fmla="*/ 227 w 932"/>
              <a:gd name="T11" fmla="*/ 755 h 1199"/>
              <a:gd name="T12" fmla="*/ 418 w 932"/>
              <a:gd name="T13" fmla="*/ 755 h 1199"/>
              <a:gd name="T14" fmla="*/ 450 w 932"/>
              <a:gd name="T15" fmla="*/ 755 h 1199"/>
              <a:gd name="T16" fmla="*/ 681 w 932"/>
              <a:gd name="T17" fmla="*/ 1199 h 1199"/>
              <a:gd name="T18" fmla="*/ 932 w 932"/>
              <a:gd name="T19" fmla="*/ 1199 h 1199"/>
              <a:gd name="T20" fmla="*/ 676 w 932"/>
              <a:gd name="T21" fmla="*/ 707 h 1199"/>
              <a:gd name="T22" fmla="*/ 884 w 932"/>
              <a:gd name="T23" fmla="*/ 372 h 1199"/>
              <a:gd name="T24" fmla="*/ 645 w 932"/>
              <a:gd name="T25" fmla="*/ 372 h 1199"/>
              <a:gd name="T26" fmla="*/ 418 w 932"/>
              <a:gd name="T27" fmla="*/ 562 h 1199"/>
              <a:gd name="T28" fmla="*/ 227 w 932"/>
              <a:gd name="T29" fmla="*/ 562 h 1199"/>
              <a:gd name="T30" fmla="*/ 227 w 932"/>
              <a:gd name="T31" fmla="*/ 194 h 1199"/>
              <a:gd name="T32" fmla="*/ 418 w 932"/>
              <a:gd name="T33" fmla="*/ 194 h 1199"/>
              <a:gd name="T34" fmla="*/ 645 w 932"/>
              <a:gd name="T35" fmla="*/ 372 h 1199"/>
            </a:gdLst>
            <a:ahLst/>
            <a:cxnLst/>
            <a:rect l="0" t="0" r="r" b="b"/>
            <a:pathLst>
              <a:path w="932" h="1199">
                <a:moveTo>
                  <a:pt x="884" y="372"/>
                </a:moveTo>
                <a:cubicBezTo>
                  <a:pt x="884" y="92"/>
                  <a:pt x="693" y="0"/>
                  <a:pt x="442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199"/>
                  <a:pt x="0" y="1199"/>
                  <a:pt x="0" y="1199"/>
                </a:cubicBezTo>
                <a:cubicBezTo>
                  <a:pt x="227" y="1199"/>
                  <a:pt x="227" y="1199"/>
                  <a:pt x="227" y="1199"/>
                </a:cubicBezTo>
                <a:cubicBezTo>
                  <a:pt x="227" y="755"/>
                  <a:pt x="227" y="755"/>
                  <a:pt x="227" y="755"/>
                </a:cubicBezTo>
                <a:cubicBezTo>
                  <a:pt x="418" y="755"/>
                  <a:pt x="418" y="755"/>
                  <a:pt x="418" y="755"/>
                </a:cubicBezTo>
                <a:cubicBezTo>
                  <a:pt x="429" y="755"/>
                  <a:pt x="439" y="755"/>
                  <a:pt x="450" y="755"/>
                </a:cubicBezTo>
                <a:cubicBezTo>
                  <a:pt x="681" y="1199"/>
                  <a:pt x="681" y="1199"/>
                  <a:pt x="681" y="1199"/>
                </a:cubicBezTo>
                <a:cubicBezTo>
                  <a:pt x="932" y="1199"/>
                  <a:pt x="932" y="1199"/>
                  <a:pt x="932" y="1199"/>
                </a:cubicBezTo>
                <a:cubicBezTo>
                  <a:pt x="676" y="707"/>
                  <a:pt x="676" y="707"/>
                  <a:pt x="676" y="707"/>
                </a:cubicBezTo>
                <a:cubicBezTo>
                  <a:pt x="801" y="652"/>
                  <a:pt x="884" y="545"/>
                  <a:pt x="884" y="372"/>
                </a:cubicBezTo>
                <a:moveTo>
                  <a:pt x="645" y="372"/>
                </a:moveTo>
                <a:cubicBezTo>
                  <a:pt x="645" y="516"/>
                  <a:pt x="562" y="562"/>
                  <a:pt x="418" y="562"/>
                </a:cubicBezTo>
                <a:cubicBezTo>
                  <a:pt x="227" y="562"/>
                  <a:pt x="227" y="562"/>
                  <a:pt x="227" y="562"/>
                </a:cubicBezTo>
                <a:cubicBezTo>
                  <a:pt x="227" y="194"/>
                  <a:pt x="227" y="194"/>
                  <a:pt x="227" y="194"/>
                </a:cubicBezTo>
                <a:cubicBezTo>
                  <a:pt x="418" y="194"/>
                  <a:pt x="418" y="194"/>
                  <a:pt x="418" y="194"/>
                </a:cubicBezTo>
                <a:cubicBezTo>
                  <a:pt x="574" y="194"/>
                  <a:pt x="645" y="252"/>
                  <a:pt x="645" y="372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16" name="Freeform 9">
            <a:extLst>
              <a:ext uri="{FF2B5EF4-FFF2-40B4-BE49-F238E27FC236}">
                <a16:creationId xmlns:a16="http://schemas.microsoft.com/office/drawing/2014/main" id="{3E46F43E-7289-80AB-2776-B413EE27EDF5}"/>
              </a:ext>
            </a:extLst>
          </p:cNvPr>
          <p:cNvSpPr>
            <a:spLocks noGrp="1"/>
          </p:cNvSpPr>
          <p:nvPr/>
        </p:nvSpPr>
        <p:spPr>
          <a:xfrm>
            <a:off x="5113776" y="327819"/>
            <a:ext cx="824664" cy="1272297"/>
          </a:xfrm>
          <a:custGeom>
            <a:avLst/>
            <a:gdLst>
              <a:gd name="T0" fmla="*/ 0 w 1098"/>
              <a:gd name="T1" fmla="*/ 0 h 1694"/>
              <a:gd name="T2" fmla="*/ 0 w 1098"/>
              <a:gd name="T3" fmla="*/ 1694 h 1694"/>
              <a:gd name="T4" fmla="*/ 1098 w 1098"/>
              <a:gd name="T5" fmla="*/ 1694 h 1694"/>
              <a:gd name="T6" fmla="*/ 1098 w 1098"/>
              <a:gd name="T7" fmla="*/ 1397 h 1694"/>
              <a:gd name="T8" fmla="*/ 321 w 1098"/>
              <a:gd name="T9" fmla="*/ 1397 h 1694"/>
              <a:gd name="T10" fmla="*/ 321 w 1098"/>
              <a:gd name="T11" fmla="*/ 973 h 1694"/>
              <a:gd name="T12" fmla="*/ 1030 w 1098"/>
              <a:gd name="T13" fmla="*/ 973 h 1694"/>
              <a:gd name="T14" fmla="*/ 1030 w 1098"/>
              <a:gd name="T15" fmla="*/ 687 h 1694"/>
              <a:gd name="T16" fmla="*/ 321 w 1098"/>
              <a:gd name="T17" fmla="*/ 687 h 1694"/>
              <a:gd name="T18" fmla="*/ 321 w 1098"/>
              <a:gd name="T19" fmla="*/ 297 h 1694"/>
              <a:gd name="T20" fmla="*/ 1098 w 1098"/>
              <a:gd name="T21" fmla="*/ 297 h 1694"/>
              <a:gd name="T22" fmla="*/ 1098 w 1098"/>
              <a:gd name="T23" fmla="*/ 0 h 1694"/>
              <a:gd name="T24" fmla="*/ 0 w 1098"/>
              <a:gd name="T25" fmla="*/ 0 h 1694"/>
            </a:gdLst>
            <a:ahLst/>
            <a:cxnLst/>
            <a:rect l="0" t="0" r="r" b="b"/>
            <a:pathLst>
              <a:path w="1098" h="1694">
                <a:moveTo>
                  <a:pt x="0" y="0"/>
                </a:moveTo>
                <a:lnTo>
                  <a:pt x="0" y="1694"/>
                </a:lnTo>
                <a:lnTo>
                  <a:pt x="1098" y="1694"/>
                </a:lnTo>
                <a:lnTo>
                  <a:pt x="1098" y="1397"/>
                </a:lnTo>
                <a:lnTo>
                  <a:pt x="321" y="1397"/>
                </a:lnTo>
                <a:lnTo>
                  <a:pt x="321" y="973"/>
                </a:lnTo>
                <a:lnTo>
                  <a:pt x="1030" y="973"/>
                </a:lnTo>
                <a:lnTo>
                  <a:pt x="1030" y="687"/>
                </a:lnTo>
                <a:lnTo>
                  <a:pt x="321" y="687"/>
                </a:lnTo>
                <a:lnTo>
                  <a:pt x="321" y="297"/>
                </a:lnTo>
                <a:lnTo>
                  <a:pt x="1098" y="297"/>
                </a:lnTo>
                <a:lnTo>
                  <a:pt x="109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17" name="Freeform 10">
            <a:extLst>
              <a:ext uri="{FF2B5EF4-FFF2-40B4-BE49-F238E27FC236}">
                <a16:creationId xmlns:a16="http://schemas.microsoft.com/office/drawing/2014/main" id="{0C82D5C3-8445-8837-27CE-3B93EA4FA45F}"/>
              </a:ext>
            </a:extLst>
          </p:cNvPr>
          <p:cNvSpPr>
            <a:spLocks noGrp="1"/>
          </p:cNvSpPr>
          <p:nvPr/>
        </p:nvSpPr>
        <p:spPr>
          <a:xfrm>
            <a:off x="3695773" y="327819"/>
            <a:ext cx="912538" cy="1272297"/>
          </a:xfrm>
          <a:custGeom>
            <a:avLst/>
            <a:gdLst>
              <a:gd name="T0" fmla="*/ 406 w 860"/>
              <a:gd name="T1" fmla="*/ 791 h 1199"/>
              <a:gd name="T2" fmla="*/ 227 w 860"/>
              <a:gd name="T3" fmla="*/ 791 h 1199"/>
              <a:gd name="T4" fmla="*/ 227 w 860"/>
              <a:gd name="T5" fmla="*/ 1199 h 1199"/>
              <a:gd name="T6" fmla="*/ 0 w 860"/>
              <a:gd name="T7" fmla="*/ 1199 h 1199"/>
              <a:gd name="T8" fmla="*/ 0 w 860"/>
              <a:gd name="T9" fmla="*/ 0 h 1199"/>
              <a:gd name="T10" fmla="*/ 406 w 860"/>
              <a:gd name="T11" fmla="*/ 0 h 1199"/>
              <a:gd name="T12" fmla="*/ 860 w 860"/>
              <a:gd name="T13" fmla="*/ 396 h 1199"/>
              <a:gd name="T14" fmla="*/ 406 w 860"/>
              <a:gd name="T15" fmla="*/ 791 h 1199"/>
              <a:gd name="T16" fmla="*/ 394 w 860"/>
              <a:gd name="T17" fmla="*/ 194 h 1199"/>
              <a:gd name="T18" fmla="*/ 227 w 860"/>
              <a:gd name="T19" fmla="*/ 194 h 1199"/>
              <a:gd name="T20" fmla="*/ 227 w 860"/>
              <a:gd name="T21" fmla="*/ 598 h 1199"/>
              <a:gd name="T22" fmla="*/ 394 w 860"/>
              <a:gd name="T23" fmla="*/ 598 h 1199"/>
              <a:gd name="T24" fmla="*/ 621 w 860"/>
              <a:gd name="T25" fmla="*/ 396 h 1199"/>
              <a:gd name="T26" fmla="*/ 394 w 860"/>
              <a:gd name="T27" fmla="*/ 194 h 1199"/>
            </a:gdLst>
            <a:ahLst/>
            <a:cxnLst/>
            <a:rect l="0" t="0" r="r" b="b"/>
            <a:pathLst>
              <a:path w="860" h="1199">
                <a:moveTo>
                  <a:pt x="406" y="791"/>
                </a:moveTo>
                <a:cubicBezTo>
                  <a:pt x="227" y="791"/>
                  <a:pt x="227" y="791"/>
                  <a:pt x="227" y="791"/>
                </a:cubicBezTo>
                <a:cubicBezTo>
                  <a:pt x="227" y="1199"/>
                  <a:pt x="227" y="1199"/>
                  <a:pt x="227" y="1199"/>
                </a:cubicBezTo>
                <a:cubicBezTo>
                  <a:pt x="0" y="1199"/>
                  <a:pt x="0" y="1199"/>
                  <a:pt x="0" y="1199"/>
                </a:cubicBezTo>
                <a:cubicBezTo>
                  <a:pt x="0" y="0"/>
                  <a:pt x="0" y="0"/>
                  <a:pt x="0" y="0"/>
                </a:cubicBezTo>
                <a:cubicBezTo>
                  <a:pt x="406" y="0"/>
                  <a:pt x="406" y="0"/>
                  <a:pt x="406" y="0"/>
                </a:cubicBezTo>
                <a:cubicBezTo>
                  <a:pt x="661" y="0"/>
                  <a:pt x="860" y="116"/>
                  <a:pt x="860" y="396"/>
                </a:cubicBezTo>
                <a:cubicBezTo>
                  <a:pt x="860" y="671"/>
                  <a:pt x="659" y="791"/>
                  <a:pt x="406" y="791"/>
                </a:cubicBezTo>
                <a:moveTo>
                  <a:pt x="394" y="194"/>
                </a:moveTo>
                <a:cubicBezTo>
                  <a:pt x="227" y="194"/>
                  <a:pt x="227" y="194"/>
                  <a:pt x="227" y="194"/>
                </a:cubicBezTo>
                <a:cubicBezTo>
                  <a:pt x="227" y="598"/>
                  <a:pt x="227" y="598"/>
                  <a:pt x="227" y="598"/>
                </a:cubicBezTo>
                <a:cubicBezTo>
                  <a:pt x="394" y="598"/>
                  <a:pt x="394" y="598"/>
                  <a:pt x="394" y="598"/>
                </a:cubicBezTo>
                <a:cubicBezTo>
                  <a:pt x="525" y="598"/>
                  <a:pt x="621" y="534"/>
                  <a:pt x="621" y="396"/>
                </a:cubicBezTo>
                <a:cubicBezTo>
                  <a:pt x="621" y="252"/>
                  <a:pt x="525" y="194"/>
                  <a:pt x="394" y="194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18" name="Freeform 11">
            <a:extLst>
              <a:ext uri="{FF2B5EF4-FFF2-40B4-BE49-F238E27FC236}">
                <a16:creationId xmlns:a16="http://schemas.microsoft.com/office/drawing/2014/main" id="{2D962E7C-3E08-D166-19E4-74C492278721}"/>
              </a:ext>
            </a:extLst>
          </p:cNvPr>
          <p:cNvSpPr>
            <a:spLocks noGrp="1"/>
          </p:cNvSpPr>
          <p:nvPr/>
        </p:nvSpPr>
        <p:spPr>
          <a:xfrm>
            <a:off x="1791084" y="327819"/>
            <a:ext cx="1291824" cy="1272297"/>
          </a:xfrm>
          <a:custGeom>
            <a:avLst/>
            <a:gdLst>
              <a:gd name="T0" fmla="*/ 1265 w 1720"/>
              <a:gd name="T1" fmla="*/ 0 h 1694"/>
              <a:gd name="T2" fmla="*/ 860 w 1720"/>
              <a:gd name="T3" fmla="*/ 996 h 1694"/>
              <a:gd name="T4" fmla="*/ 456 w 1720"/>
              <a:gd name="T5" fmla="*/ 0 h 1694"/>
              <a:gd name="T6" fmla="*/ 0 w 1720"/>
              <a:gd name="T7" fmla="*/ 0 h 1694"/>
              <a:gd name="T8" fmla="*/ 0 w 1720"/>
              <a:gd name="T9" fmla="*/ 1694 h 1694"/>
              <a:gd name="T10" fmla="*/ 303 w 1720"/>
              <a:gd name="T11" fmla="*/ 1694 h 1694"/>
              <a:gd name="T12" fmla="*/ 303 w 1720"/>
              <a:gd name="T13" fmla="*/ 428 h 1694"/>
              <a:gd name="T14" fmla="*/ 692 w 1720"/>
              <a:gd name="T15" fmla="*/ 1321 h 1694"/>
              <a:gd name="T16" fmla="*/ 709 w 1720"/>
              <a:gd name="T17" fmla="*/ 1321 h 1694"/>
              <a:gd name="T18" fmla="*/ 1012 w 1720"/>
              <a:gd name="T19" fmla="*/ 1321 h 1694"/>
              <a:gd name="T20" fmla="*/ 1029 w 1720"/>
              <a:gd name="T21" fmla="*/ 1321 h 1694"/>
              <a:gd name="T22" fmla="*/ 1416 w 1720"/>
              <a:gd name="T23" fmla="*/ 428 h 1694"/>
              <a:gd name="T24" fmla="*/ 1416 w 1720"/>
              <a:gd name="T25" fmla="*/ 1694 h 1694"/>
              <a:gd name="T26" fmla="*/ 1720 w 1720"/>
              <a:gd name="T27" fmla="*/ 1694 h 1694"/>
              <a:gd name="T28" fmla="*/ 1720 w 1720"/>
              <a:gd name="T29" fmla="*/ 0 h 1694"/>
              <a:gd name="T30" fmla="*/ 1265 w 1720"/>
              <a:gd name="T31" fmla="*/ 0 h 1694"/>
            </a:gdLst>
            <a:ahLst/>
            <a:cxnLst/>
            <a:rect l="0" t="0" r="r" b="b"/>
            <a:pathLst>
              <a:path w="1720" h="1694">
                <a:moveTo>
                  <a:pt x="1265" y="0"/>
                </a:moveTo>
                <a:lnTo>
                  <a:pt x="860" y="996"/>
                </a:lnTo>
                <a:lnTo>
                  <a:pt x="456" y="0"/>
                </a:lnTo>
                <a:lnTo>
                  <a:pt x="0" y="0"/>
                </a:lnTo>
                <a:lnTo>
                  <a:pt x="0" y="1694"/>
                </a:lnTo>
                <a:lnTo>
                  <a:pt x="303" y="1694"/>
                </a:lnTo>
                <a:lnTo>
                  <a:pt x="303" y="428"/>
                </a:lnTo>
                <a:lnTo>
                  <a:pt x="692" y="1321"/>
                </a:lnTo>
                <a:lnTo>
                  <a:pt x="709" y="1321"/>
                </a:lnTo>
                <a:lnTo>
                  <a:pt x="1012" y="1321"/>
                </a:lnTo>
                <a:lnTo>
                  <a:pt x="1029" y="1321"/>
                </a:lnTo>
                <a:lnTo>
                  <a:pt x="1416" y="428"/>
                </a:lnTo>
                <a:lnTo>
                  <a:pt x="1416" y="1694"/>
                </a:lnTo>
                <a:lnTo>
                  <a:pt x="1720" y="1694"/>
                </a:lnTo>
                <a:lnTo>
                  <a:pt x="1720" y="0"/>
                </a:lnTo>
                <a:lnTo>
                  <a:pt x="126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19" name="Freeform 12">
            <a:extLst>
              <a:ext uri="{FF2B5EF4-FFF2-40B4-BE49-F238E27FC236}">
                <a16:creationId xmlns:a16="http://schemas.microsoft.com/office/drawing/2014/main" id="{F4041540-D57A-59CB-04E7-A52B58E1F12F}"/>
              </a:ext>
            </a:extLst>
          </p:cNvPr>
          <p:cNvSpPr>
            <a:spLocks noGrp="1"/>
          </p:cNvSpPr>
          <p:nvPr/>
        </p:nvSpPr>
        <p:spPr>
          <a:xfrm>
            <a:off x="330271" y="327819"/>
            <a:ext cx="835930" cy="1272297"/>
          </a:xfrm>
          <a:custGeom>
            <a:avLst/>
            <a:gdLst>
              <a:gd name="T0" fmla="*/ 0 w 1113"/>
              <a:gd name="T1" fmla="*/ 0 h 1694"/>
              <a:gd name="T2" fmla="*/ 0 w 1113"/>
              <a:gd name="T3" fmla="*/ 297 h 1694"/>
              <a:gd name="T4" fmla="*/ 397 w 1113"/>
              <a:gd name="T5" fmla="*/ 297 h 1694"/>
              <a:gd name="T6" fmla="*/ 397 w 1113"/>
              <a:gd name="T7" fmla="*/ 1397 h 1694"/>
              <a:gd name="T8" fmla="*/ 0 w 1113"/>
              <a:gd name="T9" fmla="*/ 1397 h 1694"/>
              <a:gd name="T10" fmla="*/ 0 w 1113"/>
              <a:gd name="T11" fmla="*/ 1694 h 1694"/>
              <a:gd name="T12" fmla="*/ 1113 w 1113"/>
              <a:gd name="T13" fmla="*/ 1694 h 1694"/>
              <a:gd name="T14" fmla="*/ 1113 w 1113"/>
              <a:gd name="T15" fmla="*/ 1397 h 1694"/>
              <a:gd name="T16" fmla="*/ 717 w 1113"/>
              <a:gd name="T17" fmla="*/ 1397 h 1694"/>
              <a:gd name="T18" fmla="*/ 717 w 1113"/>
              <a:gd name="T19" fmla="*/ 297 h 1694"/>
              <a:gd name="T20" fmla="*/ 1113 w 1113"/>
              <a:gd name="T21" fmla="*/ 297 h 1694"/>
              <a:gd name="T22" fmla="*/ 1113 w 1113"/>
              <a:gd name="T23" fmla="*/ 0 h 1694"/>
              <a:gd name="T24" fmla="*/ 0 w 1113"/>
              <a:gd name="T25" fmla="*/ 0 h 1694"/>
            </a:gdLst>
            <a:ahLst/>
            <a:cxnLst/>
            <a:rect l="0" t="0" r="r" b="b"/>
            <a:pathLst>
              <a:path w="1113" h="1694">
                <a:moveTo>
                  <a:pt x="0" y="0"/>
                </a:moveTo>
                <a:lnTo>
                  <a:pt x="0" y="297"/>
                </a:lnTo>
                <a:lnTo>
                  <a:pt x="397" y="297"/>
                </a:lnTo>
                <a:lnTo>
                  <a:pt x="397" y="1397"/>
                </a:lnTo>
                <a:lnTo>
                  <a:pt x="0" y="1397"/>
                </a:lnTo>
                <a:lnTo>
                  <a:pt x="0" y="1694"/>
                </a:lnTo>
                <a:lnTo>
                  <a:pt x="1113" y="1694"/>
                </a:lnTo>
                <a:lnTo>
                  <a:pt x="1113" y="1397"/>
                </a:lnTo>
                <a:lnTo>
                  <a:pt x="717" y="1397"/>
                </a:lnTo>
                <a:lnTo>
                  <a:pt x="717" y="297"/>
                </a:lnTo>
                <a:lnTo>
                  <a:pt x="1113" y="297"/>
                </a:lnTo>
                <a:lnTo>
                  <a:pt x="1113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5">
            <a:extLst>
              <a:ext uri="{FF2B5EF4-FFF2-40B4-BE49-F238E27FC236}">
                <a16:creationId xmlns:a16="http://schemas.microsoft.com/office/drawing/2014/main" id="{E39A89AD-BEB6-79FD-8F05-4DF88E68FEE2}"/>
              </a:ext>
            </a:extLst>
          </p:cNvPr>
          <p:cNvSpPr>
            <a:spLocks noGrp="1"/>
          </p:cNvSpPr>
          <p:nvPr/>
        </p:nvSpPr>
        <p:spPr>
          <a:xfrm>
            <a:off x="11041147" y="327819"/>
            <a:ext cx="825415" cy="1272297"/>
          </a:xfrm>
          <a:custGeom>
            <a:avLst/>
            <a:gdLst>
              <a:gd name="T0" fmla="*/ 0 w 1099"/>
              <a:gd name="T1" fmla="*/ 0 h 1694"/>
              <a:gd name="T2" fmla="*/ 0 w 1099"/>
              <a:gd name="T3" fmla="*/ 1694 h 1694"/>
              <a:gd name="T4" fmla="*/ 1099 w 1099"/>
              <a:gd name="T5" fmla="*/ 1694 h 1694"/>
              <a:gd name="T6" fmla="*/ 1099 w 1099"/>
              <a:gd name="T7" fmla="*/ 1397 h 1694"/>
              <a:gd name="T8" fmla="*/ 319 w 1099"/>
              <a:gd name="T9" fmla="*/ 1397 h 1694"/>
              <a:gd name="T10" fmla="*/ 319 w 1099"/>
              <a:gd name="T11" fmla="*/ 0 h 1694"/>
              <a:gd name="T12" fmla="*/ 0 w 1099"/>
              <a:gd name="T13" fmla="*/ 0 h 1694"/>
            </a:gdLst>
            <a:ahLst/>
            <a:cxnLst/>
            <a:rect l="0" t="0" r="r" b="b"/>
            <a:pathLst>
              <a:path w="1099" h="1694">
                <a:moveTo>
                  <a:pt x="0" y="0"/>
                </a:moveTo>
                <a:lnTo>
                  <a:pt x="0" y="1694"/>
                </a:lnTo>
                <a:lnTo>
                  <a:pt x="1099" y="1694"/>
                </a:lnTo>
                <a:lnTo>
                  <a:pt x="1099" y="1397"/>
                </a:lnTo>
                <a:lnTo>
                  <a:pt x="319" y="1397"/>
                </a:lnTo>
                <a:lnTo>
                  <a:pt x="31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4" name="Freeform 6">
            <a:extLst>
              <a:ext uri="{FF2B5EF4-FFF2-40B4-BE49-F238E27FC236}">
                <a16:creationId xmlns:a16="http://schemas.microsoft.com/office/drawing/2014/main" id="{733ED1C0-423D-3BA1-7D76-5AD063DB4966}"/>
              </a:ext>
            </a:extLst>
          </p:cNvPr>
          <p:cNvSpPr>
            <a:spLocks noGrp="1"/>
          </p:cNvSpPr>
          <p:nvPr/>
        </p:nvSpPr>
        <p:spPr>
          <a:xfrm>
            <a:off x="9344501" y="327819"/>
            <a:ext cx="1152878" cy="1272297"/>
          </a:xfrm>
          <a:custGeom>
            <a:avLst/>
            <a:gdLst>
              <a:gd name="T0" fmla="*/ 556 w 1535"/>
              <a:gd name="T1" fmla="*/ 0 h 1694"/>
              <a:gd name="T2" fmla="*/ 0 w 1535"/>
              <a:gd name="T3" fmla="*/ 1694 h 1694"/>
              <a:gd name="T4" fmla="*/ 337 w 1535"/>
              <a:gd name="T5" fmla="*/ 1694 h 1694"/>
              <a:gd name="T6" fmla="*/ 453 w 1535"/>
              <a:gd name="T7" fmla="*/ 1321 h 1694"/>
              <a:gd name="T8" fmla="*/ 1083 w 1535"/>
              <a:gd name="T9" fmla="*/ 1321 h 1694"/>
              <a:gd name="T10" fmla="*/ 1197 w 1535"/>
              <a:gd name="T11" fmla="*/ 1694 h 1694"/>
              <a:gd name="T12" fmla="*/ 1535 w 1535"/>
              <a:gd name="T13" fmla="*/ 1694 h 1694"/>
              <a:gd name="T14" fmla="*/ 978 w 1535"/>
              <a:gd name="T15" fmla="*/ 0 h 1694"/>
              <a:gd name="T16" fmla="*/ 556 w 1535"/>
              <a:gd name="T17" fmla="*/ 0 h 1694"/>
              <a:gd name="T18" fmla="*/ 768 w 1535"/>
              <a:gd name="T19" fmla="*/ 301 h 1694"/>
              <a:gd name="T20" fmla="*/ 998 w 1535"/>
              <a:gd name="T21" fmla="*/ 1048 h 1694"/>
              <a:gd name="T22" fmla="*/ 536 w 1535"/>
              <a:gd name="T23" fmla="*/ 1048 h 1694"/>
              <a:gd name="T24" fmla="*/ 768 w 1535"/>
              <a:gd name="T25" fmla="*/ 301 h 1694"/>
            </a:gdLst>
            <a:ahLst/>
            <a:cxnLst/>
            <a:rect l="0" t="0" r="r" b="b"/>
            <a:pathLst>
              <a:path w="1535" h="1694">
                <a:moveTo>
                  <a:pt x="556" y="0"/>
                </a:moveTo>
                <a:lnTo>
                  <a:pt x="0" y="1694"/>
                </a:lnTo>
                <a:lnTo>
                  <a:pt x="337" y="1694"/>
                </a:lnTo>
                <a:lnTo>
                  <a:pt x="453" y="1321"/>
                </a:lnTo>
                <a:lnTo>
                  <a:pt x="1083" y="1321"/>
                </a:lnTo>
                <a:lnTo>
                  <a:pt x="1197" y="1694"/>
                </a:lnTo>
                <a:lnTo>
                  <a:pt x="1535" y="1694"/>
                </a:lnTo>
                <a:lnTo>
                  <a:pt x="978" y="0"/>
                </a:lnTo>
                <a:lnTo>
                  <a:pt x="556" y="0"/>
                </a:lnTo>
                <a:close/>
                <a:moveTo>
                  <a:pt x="768" y="301"/>
                </a:moveTo>
                <a:lnTo>
                  <a:pt x="998" y="1048"/>
                </a:lnTo>
                <a:lnTo>
                  <a:pt x="536" y="1048"/>
                </a:lnTo>
                <a:lnTo>
                  <a:pt x="768" y="30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5" name="Freeform 7">
            <a:extLst>
              <a:ext uri="{FF2B5EF4-FFF2-40B4-BE49-F238E27FC236}">
                <a16:creationId xmlns:a16="http://schemas.microsoft.com/office/drawing/2014/main" id="{24321CB6-88B2-41D3-45AD-465FCCF9FFB4}"/>
              </a:ext>
            </a:extLst>
          </p:cNvPr>
          <p:cNvSpPr>
            <a:spLocks noGrp="1"/>
          </p:cNvSpPr>
          <p:nvPr/>
        </p:nvSpPr>
        <p:spPr>
          <a:xfrm>
            <a:off x="8028642" y="327819"/>
            <a:ext cx="835930" cy="1272297"/>
          </a:xfrm>
          <a:custGeom>
            <a:avLst/>
            <a:gdLst>
              <a:gd name="T0" fmla="*/ 0 w 1113"/>
              <a:gd name="T1" fmla="*/ 0 h 1694"/>
              <a:gd name="T2" fmla="*/ 0 w 1113"/>
              <a:gd name="T3" fmla="*/ 297 h 1694"/>
              <a:gd name="T4" fmla="*/ 396 w 1113"/>
              <a:gd name="T5" fmla="*/ 297 h 1694"/>
              <a:gd name="T6" fmla="*/ 396 w 1113"/>
              <a:gd name="T7" fmla="*/ 1397 h 1694"/>
              <a:gd name="T8" fmla="*/ 0 w 1113"/>
              <a:gd name="T9" fmla="*/ 1397 h 1694"/>
              <a:gd name="T10" fmla="*/ 0 w 1113"/>
              <a:gd name="T11" fmla="*/ 1694 h 1694"/>
              <a:gd name="T12" fmla="*/ 1113 w 1113"/>
              <a:gd name="T13" fmla="*/ 1694 h 1694"/>
              <a:gd name="T14" fmla="*/ 1113 w 1113"/>
              <a:gd name="T15" fmla="*/ 1397 h 1694"/>
              <a:gd name="T16" fmla="*/ 716 w 1113"/>
              <a:gd name="T17" fmla="*/ 1397 h 1694"/>
              <a:gd name="T18" fmla="*/ 716 w 1113"/>
              <a:gd name="T19" fmla="*/ 297 h 1694"/>
              <a:gd name="T20" fmla="*/ 1113 w 1113"/>
              <a:gd name="T21" fmla="*/ 297 h 1694"/>
              <a:gd name="T22" fmla="*/ 1113 w 1113"/>
              <a:gd name="T23" fmla="*/ 0 h 1694"/>
              <a:gd name="T24" fmla="*/ 0 w 1113"/>
              <a:gd name="T25" fmla="*/ 0 h 1694"/>
            </a:gdLst>
            <a:ahLst/>
            <a:cxnLst/>
            <a:rect l="0" t="0" r="r" b="b"/>
            <a:pathLst>
              <a:path w="1113" h="1694">
                <a:moveTo>
                  <a:pt x="0" y="0"/>
                </a:moveTo>
                <a:lnTo>
                  <a:pt x="0" y="297"/>
                </a:lnTo>
                <a:lnTo>
                  <a:pt x="396" y="297"/>
                </a:lnTo>
                <a:lnTo>
                  <a:pt x="396" y="1397"/>
                </a:lnTo>
                <a:lnTo>
                  <a:pt x="0" y="1397"/>
                </a:lnTo>
                <a:lnTo>
                  <a:pt x="0" y="1694"/>
                </a:lnTo>
                <a:lnTo>
                  <a:pt x="1113" y="1694"/>
                </a:lnTo>
                <a:lnTo>
                  <a:pt x="1113" y="1397"/>
                </a:lnTo>
                <a:lnTo>
                  <a:pt x="716" y="1397"/>
                </a:lnTo>
                <a:lnTo>
                  <a:pt x="716" y="297"/>
                </a:lnTo>
                <a:lnTo>
                  <a:pt x="1113" y="297"/>
                </a:lnTo>
                <a:lnTo>
                  <a:pt x="1113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15" name="Freeform 8">
            <a:extLst>
              <a:ext uri="{FF2B5EF4-FFF2-40B4-BE49-F238E27FC236}">
                <a16:creationId xmlns:a16="http://schemas.microsoft.com/office/drawing/2014/main" id="{28DF50ED-77B5-2CCB-445E-BE59A74640E2}"/>
              </a:ext>
            </a:extLst>
          </p:cNvPr>
          <p:cNvSpPr>
            <a:spLocks noGrp="1"/>
          </p:cNvSpPr>
          <p:nvPr/>
        </p:nvSpPr>
        <p:spPr>
          <a:xfrm>
            <a:off x="6536285" y="327819"/>
            <a:ext cx="989146" cy="1272297"/>
          </a:xfrm>
          <a:custGeom>
            <a:avLst/>
            <a:gdLst>
              <a:gd name="T0" fmla="*/ 884 w 932"/>
              <a:gd name="T1" fmla="*/ 372 h 1199"/>
              <a:gd name="T2" fmla="*/ 442 w 932"/>
              <a:gd name="T3" fmla="*/ 0 h 1199"/>
              <a:gd name="T4" fmla="*/ 0 w 932"/>
              <a:gd name="T5" fmla="*/ 0 h 1199"/>
              <a:gd name="T6" fmla="*/ 0 w 932"/>
              <a:gd name="T7" fmla="*/ 1199 h 1199"/>
              <a:gd name="T8" fmla="*/ 227 w 932"/>
              <a:gd name="T9" fmla="*/ 1199 h 1199"/>
              <a:gd name="T10" fmla="*/ 227 w 932"/>
              <a:gd name="T11" fmla="*/ 755 h 1199"/>
              <a:gd name="T12" fmla="*/ 418 w 932"/>
              <a:gd name="T13" fmla="*/ 755 h 1199"/>
              <a:gd name="T14" fmla="*/ 450 w 932"/>
              <a:gd name="T15" fmla="*/ 755 h 1199"/>
              <a:gd name="T16" fmla="*/ 681 w 932"/>
              <a:gd name="T17" fmla="*/ 1199 h 1199"/>
              <a:gd name="T18" fmla="*/ 932 w 932"/>
              <a:gd name="T19" fmla="*/ 1199 h 1199"/>
              <a:gd name="T20" fmla="*/ 676 w 932"/>
              <a:gd name="T21" fmla="*/ 707 h 1199"/>
              <a:gd name="T22" fmla="*/ 884 w 932"/>
              <a:gd name="T23" fmla="*/ 372 h 1199"/>
              <a:gd name="T24" fmla="*/ 645 w 932"/>
              <a:gd name="T25" fmla="*/ 372 h 1199"/>
              <a:gd name="T26" fmla="*/ 418 w 932"/>
              <a:gd name="T27" fmla="*/ 562 h 1199"/>
              <a:gd name="T28" fmla="*/ 227 w 932"/>
              <a:gd name="T29" fmla="*/ 562 h 1199"/>
              <a:gd name="T30" fmla="*/ 227 w 932"/>
              <a:gd name="T31" fmla="*/ 194 h 1199"/>
              <a:gd name="T32" fmla="*/ 418 w 932"/>
              <a:gd name="T33" fmla="*/ 194 h 1199"/>
              <a:gd name="T34" fmla="*/ 645 w 932"/>
              <a:gd name="T35" fmla="*/ 372 h 1199"/>
            </a:gdLst>
            <a:ahLst/>
            <a:cxnLst/>
            <a:rect l="0" t="0" r="r" b="b"/>
            <a:pathLst>
              <a:path w="932" h="1199">
                <a:moveTo>
                  <a:pt x="884" y="372"/>
                </a:moveTo>
                <a:cubicBezTo>
                  <a:pt x="884" y="92"/>
                  <a:pt x="693" y="0"/>
                  <a:pt x="442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199"/>
                  <a:pt x="0" y="1199"/>
                  <a:pt x="0" y="1199"/>
                </a:cubicBezTo>
                <a:cubicBezTo>
                  <a:pt x="227" y="1199"/>
                  <a:pt x="227" y="1199"/>
                  <a:pt x="227" y="1199"/>
                </a:cubicBezTo>
                <a:cubicBezTo>
                  <a:pt x="227" y="755"/>
                  <a:pt x="227" y="755"/>
                  <a:pt x="227" y="755"/>
                </a:cubicBezTo>
                <a:cubicBezTo>
                  <a:pt x="418" y="755"/>
                  <a:pt x="418" y="755"/>
                  <a:pt x="418" y="755"/>
                </a:cubicBezTo>
                <a:cubicBezTo>
                  <a:pt x="429" y="755"/>
                  <a:pt x="439" y="755"/>
                  <a:pt x="450" y="755"/>
                </a:cubicBezTo>
                <a:cubicBezTo>
                  <a:pt x="681" y="1199"/>
                  <a:pt x="681" y="1199"/>
                  <a:pt x="681" y="1199"/>
                </a:cubicBezTo>
                <a:cubicBezTo>
                  <a:pt x="932" y="1199"/>
                  <a:pt x="932" y="1199"/>
                  <a:pt x="932" y="1199"/>
                </a:cubicBezTo>
                <a:cubicBezTo>
                  <a:pt x="676" y="707"/>
                  <a:pt x="676" y="707"/>
                  <a:pt x="676" y="707"/>
                </a:cubicBezTo>
                <a:cubicBezTo>
                  <a:pt x="801" y="652"/>
                  <a:pt x="884" y="545"/>
                  <a:pt x="884" y="372"/>
                </a:cubicBezTo>
                <a:moveTo>
                  <a:pt x="645" y="372"/>
                </a:moveTo>
                <a:cubicBezTo>
                  <a:pt x="645" y="516"/>
                  <a:pt x="562" y="562"/>
                  <a:pt x="418" y="562"/>
                </a:cubicBezTo>
                <a:cubicBezTo>
                  <a:pt x="227" y="562"/>
                  <a:pt x="227" y="562"/>
                  <a:pt x="227" y="562"/>
                </a:cubicBezTo>
                <a:cubicBezTo>
                  <a:pt x="227" y="194"/>
                  <a:pt x="227" y="194"/>
                  <a:pt x="227" y="194"/>
                </a:cubicBezTo>
                <a:cubicBezTo>
                  <a:pt x="418" y="194"/>
                  <a:pt x="418" y="194"/>
                  <a:pt x="418" y="194"/>
                </a:cubicBezTo>
                <a:cubicBezTo>
                  <a:pt x="574" y="194"/>
                  <a:pt x="645" y="252"/>
                  <a:pt x="645" y="372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16" name="Freeform 9">
            <a:extLst>
              <a:ext uri="{FF2B5EF4-FFF2-40B4-BE49-F238E27FC236}">
                <a16:creationId xmlns:a16="http://schemas.microsoft.com/office/drawing/2014/main" id="{3E46F43E-7289-80AB-2776-B413EE27EDF5}"/>
              </a:ext>
            </a:extLst>
          </p:cNvPr>
          <p:cNvSpPr>
            <a:spLocks noGrp="1"/>
          </p:cNvSpPr>
          <p:nvPr/>
        </p:nvSpPr>
        <p:spPr>
          <a:xfrm>
            <a:off x="5113776" y="327819"/>
            <a:ext cx="824664" cy="1272297"/>
          </a:xfrm>
          <a:custGeom>
            <a:avLst/>
            <a:gdLst>
              <a:gd name="T0" fmla="*/ 0 w 1098"/>
              <a:gd name="T1" fmla="*/ 0 h 1694"/>
              <a:gd name="T2" fmla="*/ 0 w 1098"/>
              <a:gd name="T3" fmla="*/ 1694 h 1694"/>
              <a:gd name="T4" fmla="*/ 1098 w 1098"/>
              <a:gd name="T5" fmla="*/ 1694 h 1694"/>
              <a:gd name="T6" fmla="*/ 1098 w 1098"/>
              <a:gd name="T7" fmla="*/ 1397 h 1694"/>
              <a:gd name="T8" fmla="*/ 321 w 1098"/>
              <a:gd name="T9" fmla="*/ 1397 h 1694"/>
              <a:gd name="T10" fmla="*/ 321 w 1098"/>
              <a:gd name="T11" fmla="*/ 973 h 1694"/>
              <a:gd name="T12" fmla="*/ 1030 w 1098"/>
              <a:gd name="T13" fmla="*/ 973 h 1694"/>
              <a:gd name="T14" fmla="*/ 1030 w 1098"/>
              <a:gd name="T15" fmla="*/ 687 h 1694"/>
              <a:gd name="T16" fmla="*/ 321 w 1098"/>
              <a:gd name="T17" fmla="*/ 687 h 1694"/>
              <a:gd name="T18" fmla="*/ 321 w 1098"/>
              <a:gd name="T19" fmla="*/ 297 h 1694"/>
              <a:gd name="T20" fmla="*/ 1098 w 1098"/>
              <a:gd name="T21" fmla="*/ 297 h 1694"/>
              <a:gd name="T22" fmla="*/ 1098 w 1098"/>
              <a:gd name="T23" fmla="*/ 0 h 1694"/>
              <a:gd name="T24" fmla="*/ 0 w 1098"/>
              <a:gd name="T25" fmla="*/ 0 h 1694"/>
            </a:gdLst>
            <a:ahLst/>
            <a:cxnLst/>
            <a:rect l="0" t="0" r="r" b="b"/>
            <a:pathLst>
              <a:path w="1098" h="1694">
                <a:moveTo>
                  <a:pt x="0" y="0"/>
                </a:moveTo>
                <a:lnTo>
                  <a:pt x="0" y="1694"/>
                </a:lnTo>
                <a:lnTo>
                  <a:pt x="1098" y="1694"/>
                </a:lnTo>
                <a:lnTo>
                  <a:pt x="1098" y="1397"/>
                </a:lnTo>
                <a:lnTo>
                  <a:pt x="321" y="1397"/>
                </a:lnTo>
                <a:lnTo>
                  <a:pt x="321" y="973"/>
                </a:lnTo>
                <a:lnTo>
                  <a:pt x="1030" y="973"/>
                </a:lnTo>
                <a:lnTo>
                  <a:pt x="1030" y="687"/>
                </a:lnTo>
                <a:lnTo>
                  <a:pt x="321" y="687"/>
                </a:lnTo>
                <a:lnTo>
                  <a:pt x="321" y="297"/>
                </a:lnTo>
                <a:lnTo>
                  <a:pt x="1098" y="297"/>
                </a:lnTo>
                <a:lnTo>
                  <a:pt x="109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17" name="Freeform 10">
            <a:extLst>
              <a:ext uri="{FF2B5EF4-FFF2-40B4-BE49-F238E27FC236}">
                <a16:creationId xmlns:a16="http://schemas.microsoft.com/office/drawing/2014/main" id="{0C82D5C3-8445-8837-27CE-3B93EA4FA45F}"/>
              </a:ext>
            </a:extLst>
          </p:cNvPr>
          <p:cNvSpPr>
            <a:spLocks noGrp="1"/>
          </p:cNvSpPr>
          <p:nvPr/>
        </p:nvSpPr>
        <p:spPr>
          <a:xfrm>
            <a:off x="3695773" y="327819"/>
            <a:ext cx="912538" cy="1272297"/>
          </a:xfrm>
          <a:custGeom>
            <a:avLst/>
            <a:gdLst>
              <a:gd name="T0" fmla="*/ 406 w 860"/>
              <a:gd name="T1" fmla="*/ 791 h 1199"/>
              <a:gd name="T2" fmla="*/ 227 w 860"/>
              <a:gd name="T3" fmla="*/ 791 h 1199"/>
              <a:gd name="T4" fmla="*/ 227 w 860"/>
              <a:gd name="T5" fmla="*/ 1199 h 1199"/>
              <a:gd name="T6" fmla="*/ 0 w 860"/>
              <a:gd name="T7" fmla="*/ 1199 h 1199"/>
              <a:gd name="T8" fmla="*/ 0 w 860"/>
              <a:gd name="T9" fmla="*/ 0 h 1199"/>
              <a:gd name="T10" fmla="*/ 406 w 860"/>
              <a:gd name="T11" fmla="*/ 0 h 1199"/>
              <a:gd name="T12" fmla="*/ 860 w 860"/>
              <a:gd name="T13" fmla="*/ 396 h 1199"/>
              <a:gd name="T14" fmla="*/ 406 w 860"/>
              <a:gd name="T15" fmla="*/ 791 h 1199"/>
              <a:gd name="T16" fmla="*/ 394 w 860"/>
              <a:gd name="T17" fmla="*/ 194 h 1199"/>
              <a:gd name="T18" fmla="*/ 227 w 860"/>
              <a:gd name="T19" fmla="*/ 194 h 1199"/>
              <a:gd name="T20" fmla="*/ 227 w 860"/>
              <a:gd name="T21" fmla="*/ 598 h 1199"/>
              <a:gd name="T22" fmla="*/ 394 w 860"/>
              <a:gd name="T23" fmla="*/ 598 h 1199"/>
              <a:gd name="T24" fmla="*/ 621 w 860"/>
              <a:gd name="T25" fmla="*/ 396 h 1199"/>
              <a:gd name="T26" fmla="*/ 394 w 860"/>
              <a:gd name="T27" fmla="*/ 194 h 1199"/>
            </a:gdLst>
            <a:ahLst/>
            <a:cxnLst/>
            <a:rect l="0" t="0" r="r" b="b"/>
            <a:pathLst>
              <a:path w="860" h="1199">
                <a:moveTo>
                  <a:pt x="406" y="791"/>
                </a:moveTo>
                <a:cubicBezTo>
                  <a:pt x="227" y="791"/>
                  <a:pt x="227" y="791"/>
                  <a:pt x="227" y="791"/>
                </a:cubicBezTo>
                <a:cubicBezTo>
                  <a:pt x="227" y="1199"/>
                  <a:pt x="227" y="1199"/>
                  <a:pt x="227" y="1199"/>
                </a:cubicBezTo>
                <a:cubicBezTo>
                  <a:pt x="0" y="1199"/>
                  <a:pt x="0" y="1199"/>
                  <a:pt x="0" y="1199"/>
                </a:cubicBezTo>
                <a:cubicBezTo>
                  <a:pt x="0" y="0"/>
                  <a:pt x="0" y="0"/>
                  <a:pt x="0" y="0"/>
                </a:cubicBezTo>
                <a:cubicBezTo>
                  <a:pt x="406" y="0"/>
                  <a:pt x="406" y="0"/>
                  <a:pt x="406" y="0"/>
                </a:cubicBezTo>
                <a:cubicBezTo>
                  <a:pt x="661" y="0"/>
                  <a:pt x="860" y="116"/>
                  <a:pt x="860" y="396"/>
                </a:cubicBezTo>
                <a:cubicBezTo>
                  <a:pt x="860" y="671"/>
                  <a:pt x="659" y="791"/>
                  <a:pt x="406" y="791"/>
                </a:cubicBezTo>
                <a:moveTo>
                  <a:pt x="394" y="194"/>
                </a:moveTo>
                <a:cubicBezTo>
                  <a:pt x="227" y="194"/>
                  <a:pt x="227" y="194"/>
                  <a:pt x="227" y="194"/>
                </a:cubicBezTo>
                <a:cubicBezTo>
                  <a:pt x="227" y="598"/>
                  <a:pt x="227" y="598"/>
                  <a:pt x="227" y="598"/>
                </a:cubicBezTo>
                <a:cubicBezTo>
                  <a:pt x="394" y="598"/>
                  <a:pt x="394" y="598"/>
                  <a:pt x="394" y="598"/>
                </a:cubicBezTo>
                <a:cubicBezTo>
                  <a:pt x="525" y="598"/>
                  <a:pt x="621" y="534"/>
                  <a:pt x="621" y="396"/>
                </a:cubicBezTo>
                <a:cubicBezTo>
                  <a:pt x="621" y="252"/>
                  <a:pt x="525" y="194"/>
                  <a:pt x="394" y="194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18" name="Freeform 11">
            <a:extLst>
              <a:ext uri="{FF2B5EF4-FFF2-40B4-BE49-F238E27FC236}">
                <a16:creationId xmlns:a16="http://schemas.microsoft.com/office/drawing/2014/main" id="{2D962E7C-3E08-D166-19E4-74C492278721}"/>
              </a:ext>
            </a:extLst>
          </p:cNvPr>
          <p:cNvSpPr>
            <a:spLocks noGrp="1"/>
          </p:cNvSpPr>
          <p:nvPr/>
        </p:nvSpPr>
        <p:spPr>
          <a:xfrm>
            <a:off x="1791084" y="327819"/>
            <a:ext cx="1291824" cy="1272297"/>
          </a:xfrm>
          <a:custGeom>
            <a:avLst/>
            <a:gdLst>
              <a:gd name="T0" fmla="*/ 1265 w 1720"/>
              <a:gd name="T1" fmla="*/ 0 h 1694"/>
              <a:gd name="T2" fmla="*/ 860 w 1720"/>
              <a:gd name="T3" fmla="*/ 996 h 1694"/>
              <a:gd name="T4" fmla="*/ 456 w 1720"/>
              <a:gd name="T5" fmla="*/ 0 h 1694"/>
              <a:gd name="T6" fmla="*/ 0 w 1720"/>
              <a:gd name="T7" fmla="*/ 0 h 1694"/>
              <a:gd name="T8" fmla="*/ 0 w 1720"/>
              <a:gd name="T9" fmla="*/ 1694 h 1694"/>
              <a:gd name="T10" fmla="*/ 303 w 1720"/>
              <a:gd name="T11" fmla="*/ 1694 h 1694"/>
              <a:gd name="T12" fmla="*/ 303 w 1720"/>
              <a:gd name="T13" fmla="*/ 428 h 1694"/>
              <a:gd name="T14" fmla="*/ 692 w 1720"/>
              <a:gd name="T15" fmla="*/ 1321 h 1694"/>
              <a:gd name="T16" fmla="*/ 709 w 1720"/>
              <a:gd name="T17" fmla="*/ 1321 h 1694"/>
              <a:gd name="T18" fmla="*/ 1012 w 1720"/>
              <a:gd name="T19" fmla="*/ 1321 h 1694"/>
              <a:gd name="T20" fmla="*/ 1029 w 1720"/>
              <a:gd name="T21" fmla="*/ 1321 h 1694"/>
              <a:gd name="T22" fmla="*/ 1416 w 1720"/>
              <a:gd name="T23" fmla="*/ 428 h 1694"/>
              <a:gd name="T24" fmla="*/ 1416 w 1720"/>
              <a:gd name="T25" fmla="*/ 1694 h 1694"/>
              <a:gd name="T26" fmla="*/ 1720 w 1720"/>
              <a:gd name="T27" fmla="*/ 1694 h 1694"/>
              <a:gd name="T28" fmla="*/ 1720 w 1720"/>
              <a:gd name="T29" fmla="*/ 0 h 1694"/>
              <a:gd name="T30" fmla="*/ 1265 w 1720"/>
              <a:gd name="T31" fmla="*/ 0 h 1694"/>
            </a:gdLst>
            <a:ahLst/>
            <a:cxnLst/>
            <a:rect l="0" t="0" r="r" b="b"/>
            <a:pathLst>
              <a:path w="1720" h="1694">
                <a:moveTo>
                  <a:pt x="1265" y="0"/>
                </a:moveTo>
                <a:lnTo>
                  <a:pt x="860" y="996"/>
                </a:lnTo>
                <a:lnTo>
                  <a:pt x="456" y="0"/>
                </a:lnTo>
                <a:lnTo>
                  <a:pt x="0" y="0"/>
                </a:lnTo>
                <a:lnTo>
                  <a:pt x="0" y="1694"/>
                </a:lnTo>
                <a:lnTo>
                  <a:pt x="303" y="1694"/>
                </a:lnTo>
                <a:lnTo>
                  <a:pt x="303" y="428"/>
                </a:lnTo>
                <a:lnTo>
                  <a:pt x="692" y="1321"/>
                </a:lnTo>
                <a:lnTo>
                  <a:pt x="709" y="1321"/>
                </a:lnTo>
                <a:lnTo>
                  <a:pt x="1012" y="1321"/>
                </a:lnTo>
                <a:lnTo>
                  <a:pt x="1029" y="1321"/>
                </a:lnTo>
                <a:lnTo>
                  <a:pt x="1416" y="428"/>
                </a:lnTo>
                <a:lnTo>
                  <a:pt x="1416" y="1694"/>
                </a:lnTo>
                <a:lnTo>
                  <a:pt x="1720" y="1694"/>
                </a:lnTo>
                <a:lnTo>
                  <a:pt x="1720" y="0"/>
                </a:lnTo>
                <a:lnTo>
                  <a:pt x="126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19" name="Freeform 12">
            <a:extLst>
              <a:ext uri="{FF2B5EF4-FFF2-40B4-BE49-F238E27FC236}">
                <a16:creationId xmlns:a16="http://schemas.microsoft.com/office/drawing/2014/main" id="{F4041540-D57A-59CB-04E7-A52B58E1F12F}"/>
              </a:ext>
            </a:extLst>
          </p:cNvPr>
          <p:cNvSpPr>
            <a:spLocks noGrp="1"/>
          </p:cNvSpPr>
          <p:nvPr/>
        </p:nvSpPr>
        <p:spPr>
          <a:xfrm>
            <a:off x="330271" y="327819"/>
            <a:ext cx="835930" cy="1272297"/>
          </a:xfrm>
          <a:custGeom>
            <a:avLst/>
            <a:gdLst>
              <a:gd name="T0" fmla="*/ 0 w 1113"/>
              <a:gd name="T1" fmla="*/ 0 h 1694"/>
              <a:gd name="T2" fmla="*/ 0 w 1113"/>
              <a:gd name="T3" fmla="*/ 297 h 1694"/>
              <a:gd name="T4" fmla="*/ 397 w 1113"/>
              <a:gd name="T5" fmla="*/ 297 h 1694"/>
              <a:gd name="T6" fmla="*/ 397 w 1113"/>
              <a:gd name="T7" fmla="*/ 1397 h 1694"/>
              <a:gd name="T8" fmla="*/ 0 w 1113"/>
              <a:gd name="T9" fmla="*/ 1397 h 1694"/>
              <a:gd name="T10" fmla="*/ 0 w 1113"/>
              <a:gd name="T11" fmla="*/ 1694 h 1694"/>
              <a:gd name="T12" fmla="*/ 1113 w 1113"/>
              <a:gd name="T13" fmla="*/ 1694 h 1694"/>
              <a:gd name="T14" fmla="*/ 1113 w 1113"/>
              <a:gd name="T15" fmla="*/ 1397 h 1694"/>
              <a:gd name="T16" fmla="*/ 717 w 1113"/>
              <a:gd name="T17" fmla="*/ 1397 h 1694"/>
              <a:gd name="T18" fmla="*/ 717 w 1113"/>
              <a:gd name="T19" fmla="*/ 297 h 1694"/>
              <a:gd name="T20" fmla="*/ 1113 w 1113"/>
              <a:gd name="T21" fmla="*/ 297 h 1694"/>
              <a:gd name="T22" fmla="*/ 1113 w 1113"/>
              <a:gd name="T23" fmla="*/ 0 h 1694"/>
              <a:gd name="T24" fmla="*/ 0 w 1113"/>
              <a:gd name="T25" fmla="*/ 0 h 1694"/>
            </a:gdLst>
            <a:ahLst/>
            <a:cxnLst/>
            <a:rect l="0" t="0" r="r" b="b"/>
            <a:pathLst>
              <a:path w="1113" h="1694">
                <a:moveTo>
                  <a:pt x="0" y="0"/>
                </a:moveTo>
                <a:lnTo>
                  <a:pt x="0" y="297"/>
                </a:lnTo>
                <a:lnTo>
                  <a:pt x="397" y="297"/>
                </a:lnTo>
                <a:lnTo>
                  <a:pt x="397" y="1397"/>
                </a:lnTo>
                <a:lnTo>
                  <a:pt x="0" y="1397"/>
                </a:lnTo>
                <a:lnTo>
                  <a:pt x="0" y="1694"/>
                </a:lnTo>
                <a:lnTo>
                  <a:pt x="1113" y="1694"/>
                </a:lnTo>
                <a:lnTo>
                  <a:pt x="1113" y="1397"/>
                </a:lnTo>
                <a:lnTo>
                  <a:pt x="717" y="1397"/>
                </a:lnTo>
                <a:lnTo>
                  <a:pt x="717" y="297"/>
                </a:lnTo>
                <a:lnTo>
                  <a:pt x="1113" y="297"/>
                </a:lnTo>
                <a:lnTo>
                  <a:pt x="1113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5">
            <a:extLst>
              <a:ext uri="{FF2B5EF4-FFF2-40B4-BE49-F238E27FC236}">
                <a16:creationId xmlns:a16="http://schemas.microsoft.com/office/drawing/2014/main" id="{E39A89AD-BEB6-79FD-8F05-4DF88E68FEE2}"/>
              </a:ext>
            </a:extLst>
          </p:cNvPr>
          <p:cNvSpPr>
            <a:spLocks noGrp="1"/>
          </p:cNvSpPr>
          <p:nvPr/>
        </p:nvSpPr>
        <p:spPr>
          <a:xfrm>
            <a:off x="11041147" y="327819"/>
            <a:ext cx="825415" cy="1272297"/>
          </a:xfrm>
          <a:custGeom>
            <a:avLst/>
            <a:gdLst>
              <a:gd name="T0" fmla="*/ 0 w 1099"/>
              <a:gd name="T1" fmla="*/ 0 h 1694"/>
              <a:gd name="T2" fmla="*/ 0 w 1099"/>
              <a:gd name="T3" fmla="*/ 1694 h 1694"/>
              <a:gd name="T4" fmla="*/ 1099 w 1099"/>
              <a:gd name="T5" fmla="*/ 1694 h 1694"/>
              <a:gd name="T6" fmla="*/ 1099 w 1099"/>
              <a:gd name="T7" fmla="*/ 1397 h 1694"/>
              <a:gd name="T8" fmla="*/ 319 w 1099"/>
              <a:gd name="T9" fmla="*/ 1397 h 1694"/>
              <a:gd name="T10" fmla="*/ 319 w 1099"/>
              <a:gd name="T11" fmla="*/ 0 h 1694"/>
              <a:gd name="T12" fmla="*/ 0 w 1099"/>
              <a:gd name="T13" fmla="*/ 0 h 1694"/>
            </a:gdLst>
            <a:ahLst/>
            <a:cxnLst/>
            <a:rect l="0" t="0" r="r" b="b"/>
            <a:pathLst>
              <a:path w="1099" h="1694">
                <a:moveTo>
                  <a:pt x="0" y="0"/>
                </a:moveTo>
                <a:lnTo>
                  <a:pt x="0" y="1694"/>
                </a:lnTo>
                <a:lnTo>
                  <a:pt x="1099" y="1694"/>
                </a:lnTo>
                <a:lnTo>
                  <a:pt x="1099" y="1397"/>
                </a:lnTo>
                <a:lnTo>
                  <a:pt x="319" y="1397"/>
                </a:lnTo>
                <a:lnTo>
                  <a:pt x="31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4" name="Freeform 6">
            <a:extLst>
              <a:ext uri="{FF2B5EF4-FFF2-40B4-BE49-F238E27FC236}">
                <a16:creationId xmlns:a16="http://schemas.microsoft.com/office/drawing/2014/main" id="{733ED1C0-423D-3BA1-7D76-5AD063DB4966}"/>
              </a:ext>
            </a:extLst>
          </p:cNvPr>
          <p:cNvSpPr>
            <a:spLocks noGrp="1"/>
          </p:cNvSpPr>
          <p:nvPr/>
        </p:nvSpPr>
        <p:spPr>
          <a:xfrm>
            <a:off x="9344501" y="327819"/>
            <a:ext cx="1152878" cy="1272297"/>
          </a:xfrm>
          <a:custGeom>
            <a:avLst/>
            <a:gdLst>
              <a:gd name="T0" fmla="*/ 556 w 1535"/>
              <a:gd name="T1" fmla="*/ 0 h 1694"/>
              <a:gd name="T2" fmla="*/ 0 w 1535"/>
              <a:gd name="T3" fmla="*/ 1694 h 1694"/>
              <a:gd name="T4" fmla="*/ 337 w 1535"/>
              <a:gd name="T5" fmla="*/ 1694 h 1694"/>
              <a:gd name="T6" fmla="*/ 453 w 1535"/>
              <a:gd name="T7" fmla="*/ 1321 h 1694"/>
              <a:gd name="T8" fmla="*/ 1083 w 1535"/>
              <a:gd name="T9" fmla="*/ 1321 h 1694"/>
              <a:gd name="T10" fmla="*/ 1197 w 1535"/>
              <a:gd name="T11" fmla="*/ 1694 h 1694"/>
              <a:gd name="T12" fmla="*/ 1535 w 1535"/>
              <a:gd name="T13" fmla="*/ 1694 h 1694"/>
              <a:gd name="T14" fmla="*/ 978 w 1535"/>
              <a:gd name="T15" fmla="*/ 0 h 1694"/>
              <a:gd name="T16" fmla="*/ 556 w 1535"/>
              <a:gd name="T17" fmla="*/ 0 h 1694"/>
              <a:gd name="T18" fmla="*/ 768 w 1535"/>
              <a:gd name="T19" fmla="*/ 301 h 1694"/>
              <a:gd name="T20" fmla="*/ 998 w 1535"/>
              <a:gd name="T21" fmla="*/ 1048 h 1694"/>
              <a:gd name="T22" fmla="*/ 536 w 1535"/>
              <a:gd name="T23" fmla="*/ 1048 h 1694"/>
              <a:gd name="T24" fmla="*/ 768 w 1535"/>
              <a:gd name="T25" fmla="*/ 301 h 1694"/>
            </a:gdLst>
            <a:ahLst/>
            <a:cxnLst/>
            <a:rect l="0" t="0" r="r" b="b"/>
            <a:pathLst>
              <a:path w="1535" h="1694">
                <a:moveTo>
                  <a:pt x="556" y="0"/>
                </a:moveTo>
                <a:lnTo>
                  <a:pt x="0" y="1694"/>
                </a:lnTo>
                <a:lnTo>
                  <a:pt x="337" y="1694"/>
                </a:lnTo>
                <a:lnTo>
                  <a:pt x="453" y="1321"/>
                </a:lnTo>
                <a:lnTo>
                  <a:pt x="1083" y="1321"/>
                </a:lnTo>
                <a:lnTo>
                  <a:pt x="1197" y="1694"/>
                </a:lnTo>
                <a:lnTo>
                  <a:pt x="1535" y="1694"/>
                </a:lnTo>
                <a:lnTo>
                  <a:pt x="978" y="0"/>
                </a:lnTo>
                <a:lnTo>
                  <a:pt x="556" y="0"/>
                </a:lnTo>
                <a:close/>
                <a:moveTo>
                  <a:pt x="768" y="301"/>
                </a:moveTo>
                <a:lnTo>
                  <a:pt x="998" y="1048"/>
                </a:lnTo>
                <a:lnTo>
                  <a:pt x="536" y="1048"/>
                </a:lnTo>
                <a:lnTo>
                  <a:pt x="768" y="30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5" name="Freeform 7">
            <a:extLst>
              <a:ext uri="{FF2B5EF4-FFF2-40B4-BE49-F238E27FC236}">
                <a16:creationId xmlns:a16="http://schemas.microsoft.com/office/drawing/2014/main" id="{24321CB6-88B2-41D3-45AD-465FCCF9FFB4}"/>
              </a:ext>
            </a:extLst>
          </p:cNvPr>
          <p:cNvSpPr>
            <a:spLocks noGrp="1"/>
          </p:cNvSpPr>
          <p:nvPr/>
        </p:nvSpPr>
        <p:spPr>
          <a:xfrm>
            <a:off x="8028642" y="327819"/>
            <a:ext cx="835930" cy="1272297"/>
          </a:xfrm>
          <a:custGeom>
            <a:avLst/>
            <a:gdLst>
              <a:gd name="T0" fmla="*/ 0 w 1113"/>
              <a:gd name="T1" fmla="*/ 0 h 1694"/>
              <a:gd name="T2" fmla="*/ 0 w 1113"/>
              <a:gd name="T3" fmla="*/ 297 h 1694"/>
              <a:gd name="T4" fmla="*/ 396 w 1113"/>
              <a:gd name="T5" fmla="*/ 297 h 1694"/>
              <a:gd name="T6" fmla="*/ 396 w 1113"/>
              <a:gd name="T7" fmla="*/ 1397 h 1694"/>
              <a:gd name="T8" fmla="*/ 0 w 1113"/>
              <a:gd name="T9" fmla="*/ 1397 h 1694"/>
              <a:gd name="T10" fmla="*/ 0 w 1113"/>
              <a:gd name="T11" fmla="*/ 1694 h 1694"/>
              <a:gd name="T12" fmla="*/ 1113 w 1113"/>
              <a:gd name="T13" fmla="*/ 1694 h 1694"/>
              <a:gd name="T14" fmla="*/ 1113 w 1113"/>
              <a:gd name="T15" fmla="*/ 1397 h 1694"/>
              <a:gd name="T16" fmla="*/ 716 w 1113"/>
              <a:gd name="T17" fmla="*/ 1397 h 1694"/>
              <a:gd name="T18" fmla="*/ 716 w 1113"/>
              <a:gd name="T19" fmla="*/ 297 h 1694"/>
              <a:gd name="T20" fmla="*/ 1113 w 1113"/>
              <a:gd name="T21" fmla="*/ 297 h 1694"/>
              <a:gd name="T22" fmla="*/ 1113 w 1113"/>
              <a:gd name="T23" fmla="*/ 0 h 1694"/>
              <a:gd name="T24" fmla="*/ 0 w 1113"/>
              <a:gd name="T25" fmla="*/ 0 h 1694"/>
            </a:gdLst>
            <a:ahLst/>
            <a:cxnLst/>
            <a:rect l="0" t="0" r="r" b="b"/>
            <a:pathLst>
              <a:path w="1113" h="1694">
                <a:moveTo>
                  <a:pt x="0" y="0"/>
                </a:moveTo>
                <a:lnTo>
                  <a:pt x="0" y="297"/>
                </a:lnTo>
                <a:lnTo>
                  <a:pt x="396" y="297"/>
                </a:lnTo>
                <a:lnTo>
                  <a:pt x="396" y="1397"/>
                </a:lnTo>
                <a:lnTo>
                  <a:pt x="0" y="1397"/>
                </a:lnTo>
                <a:lnTo>
                  <a:pt x="0" y="1694"/>
                </a:lnTo>
                <a:lnTo>
                  <a:pt x="1113" y="1694"/>
                </a:lnTo>
                <a:lnTo>
                  <a:pt x="1113" y="1397"/>
                </a:lnTo>
                <a:lnTo>
                  <a:pt x="716" y="1397"/>
                </a:lnTo>
                <a:lnTo>
                  <a:pt x="716" y="297"/>
                </a:lnTo>
                <a:lnTo>
                  <a:pt x="1113" y="297"/>
                </a:lnTo>
                <a:lnTo>
                  <a:pt x="1113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15" name="Freeform 8">
            <a:extLst>
              <a:ext uri="{FF2B5EF4-FFF2-40B4-BE49-F238E27FC236}">
                <a16:creationId xmlns:a16="http://schemas.microsoft.com/office/drawing/2014/main" id="{28DF50ED-77B5-2CCB-445E-BE59A74640E2}"/>
              </a:ext>
            </a:extLst>
          </p:cNvPr>
          <p:cNvSpPr>
            <a:spLocks noGrp="1"/>
          </p:cNvSpPr>
          <p:nvPr/>
        </p:nvSpPr>
        <p:spPr>
          <a:xfrm>
            <a:off x="6536285" y="327819"/>
            <a:ext cx="989146" cy="1272297"/>
          </a:xfrm>
          <a:custGeom>
            <a:avLst/>
            <a:gdLst>
              <a:gd name="T0" fmla="*/ 884 w 932"/>
              <a:gd name="T1" fmla="*/ 372 h 1199"/>
              <a:gd name="T2" fmla="*/ 442 w 932"/>
              <a:gd name="T3" fmla="*/ 0 h 1199"/>
              <a:gd name="T4" fmla="*/ 0 w 932"/>
              <a:gd name="T5" fmla="*/ 0 h 1199"/>
              <a:gd name="T6" fmla="*/ 0 w 932"/>
              <a:gd name="T7" fmla="*/ 1199 h 1199"/>
              <a:gd name="T8" fmla="*/ 227 w 932"/>
              <a:gd name="T9" fmla="*/ 1199 h 1199"/>
              <a:gd name="T10" fmla="*/ 227 w 932"/>
              <a:gd name="T11" fmla="*/ 755 h 1199"/>
              <a:gd name="T12" fmla="*/ 418 w 932"/>
              <a:gd name="T13" fmla="*/ 755 h 1199"/>
              <a:gd name="T14" fmla="*/ 450 w 932"/>
              <a:gd name="T15" fmla="*/ 755 h 1199"/>
              <a:gd name="T16" fmla="*/ 681 w 932"/>
              <a:gd name="T17" fmla="*/ 1199 h 1199"/>
              <a:gd name="T18" fmla="*/ 932 w 932"/>
              <a:gd name="T19" fmla="*/ 1199 h 1199"/>
              <a:gd name="T20" fmla="*/ 676 w 932"/>
              <a:gd name="T21" fmla="*/ 707 h 1199"/>
              <a:gd name="T22" fmla="*/ 884 w 932"/>
              <a:gd name="T23" fmla="*/ 372 h 1199"/>
              <a:gd name="T24" fmla="*/ 645 w 932"/>
              <a:gd name="T25" fmla="*/ 372 h 1199"/>
              <a:gd name="T26" fmla="*/ 418 w 932"/>
              <a:gd name="T27" fmla="*/ 562 h 1199"/>
              <a:gd name="T28" fmla="*/ 227 w 932"/>
              <a:gd name="T29" fmla="*/ 562 h 1199"/>
              <a:gd name="T30" fmla="*/ 227 w 932"/>
              <a:gd name="T31" fmla="*/ 194 h 1199"/>
              <a:gd name="T32" fmla="*/ 418 w 932"/>
              <a:gd name="T33" fmla="*/ 194 h 1199"/>
              <a:gd name="T34" fmla="*/ 645 w 932"/>
              <a:gd name="T35" fmla="*/ 372 h 1199"/>
            </a:gdLst>
            <a:ahLst/>
            <a:cxnLst/>
            <a:rect l="0" t="0" r="r" b="b"/>
            <a:pathLst>
              <a:path w="932" h="1199">
                <a:moveTo>
                  <a:pt x="884" y="372"/>
                </a:moveTo>
                <a:cubicBezTo>
                  <a:pt x="884" y="92"/>
                  <a:pt x="693" y="0"/>
                  <a:pt x="442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199"/>
                  <a:pt x="0" y="1199"/>
                  <a:pt x="0" y="1199"/>
                </a:cubicBezTo>
                <a:cubicBezTo>
                  <a:pt x="227" y="1199"/>
                  <a:pt x="227" y="1199"/>
                  <a:pt x="227" y="1199"/>
                </a:cubicBezTo>
                <a:cubicBezTo>
                  <a:pt x="227" y="755"/>
                  <a:pt x="227" y="755"/>
                  <a:pt x="227" y="755"/>
                </a:cubicBezTo>
                <a:cubicBezTo>
                  <a:pt x="418" y="755"/>
                  <a:pt x="418" y="755"/>
                  <a:pt x="418" y="755"/>
                </a:cubicBezTo>
                <a:cubicBezTo>
                  <a:pt x="429" y="755"/>
                  <a:pt x="439" y="755"/>
                  <a:pt x="450" y="755"/>
                </a:cubicBezTo>
                <a:cubicBezTo>
                  <a:pt x="681" y="1199"/>
                  <a:pt x="681" y="1199"/>
                  <a:pt x="681" y="1199"/>
                </a:cubicBezTo>
                <a:cubicBezTo>
                  <a:pt x="932" y="1199"/>
                  <a:pt x="932" y="1199"/>
                  <a:pt x="932" y="1199"/>
                </a:cubicBezTo>
                <a:cubicBezTo>
                  <a:pt x="676" y="707"/>
                  <a:pt x="676" y="707"/>
                  <a:pt x="676" y="707"/>
                </a:cubicBezTo>
                <a:cubicBezTo>
                  <a:pt x="801" y="652"/>
                  <a:pt x="884" y="545"/>
                  <a:pt x="884" y="372"/>
                </a:cubicBezTo>
                <a:moveTo>
                  <a:pt x="645" y="372"/>
                </a:moveTo>
                <a:cubicBezTo>
                  <a:pt x="645" y="516"/>
                  <a:pt x="562" y="562"/>
                  <a:pt x="418" y="562"/>
                </a:cubicBezTo>
                <a:cubicBezTo>
                  <a:pt x="227" y="562"/>
                  <a:pt x="227" y="562"/>
                  <a:pt x="227" y="562"/>
                </a:cubicBezTo>
                <a:cubicBezTo>
                  <a:pt x="227" y="194"/>
                  <a:pt x="227" y="194"/>
                  <a:pt x="227" y="194"/>
                </a:cubicBezTo>
                <a:cubicBezTo>
                  <a:pt x="418" y="194"/>
                  <a:pt x="418" y="194"/>
                  <a:pt x="418" y="194"/>
                </a:cubicBezTo>
                <a:cubicBezTo>
                  <a:pt x="574" y="194"/>
                  <a:pt x="645" y="252"/>
                  <a:pt x="645" y="372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16" name="Freeform 9">
            <a:extLst>
              <a:ext uri="{FF2B5EF4-FFF2-40B4-BE49-F238E27FC236}">
                <a16:creationId xmlns:a16="http://schemas.microsoft.com/office/drawing/2014/main" id="{3E46F43E-7289-80AB-2776-B413EE27EDF5}"/>
              </a:ext>
            </a:extLst>
          </p:cNvPr>
          <p:cNvSpPr>
            <a:spLocks noGrp="1"/>
          </p:cNvSpPr>
          <p:nvPr/>
        </p:nvSpPr>
        <p:spPr>
          <a:xfrm>
            <a:off x="5113776" y="327819"/>
            <a:ext cx="824664" cy="1272297"/>
          </a:xfrm>
          <a:custGeom>
            <a:avLst/>
            <a:gdLst>
              <a:gd name="T0" fmla="*/ 0 w 1098"/>
              <a:gd name="T1" fmla="*/ 0 h 1694"/>
              <a:gd name="T2" fmla="*/ 0 w 1098"/>
              <a:gd name="T3" fmla="*/ 1694 h 1694"/>
              <a:gd name="T4" fmla="*/ 1098 w 1098"/>
              <a:gd name="T5" fmla="*/ 1694 h 1694"/>
              <a:gd name="T6" fmla="*/ 1098 w 1098"/>
              <a:gd name="T7" fmla="*/ 1397 h 1694"/>
              <a:gd name="T8" fmla="*/ 321 w 1098"/>
              <a:gd name="T9" fmla="*/ 1397 h 1694"/>
              <a:gd name="T10" fmla="*/ 321 w 1098"/>
              <a:gd name="T11" fmla="*/ 973 h 1694"/>
              <a:gd name="T12" fmla="*/ 1030 w 1098"/>
              <a:gd name="T13" fmla="*/ 973 h 1694"/>
              <a:gd name="T14" fmla="*/ 1030 w 1098"/>
              <a:gd name="T15" fmla="*/ 687 h 1694"/>
              <a:gd name="T16" fmla="*/ 321 w 1098"/>
              <a:gd name="T17" fmla="*/ 687 h 1694"/>
              <a:gd name="T18" fmla="*/ 321 w 1098"/>
              <a:gd name="T19" fmla="*/ 297 h 1694"/>
              <a:gd name="T20" fmla="*/ 1098 w 1098"/>
              <a:gd name="T21" fmla="*/ 297 h 1694"/>
              <a:gd name="T22" fmla="*/ 1098 w 1098"/>
              <a:gd name="T23" fmla="*/ 0 h 1694"/>
              <a:gd name="T24" fmla="*/ 0 w 1098"/>
              <a:gd name="T25" fmla="*/ 0 h 1694"/>
            </a:gdLst>
            <a:ahLst/>
            <a:cxnLst/>
            <a:rect l="0" t="0" r="r" b="b"/>
            <a:pathLst>
              <a:path w="1098" h="1694">
                <a:moveTo>
                  <a:pt x="0" y="0"/>
                </a:moveTo>
                <a:lnTo>
                  <a:pt x="0" y="1694"/>
                </a:lnTo>
                <a:lnTo>
                  <a:pt x="1098" y="1694"/>
                </a:lnTo>
                <a:lnTo>
                  <a:pt x="1098" y="1397"/>
                </a:lnTo>
                <a:lnTo>
                  <a:pt x="321" y="1397"/>
                </a:lnTo>
                <a:lnTo>
                  <a:pt x="321" y="973"/>
                </a:lnTo>
                <a:lnTo>
                  <a:pt x="1030" y="973"/>
                </a:lnTo>
                <a:lnTo>
                  <a:pt x="1030" y="687"/>
                </a:lnTo>
                <a:lnTo>
                  <a:pt x="321" y="687"/>
                </a:lnTo>
                <a:lnTo>
                  <a:pt x="321" y="297"/>
                </a:lnTo>
                <a:lnTo>
                  <a:pt x="1098" y="297"/>
                </a:lnTo>
                <a:lnTo>
                  <a:pt x="109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17" name="Freeform 10">
            <a:extLst>
              <a:ext uri="{FF2B5EF4-FFF2-40B4-BE49-F238E27FC236}">
                <a16:creationId xmlns:a16="http://schemas.microsoft.com/office/drawing/2014/main" id="{0C82D5C3-8445-8837-27CE-3B93EA4FA45F}"/>
              </a:ext>
            </a:extLst>
          </p:cNvPr>
          <p:cNvSpPr>
            <a:spLocks noGrp="1"/>
          </p:cNvSpPr>
          <p:nvPr/>
        </p:nvSpPr>
        <p:spPr>
          <a:xfrm>
            <a:off x="3695773" y="327819"/>
            <a:ext cx="912538" cy="1272297"/>
          </a:xfrm>
          <a:custGeom>
            <a:avLst/>
            <a:gdLst>
              <a:gd name="T0" fmla="*/ 406 w 860"/>
              <a:gd name="T1" fmla="*/ 791 h 1199"/>
              <a:gd name="T2" fmla="*/ 227 w 860"/>
              <a:gd name="T3" fmla="*/ 791 h 1199"/>
              <a:gd name="T4" fmla="*/ 227 w 860"/>
              <a:gd name="T5" fmla="*/ 1199 h 1199"/>
              <a:gd name="T6" fmla="*/ 0 w 860"/>
              <a:gd name="T7" fmla="*/ 1199 h 1199"/>
              <a:gd name="T8" fmla="*/ 0 w 860"/>
              <a:gd name="T9" fmla="*/ 0 h 1199"/>
              <a:gd name="T10" fmla="*/ 406 w 860"/>
              <a:gd name="T11" fmla="*/ 0 h 1199"/>
              <a:gd name="T12" fmla="*/ 860 w 860"/>
              <a:gd name="T13" fmla="*/ 396 h 1199"/>
              <a:gd name="T14" fmla="*/ 406 w 860"/>
              <a:gd name="T15" fmla="*/ 791 h 1199"/>
              <a:gd name="T16" fmla="*/ 394 w 860"/>
              <a:gd name="T17" fmla="*/ 194 h 1199"/>
              <a:gd name="T18" fmla="*/ 227 w 860"/>
              <a:gd name="T19" fmla="*/ 194 h 1199"/>
              <a:gd name="T20" fmla="*/ 227 w 860"/>
              <a:gd name="T21" fmla="*/ 598 h 1199"/>
              <a:gd name="T22" fmla="*/ 394 w 860"/>
              <a:gd name="T23" fmla="*/ 598 h 1199"/>
              <a:gd name="T24" fmla="*/ 621 w 860"/>
              <a:gd name="T25" fmla="*/ 396 h 1199"/>
              <a:gd name="T26" fmla="*/ 394 w 860"/>
              <a:gd name="T27" fmla="*/ 194 h 1199"/>
            </a:gdLst>
            <a:ahLst/>
            <a:cxnLst/>
            <a:rect l="0" t="0" r="r" b="b"/>
            <a:pathLst>
              <a:path w="860" h="1199">
                <a:moveTo>
                  <a:pt x="406" y="791"/>
                </a:moveTo>
                <a:cubicBezTo>
                  <a:pt x="227" y="791"/>
                  <a:pt x="227" y="791"/>
                  <a:pt x="227" y="791"/>
                </a:cubicBezTo>
                <a:cubicBezTo>
                  <a:pt x="227" y="1199"/>
                  <a:pt x="227" y="1199"/>
                  <a:pt x="227" y="1199"/>
                </a:cubicBezTo>
                <a:cubicBezTo>
                  <a:pt x="0" y="1199"/>
                  <a:pt x="0" y="1199"/>
                  <a:pt x="0" y="1199"/>
                </a:cubicBezTo>
                <a:cubicBezTo>
                  <a:pt x="0" y="0"/>
                  <a:pt x="0" y="0"/>
                  <a:pt x="0" y="0"/>
                </a:cubicBezTo>
                <a:cubicBezTo>
                  <a:pt x="406" y="0"/>
                  <a:pt x="406" y="0"/>
                  <a:pt x="406" y="0"/>
                </a:cubicBezTo>
                <a:cubicBezTo>
                  <a:pt x="661" y="0"/>
                  <a:pt x="860" y="116"/>
                  <a:pt x="860" y="396"/>
                </a:cubicBezTo>
                <a:cubicBezTo>
                  <a:pt x="860" y="671"/>
                  <a:pt x="659" y="791"/>
                  <a:pt x="406" y="791"/>
                </a:cubicBezTo>
                <a:moveTo>
                  <a:pt x="394" y="194"/>
                </a:moveTo>
                <a:cubicBezTo>
                  <a:pt x="227" y="194"/>
                  <a:pt x="227" y="194"/>
                  <a:pt x="227" y="194"/>
                </a:cubicBezTo>
                <a:cubicBezTo>
                  <a:pt x="227" y="598"/>
                  <a:pt x="227" y="598"/>
                  <a:pt x="227" y="598"/>
                </a:cubicBezTo>
                <a:cubicBezTo>
                  <a:pt x="394" y="598"/>
                  <a:pt x="394" y="598"/>
                  <a:pt x="394" y="598"/>
                </a:cubicBezTo>
                <a:cubicBezTo>
                  <a:pt x="525" y="598"/>
                  <a:pt x="621" y="534"/>
                  <a:pt x="621" y="396"/>
                </a:cubicBezTo>
                <a:cubicBezTo>
                  <a:pt x="621" y="252"/>
                  <a:pt x="525" y="194"/>
                  <a:pt x="394" y="194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18" name="Freeform 11">
            <a:extLst>
              <a:ext uri="{FF2B5EF4-FFF2-40B4-BE49-F238E27FC236}">
                <a16:creationId xmlns:a16="http://schemas.microsoft.com/office/drawing/2014/main" id="{2D962E7C-3E08-D166-19E4-74C492278721}"/>
              </a:ext>
            </a:extLst>
          </p:cNvPr>
          <p:cNvSpPr>
            <a:spLocks noGrp="1"/>
          </p:cNvSpPr>
          <p:nvPr/>
        </p:nvSpPr>
        <p:spPr>
          <a:xfrm>
            <a:off x="1791084" y="327819"/>
            <a:ext cx="1291824" cy="1272297"/>
          </a:xfrm>
          <a:custGeom>
            <a:avLst/>
            <a:gdLst>
              <a:gd name="T0" fmla="*/ 1265 w 1720"/>
              <a:gd name="T1" fmla="*/ 0 h 1694"/>
              <a:gd name="T2" fmla="*/ 860 w 1720"/>
              <a:gd name="T3" fmla="*/ 996 h 1694"/>
              <a:gd name="T4" fmla="*/ 456 w 1720"/>
              <a:gd name="T5" fmla="*/ 0 h 1694"/>
              <a:gd name="T6" fmla="*/ 0 w 1720"/>
              <a:gd name="T7" fmla="*/ 0 h 1694"/>
              <a:gd name="T8" fmla="*/ 0 w 1720"/>
              <a:gd name="T9" fmla="*/ 1694 h 1694"/>
              <a:gd name="T10" fmla="*/ 303 w 1720"/>
              <a:gd name="T11" fmla="*/ 1694 h 1694"/>
              <a:gd name="T12" fmla="*/ 303 w 1720"/>
              <a:gd name="T13" fmla="*/ 428 h 1694"/>
              <a:gd name="T14" fmla="*/ 692 w 1720"/>
              <a:gd name="T15" fmla="*/ 1321 h 1694"/>
              <a:gd name="T16" fmla="*/ 709 w 1720"/>
              <a:gd name="T17" fmla="*/ 1321 h 1694"/>
              <a:gd name="T18" fmla="*/ 1012 w 1720"/>
              <a:gd name="T19" fmla="*/ 1321 h 1694"/>
              <a:gd name="T20" fmla="*/ 1029 w 1720"/>
              <a:gd name="T21" fmla="*/ 1321 h 1694"/>
              <a:gd name="T22" fmla="*/ 1416 w 1720"/>
              <a:gd name="T23" fmla="*/ 428 h 1694"/>
              <a:gd name="T24" fmla="*/ 1416 w 1720"/>
              <a:gd name="T25" fmla="*/ 1694 h 1694"/>
              <a:gd name="T26" fmla="*/ 1720 w 1720"/>
              <a:gd name="T27" fmla="*/ 1694 h 1694"/>
              <a:gd name="T28" fmla="*/ 1720 w 1720"/>
              <a:gd name="T29" fmla="*/ 0 h 1694"/>
              <a:gd name="T30" fmla="*/ 1265 w 1720"/>
              <a:gd name="T31" fmla="*/ 0 h 1694"/>
            </a:gdLst>
            <a:ahLst/>
            <a:cxnLst/>
            <a:rect l="0" t="0" r="r" b="b"/>
            <a:pathLst>
              <a:path w="1720" h="1694">
                <a:moveTo>
                  <a:pt x="1265" y="0"/>
                </a:moveTo>
                <a:lnTo>
                  <a:pt x="860" y="996"/>
                </a:lnTo>
                <a:lnTo>
                  <a:pt x="456" y="0"/>
                </a:lnTo>
                <a:lnTo>
                  <a:pt x="0" y="0"/>
                </a:lnTo>
                <a:lnTo>
                  <a:pt x="0" y="1694"/>
                </a:lnTo>
                <a:lnTo>
                  <a:pt x="303" y="1694"/>
                </a:lnTo>
                <a:lnTo>
                  <a:pt x="303" y="428"/>
                </a:lnTo>
                <a:lnTo>
                  <a:pt x="692" y="1321"/>
                </a:lnTo>
                <a:lnTo>
                  <a:pt x="709" y="1321"/>
                </a:lnTo>
                <a:lnTo>
                  <a:pt x="1012" y="1321"/>
                </a:lnTo>
                <a:lnTo>
                  <a:pt x="1029" y="1321"/>
                </a:lnTo>
                <a:lnTo>
                  <a:pt x="1416" y="428"/>
                </a:lnTo>
                <a:lnTo>
                  <a:pt x="1416" y="1694"/>
                </a:lnTo>
                <a:lnTo>
                  <a:pt x="1720" y="1694"/>
                </a:lnTo>
                <a:lnTo>
                  <a:pt x="1720" y="0"/>
                </a:lnTo>
                <a:lnTo>
                  <a:pt x="126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19" name="Freeform 12">
            <a:extLst>
              <a:ext uri="{FF2B5EF4-FFF2-40B4-BE49-F238E27FC236}">
                <a16:creationId xmlns:a16="http://schemas.microsoft.com/office/drawing/2014/main" id="{F4041540-D57A-59CB-04E7-A52B58E1F12F}"/>
              </a:ext>
            </a:extLst>
          </p:cNvPr>
          <p:cNvSpPr>
            <a:spLocks noGrp="1"/>
          </p:cNvSpPr>
          <p:nvPr/>
        </p:nvSpPr>
        <p:spPr>
          <a:xfrm>
            <a:off x="330271" y="327819"/>
            <a:ext cx="835930" cy="1272297"/>
          </a:xfrm>
          <a:custGeom>
            <a:avLst/>
            <a:gdLst>
              <a:gd name="T0" fmla="*/ 0 w 1113"/>
              <a:gd name="T1" fmla="*/ 0 h 1694"/>
              <a:gd name="T2" fmla="*/ 0 w 1113"/>
              <a:gd name="T3" fmla="*/ 297 h 1694"/>
              <a:gd name="T4" fmla="*/ 397 w 1113"/>
              <a:gd name="T5" fmla="*/ 297 h 1694"/>
              <a:gd name="T6" fmla="*/ 397 w 1113"/>
              <a:gd name="T7" fmla="*/ 1397 h 1694"/>
              <a:gd name="T8" fmla="*/ 0 w 1113"/>
              <a:gd name="T9" fmla="*/ 1397 h 1694"/>
              <a:gd name="T10" fmla="*/ 0 w 1113"/>
              <a:gd name="T11" fmla="*/ 1694 h 1694"/>
              <a:gd name="T12" fmla="*/ 1113 w 1113"/>
              <a:gd name="T13" fmla="*/ 1694 h 1694"/>
              <a:gd name="T14" fmla="*/ 1113 w 1113"/>
              <a:gd name="T15" fmla="*/ 1397 h 1694"/>
              <a:gd name="T16" fmla="*/ 717 w 1113"/>
              <a:gd name="T17" fmla="*/ 1397 h 1694"/>
              <a:gd name="T18" fmla="*/ 717 w 1113"/>
              <a:gd name="T19" fmla="*/ 297 h 1694"/>
              <a:gd name="T20" fmla="*/ 1113 w 1113"/>
              <a:gd name="T21" fmla="*/ 297 h 1694"/>
              <a:gd name="T22" fmla="*/ 1113 w 1113"/>
              <a:gd name="T23" fmla="*/ 0 h 1694"/>
              <a:gd name="T24" fmla="*/ 0 w 1113"/>
              <a:gd name="T25" fmla="*/ 0 h 1694"/>
            </a:gdLst>
            <a:ahLst/>
            <a:cxnLst/>
            <a:rect l="0" t="0" r="r" b="b"/>
            <a:pathLst>
              <a:path w="1113" h="1694">
                <a:moveTo>
                  <a:pt x="0" y="0"/>
                </a:moveTo>
                <a:lnTo>
                  <a:pt x="0" y="297"/>
                </a:lnTo>
                <a:lnTo>
                  <a:pt x="397" y="297"/>
                </a:lnTo>
                <a:lnTo>
                  <a:pt x="397" y="1397"/>
                </a:lnTo>
                <a:lnTo>
                  <a:pt x="0" y="1397"/>
                </a:lnTo>
                <a:lnTo>
                  <a:pt x="0" y="1694"/>
                </a:lnTo>
                <a:lnTo>
                  <a:pt x="1113" y="1694"/>
                </a:lnTo>
                <a:lnTo>
                  <a:pt x="1113" y="1397"/>
                </a:lnTo>
                <a:lnTo>
                  <a:pt x="717" y="1397"/>
                </a:lnTo>
                <a:lnTo>
                  <a:pt x="717" y="297"/>
                </a:lnTo>
                <a:lnTo>
                  <a:pt x="1113" y="297"/>
                </a:lnTo>
                <a:lnTo>
                  <a:pt x="1113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5">
            <a:extLst>
              <a:ext uri="{FF2B5EF4-FFF2-40B4-BE49-F238E27FC236}">
                <a16:creationId xmlns:a16="http://schemas.microsoft.com/office/drawing/2014/main" id="{7D7A316D-6FA6-8EBE-A7B4-43071E70A86B}"/>
              </a:ext>
            </a:extLst>
          </p:cNvPr>
          <p:cNvSpPr>
            <a:spLocks noGrp="1"/>
          </p:cNvSpPr>
          <p:nvPr/>
        </p:nvSpPr>
        <p:spPr>
          <a:xfrm>
            <a:off x="11041147" y="327819"/>
            <a:ext cx="825415" cy="1272297"/>
          </a:xfrm>
          <a:custGeom>
            <a:avLst/>
            <a:gdLst>
              <a:gd name="T0" fmla="*/ 0 w 1099"/>
              <a:gd name="T1" fmla="*/ 0 h 1694"/>
              <a:gd name="T2" fmla="*/ 0 w 1099"/>
              <a:gd name="T3" fmla="*/ 1694 h 1694"/>
              <a:gd name="T4" fmla="*/ 1099 w 1099"/>
              <a:gd name="T5" fmla="*/ 1694 h 1694"/>
              <a:gd name="T6" fmla="*/ 1099 w 1099"/>
              <a:gd name="T7" fmla="*/ 1397 h 1694"/>
              <a:gd name="T8" fmla="*/ 319 w 1099"/>
              <a:gd name="T9" fmla="*/ 1397 h 1694"/>
              <a:gd name="T10" fmla="*/ 319 w 1099"/>
              <a:gd name="T11" fmla="*/ 0 h 1694"/>
              <a:gd name="T12" fmla="*/ 0 w 1099"/>
              <a:gd name="T13" fmla="*/ 0 h 1694"/>
            </a:gdLst>
            <a:ahLst/>
            <a:cxnLst/>
            <a:rect l="0" t="0" r="r" b="b"/>
            <a:pathLst>
              <a:path w="1099" h="1694">
                <a:moveTo>
                  <a:pt x="0" y="0"/>
                </a:moveTo>
                <a:lnTo>
                  <a:pt x="0" y="1694"/>
                </a:lnTo>
                <a:lnTo>
                  <a:pt x="1099" y="1694"/>
                </a:lnTo>
                <a:lnTo>
                  <a:pt x="1099" y="1397"/>
                </a:lnTo>
                <a:lnTo>
                  <a:pt x="319" y="1397"/>
                </a:lnTo>
                <a:lnTo>
                  <a:pt x="31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4" name="Freeform 6">
            <a:extLst>
              <a:ext uri="{FF2B5EF4-FFF2-40B4-BE49-F238E27FC236}">
                <a16:creationId xmlns:a16="http://schemas.microsoft.com/office/drawing/2014/main" id="{11C06CEA-028D-9197-2DEF-67878595AE6C}"/>
              </a:ext>
            </a:extLst>
          </p:cNvPr>
          <p:cNvSpPr>
            <a:spLocks noGrp="1"/>
          </p:cNvSpPr>
          <p:nvPr/>
        </p:nvSpPr>
        <p:spPr>
          <a:xfrm>
            <a:off x="9344501" y="327819"/>
            <a:ext cx="1152878" cy="1272297"/>
          </a:xfrm>
          <a:custGeom>
            <a:avLst/>
            <a:gdLst>
              <a:gd name="T0" fmla="*/ 556 w 1535"/>
              <a:gd name="T1" fmla="*/ 0 h 1694"/>
              <a:gd name="T2" fmla="*/ 0 w 1535"/>
              <a:gd name="T3" fmla="*/ 1694 h 1694"/>
              <a:gd name="T4" fmla="*/ 337 w 1535"/>
              <a:gd name="T5" fmla="*/ 1694 h 1694"/>
              <a:gd name="T6" fmla="*/ 453 w 1535"/>
              <a:gd name="T7" fmla="*/ 1321 h 1694"/>
              <a:gd name="T8" fmla="*/ 1083 w 1535"/>
              <a:gd name="T9" fmla="*/ 1321 h 1694"/>
              <a:gd name="T10" fmla="*/ 1197 w 1535"/>
              <a:gd name="T11" fmla="*/ 1694 h 1694"/>
              <a:gd name="T12" fmla="*/ 1535 w 1535"/>
              <a:gd name="T13" fmla="*/ 1694 h 1694"/>
              <a:gd name="T14" fmla="*/ 978 w 1535"/>
              <a:gd name="T15" fmla="*/ 0 h 1694"/>
              <a:gd name="T16" fmla="*/ 556 w 1535"/>
              <a:gd name="T17" fmla="*/ 0 h 1694"/>
              <a:gd name="T18" fmla="*/ 768 w 1535"/>
              <a:gd name="T19" fmla="*/ 301 h 1694"/>
              <a:gd name="T20" fmla="*/ 998 w 1535"/>
              <a:gd name="T21" fmla="*/ 1048 h 1694"/>
              <a:gd name="T22" fmla="*/ 536 w 1535"/>
              <a:gd name="T23" fmla="*/ 1048 h 1694"/>
              <a:gd name="T24" fmla="*/ 768 w 1535"/>
              <a:gd name="T25" fmla="*/ 301 h 1694"/>
            </a:gdLst>
            <a:ahLst/>
            <a:cxnLst/>
            <a:rect l="0" t="0" r="r" b="b"/>
            <a:pathLst>
              <a:path w="1535" h="1694">
                <a:moveTo>
                  <a:pt x="556" y="0"/>
                </a:moveTo>
                <a:lnTo>
                  <a:pt x="0" y="1694"/>
                </a:lnTo>
                <a:lnTo>
                  <a:pt x="337" y="1694"/>
                </a:lnTo>
                <a:lnTo>
                  <a:pt x="453" y="1321"/>
                </a:lnTo>
                <a:lnTo>
                  <a:pt x="1083" y="1321"/>
                </a:lnTo>
                <a:lnTo>
                  <a:pt x="1197" y="1694"/>
                </a:lnTo>
                <a:lnTo>
                  <a:pt x="1535" y="1694"/>
                </a:lnTo>
                <a:lnTo>
                  <a:pt x="978" y="0"/>
                </a:lnTo>
                <a:lnTo>
                  <a:pt x="556" y="0"/>
                </a:lnTo>
                <a:close/>
                <a:moveTo>
                  <a:pt x="768" y="301"/>
                </a:moveTo>
                <a:lnTo>
                  <a:pt x="998" y="1048"/>
                </a:lnTo>
                <a:lnTo>
                  <a:pt x="536" y="1048"/>
                </a:lnTo>
                <a:lnTo>
                  <a:pt x="768" y="30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5" name="Freeform 7">
            <a:extLst>
              <a:ext uri="{FF2B5EF4-FFF2-40B4-BE49-F238E27FC236}">
                <a16:creationId xmlns:a16="http://schemas.microsoft.com/office/drawing/2014/main" id="{DEA93E8D-A827-0EF8-FC25-4EDF7B194E88}"/>
              </a:ext>
            </a:extLst>
          </p:cNvPr>
          <p:cNvSpPr>
            <a:spLocks noGrp="1"/>
          </p:cNvSpPr>
          <p:nvPr/>
        </p:nvSpPr>
        <p:spPr>
          <a:xfrm>
            <a:off x="8028642" y="327819"/>
            <a:ext cx="835930" cy="1272297"/>
          </a:xfrm>
          <a:custGeom>
            <a:avLst/>
            <a:gdLst>
              <a:gd name="T0" fmla="*/ 0 w 1113"/>
              <a:gd name="T1" fmla="*/ 0 h 1694"/>
              <a:gd name="T2" fmla="*/ 0 w 1113"/>
              <a:gd name="T3" fmla="*/ 297 h 1694"/>
              <a:gd name="T4" fmla="*/ 396 w 1113"/>
              <a:gd name="T5" fmla="*/ 297 h 1694"/>
              <a:gd name="T6" fmla="*/ 396 w 1113"/>
              <a:gd name="T7" fmla="*/ 1397 h 1694"/>
              <a:gd name="T8" fmla="*/ 0 w 1113"/>
              <a:gd name="T9" fmla="*/ 1397 h 1694"/>
              <a:gd name="T10" fmla="*/ 0 w 1113"/>
              <a:gd name="T11" fmla="*/ 1694 h 1694"/>
              <a:gd name="T12" fmla="*/ 1113 w 1113"/>
              <a:gd name="T13" fmla="*/ 1694 h 1694"/>
              <a:gd name="T14" fmla="*/ 1113 w 1113"/>
              <a:gd name="T15" fmla="*/ 1397 h 1694"/>
              <a:gd name="T16" fmla="*/ 716 w 1113"/>
              <a:gd name="T17" fmla="*/ 1397 h 1694"/>
              <a:gd name="T18" fmla="*/ 716 w 1113"/>
              <a:gd name="T19" fmla="*/ 297 h 1694"/>
              <a:gd name="T20" fmla="*/ 1113 w 1113"/>
              <a:gd name="T21" fmla="*/ 297 h 1694"/>
              <a:gd name="T22" fmla="*/ 1113 w 1113"/>
              <a:gd name="T23" fmla="*/ 0 h 1694"/>
              <a:gd name="T24" fmla="*/ 0 w 1113"/>
              <a:gd name="T25" fmla="*/ 0 h 1694"/>
            </a:gdLst>
            <a:ahLst/>
            <a:cxnLst/>
            <a:rect l="0" t="0" r="r" b="b"/>
            <a:pathLst>
              <a:path w="1113" h="1694">
                <a:moveTo>
                  <a:pt x="0" y="0"/>
                </a:moveTo>
                <a:lnTo>
                  <a:pt x="0" y="297"/>
                </a:lnTo>
                <a:lnTo>
                  <a:pt x="396" y="297"/>
                </a:lnTo>
                <a:lnTo>
                  <a:pt x="396" y="1397"/>
                </a:lnTo>
                <a:lnTo>
                  <a:pt x="0" y="1397"/>
                </a:lnTo>
                <a:lnTo>
                  <a:pt x="0" y="1694"/>
                </a:lnTo>
                <a:lnTo>
                  <a:pt x="1113" y="1694"/>
                </a:lnTo>
                <a:lnTo>
                  <a:pt x="1113" y="1397"/>
                </a:lnTo>
                <a:lnTo>
                  <a:pt x="716" y="1397"/>
                </a:lnTo>
                <a:lnTo>
                  <a:pt x="716" y="297"/>
                </a:lnTo>
                <a:lnTo>
                  <a:pt x="1113" y="297"/>
                </a:lnTo>
                <a:lnTo>
                  <a:pt x="1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15" name="Freeform 8">
            <a:extLst>
              <a:ext uri="{FF2B5EF4-FFF2-40B4-BE49-F238E27FC236}">
                <a16:creationId xmlns:a16="http://schemas.microsoft.com/office/drawing/2014/main" id="{DF359F29-A6DD-FD4C-F807-701DEA41EDF2}"/>
              </a:ext>
            </a:extLst>
          </p:cNvPr>
          <p:cNvSpPr>
            <a:spLocks noGrp="1"/>
          </p:cNvSpPr>
          <p:nvPr/>
        </p:nvSpPr>
        <p:spPr>
          <a:xfrm>
            <a:off x="6536285" y="327819"/>
            <a:ext cx="989146" cy="1272297"/>
          </a:xfrm>
          <a:custGeom>
            <a:avLst/>
            <a:gdLst>
              <a:gd name="T0" fmla="*/ 884 w 932"/>
              <a:gd name="T1" fmla="*/ 372 h 1199"/>
              <a:gd name="T2" fmla="*/ 442 w 932"/>
              <a:gd name="T3" fmla="*/ 0 h 1199"/>
              <a:gd name="T4" fmla="*/ 0 w 932"/>
              <a:gd name="T5" fmla="*/ 0 h 1199"/>
              <a:gd name="T6" fmla="*/ 0 w 932"/>
              <a:gd name="T7" fmla="*/ 1199 h 1199"/>
              <a:gd name="T8" fmla="*/ 227 w 932"/>
              <a:gd name="T9" fmla="*/ 1199 h 1199"/>
              <a:gd name="T10" fmla="*/ 227 w 932"/>
              <a:gd name="T11" fmla="*/ 755 h 1199"/>
              <a:gd name="T12" fmla="*/ 418 w 932"/>
              <a:gd name="T13" fmla="*/ 755 h 1199"/>
              <a:gd name="T14" fmla="*/ 450 w 932"/>
              <a:gd name="T15" fmla="*/ 755 h 1199"/>
              <a:gd name="T16" fmla="*/ 681 w 932"/>
              <a:gd name="T17" fmla="*/ 1199 h 1199"/>
              <a:gd name="T18" fmla="*/ 932 w 932"/>
              <a:gd name="T19" fmla="*/ 1199 h 1199"/>
              <a:gd name="T20" fmla="*/ 676 w 932"/>
              <a:gd name="T21" fmla="*/ 707 h 1199"/>
              <a:gd name="T22" fmla="*/ 884 w 932"/>
              <a:gd name="T23" fmla="*/ 372 h 1199"/>
              <a:gd name="T24" fmla="*/ 645 w 932"/>
              <a:gd name="T25" fmla="*/ 372 h 1199"/>
              <a:gd name="T26" fmla="*/ 418 w 932"/>
              <a:gd name="T27" fmla="*/ 562 h 1199"/>
              <a:gd name="T28" fmla="*/ 227 w 932"/>
              <a:gd name="T29" fmla="*/ 562 h 1199"/>
              <a:gd name="T30" fmla="*/ 227 w 932"/>
              <a:gd name="T31" fmla="*/ 194 h 1199"/>
              <a:gd name="T32" fmla="*/ 418 w 932"/>
              <a:gd name="T33" fmla="*/ 194 h 1199"/>
              <a:gd name="T34" fmla="*/ 645 w 932"/>
              <a:gd name="T35" fmla="*/ 372 h 1199"/>
            </a:gdLst>
            <a:ahLst/>
            <a:cxnLst/>
            <a:rect l="0" t="0" r="r" b="b"/>
            <a:pathLst>
              <a:path w="932" h="1199">
                <a:moveTo>
                  <a:pt x="884" y="372"/>
                </a:moveTo>
                <a:cubicBezTo>
                  <a:pt x="884" y="92"/>
                  <a:pt x="693" y="0"/>
                  <a:pt x="442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199"/>
                  <a:pt x="0" y="1199"/>
                  <a:pt x="0" y="1199"/>
                </a:cubicBezTo>
                <a:cubicBezTo>
                  <a:pt x="227" y="1199"/>
                  <a:pt x="227" y="1199"/>
                  <a:pt x="227" y="1199"/>
                </a:cubicBezTo>
                <a:cubicBezTo>
                  <a:pt x="227" y="755"/>
                  <a:pt x="227" y="755"/>
                  <a:pt x="227" y="755"/>
                </a:cubicBezTo>
                <a:cubicBezTo>
                  <a:pt x="418" y="755"/>
                  <a:pt x="418" y="755"/>
                  <a:pt x="418" y="755"/>
                </a:cubicBezTo>
                <a:cubicBezTo>
                  <a:pt x="429" y="755"/>
                  <a:pt x="439" y="755"/>
                  <a:pt x="450" y="755"/>
                </a:cubicBezTo>
                <a:cubicBezTo>
                  <a:pt x="681" y="1199"/>
                  <a:pt x="681" y="1199"/>
                  <a:pt x="681" y="1199"/>
                </a:cubicBezTo>
                <a:cubicBezTo>
                  <a:pt x="932" y="1199"/>
                  <a:pt x="932" y="1199"/>
                  <a:pt x="932" y="1199"/>
                </a:cubicBezTo>
                <a:cubicBezTo>
                  <a:pt x="676" y="707"/>
                  <a:pt x="676" y="707"/>
                  <a:pt x="676" y="707"/>
                </a:cubicBezTo>
                <a:cubicBezTo>
                  <a:pt x="801" y="652"/>
                  <a:pt x="884" y="545"/>
                  <a:pt x="884" y="372"/>
                </a:cubicBezTo>
                <a:moveTo>
                  <a:pt x="645" y="372"/>
                </a:moveTo>
                <a:cubicBezTo>
                  <a:pt x="645" y="516"/>
                  <a:pt x="562" y="562"/>
                  <a:pt x="418" y="562"/>
                </a:cubicBezTo>
                <a:cubicBezTo>
                  <a:pt x="227" y="562"/>
                  <a:pt x="227" y="562"/>
                  <a:pt x="227" y="562"/>
                </a:cubicBezTo>
                <a:cubicBezTo>
                  <a:pt x="227" y="194"/>
                  <a:pt x="227" y="194"/>
                  <a:pt x="227" y="194"/>
                </a:cubicBezTo>
                <a:cubicBezTo>
                  <a:pt x="418" y="194"/>
                  <a:pt x="418" y="194"/>
                  <a:pt x="418" y="194"/>
                </a:cubicBezTo>
                <a:cubicBezTo>
                  <a:pt x="574" y="194"/>
                  <a:pt x="645" y="252"/>
                  <a:pt x="645" y="372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16" name="Freeform 9">
            <a:extLst>
              <a:ext uri="{FF2B5EF4-FFF2-40B4-BE49-F238E27FC236}">
                <a16:creationId xmlns:a16="http://schemas.microsoft.com/office/drawing/2014/main" id="{2468BF6B-AEBB-4CAA-244D-9EBE80B9A1DB}"/>
              </a:ext>
            </a:extLst>
          </p:cNvPr>
          <p:cNvSpPr>
            <a:spLocks noGrp="1"/>
          </p:cNvSpPr>
          <p:nvPr/>
        </p:nvSpPr>
        <p:spPr>
          <a:xfrm>
            <a:off x="5113776" y="327819"/>
            <a:ext cx="824664" cy="1272297"/>
          </a:xfrm>
          <a:custGeom>
            <a:avLst/>
            <a:gdLst>
              <a:gd name="T0" fmla="*/ 0 w 1098"/>
              <a:gd name="T1" fmla="*/ 0 h 1694"/>
              <a:gd name="T2" fmla="*/ 0 w 1098"/>
              <a:gd name="T3" fmla="*/ 1694 h 1694"/>
              <a:gd name="T4" fmla="*/ 1098 w 1098"/>
              <a:gd name="T5" fmla="*/ 1694 h 1694"/>
              <a:gd name="T6" fmla="*/ 1098 w 1098"/>
              <a:gd name="T7" fmla="*/ 1397 h 1694"/>
              <a:gd name="T8" fmla="*/ 321 w 1098"/>
              <a:gd name="T9" fmla="*/ 1397 h 1694"/>
              <a:gd name="T10" fmla="*/ 321 w 1098"/>
              <a:gd name="T11" fmla="*/ 973 h 1694"/>
              <a:gd name="T12" fmla="*/ 1030 w 1098"/>
              <a:gd name="T13" fmla="*/ 973 h 1694"/>
              <a:gd name="T14" fmla="*/ 1030 w 1098"/>
              <a:gd name="T15" fmla="*/ 687 h 1694"/>
              <a:gd name="T16" fmla="*/ 321 w 1098"/>
              <a:gd name="T17" fmla="*/ 687 h 1694"/>
              <a:gd name="T18" fmla="*/ 321 w 1098"/>
              <a:gd name="T19" fmla="*/ 297 h 1694"/>
              <a:gd name="T20" fmla="*/ 1098 w 1098"/>
              <a:gd name="T21" fmla="*/ 297 h 1694"/>
              <a:gd name="T22" fmla="*/ 1098 w 1098"/>
              <a:gd name="T23" fmla="*/ 0 h 1694"/>
              <a:gd name="T24" fmla="*/ 0 w 1098"/>
              <a:gd name="T25" fmla="*/ 0 h 1694"/>
            </a:gdLst>
            <a:ahLst/>
            <a:cxnLst/>
            <a:rect l="0" t="0" r="r" b="b"/>
            <a:pathLst>
              <a:path w="1098" h="1694">
                <a:moveTo>
                  <a:pt x="0" y="0"/>
                </a:moveTo>
                <a:lnTo>
                  <a:pt x="0" y="1694"/>
                </a:lnTo>
                <a:lnTo>
                  <a:pt x="1098" y="1694"/>
                </a:lnTo>
                <a:lnTo>
                  <a:pt x="1098" y="1397"/>
                </a:lnTo>
                <a:lnTo>
                  <a:pt x="321" y="1397"/>
                </a:lnTo>
                <a:lnTo>
                  <a:pt x="321" y="973"/>
                </a:lnTo>
                <a:lnTo>
                  <a:pt x="1030" y="973"/>
                </a:lnTo>
                <a:lnTo>
                  <a:pt x="1030" y="687"/>
                </a:lnTo>
                <a:lnTo>
                  <a:pt x="321" y="687"/>
                </a:lnTo>
                <a:lnTo>
                  <a:pt x="321" y="297"/>
                </a:lnTo>
                <a:lnTo>
                  <a:pt x="1098" y="297"/>
                </a:lnTo>
                <a:lnTo>
                  <a:pt x="1098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17" name="Freeform 10">
            <a:extLst>
              <a:ext uri="{FF2B5EF4-FFF2-40B4-BE49-F238E27FC236}">
                <a16:creationId xmlns:a16="http://schemas.microsoft.com/office/drawing/2014/main" id="{CC60AC05-547F-FA65-604E-4ED4912EA9E4}"/>
              </a:ext>
            </a:extLst>
          </p:cNvPr>
          <p:cNvSpPr>
            <a:spLocks noGrp="1"/>
          </p:cNvSpPr>
          <p:nvPr/>
        </p:nvSpPr>
        <p:spPr>
          <a:xfrm>
            <a:off x="3695773" y="327819"/>
            <a:ext cx="912538" cy="1272297"/>
          </a:xfrm>
          <a:custGeom>
            <a:avLst/>
            <a:gdLst>
              <a:gd name="T0" fmla="*/ 406 w 860"/>
              <a:gd name="T1" fmla="*/ 791 h 1199"/>
              <a:gd name="T2" fmla="*/ 227 w 860"/>
              <a:gd name="T3" fmla="*/ 791 h 1199"/>
              <a:gd name="T4" fmla="*/ 227 w 860"/>
              <a:gd name="T5" fmla="*/ 1199 h 1199"/>
              <a:gd name="T6" fmla="*/ 0 w 860"/>
              <a:gd name="T7" fmla="*/ 1199 h 1199"/>
              <a:gd name="T8" fmla="*/ 0 w 860"/>
              <a:gd name="T9" fmla="*/ 0 h 1199"/>
              <a:gd name="T10" fmla="*/ 406 w 860"/>
              <a:gd name="T11" fmla="*/ 0 h 1199"/>
              <a:gd name="T12" fmla="*/ 860 w 860"/>
              <a:gd name="T13" fmla="*/ 396 h 1199"/>
              <a:gd name="T14" fmla="*/ 406 w 860"/>
              <a:gd name="T15" fmla="*/ 791 h 1199"/>
              <a:gd name="T16" fmla="*/ 394 w 860"/>
              <a:gd name="T17" fmla="*/ 194 h 1199"/>
              <a:gd name="T18" fmla="*/ 227 w 860"/>
              <a:gd name="T19" fmla="*/ 194 h 1199"/>
              <a:gd name="T20" fmla="*/ 227 w 860"/>
              <a:gd name="T21" fmla="*/ 598 h 1199"/>
              <a:gd name="T22" fmla="*/ 394 w 860"/>
              <a:gd name="T23" fmla="*/ 598 h 1199"/>
              <a:gd name="T24" fmla="*/ 621 w 860"/>
              <a:gd name="T25" fmla="*/ 396 h 1199"/>
              <a:gd name="T26" fmla="*/ 394 w 860"/>
              <a:gd name="T27" fmla="*/ 194 h 1199"/>
            </a:gdLst>
            <a:ahLst/>
            <a:cxnLst/>
            <a:rect l="0" t="0" r="r" b="b"/>
            <a:pathLst>
              <a:path w="860" h="1199">
                <a:moveTo>
                  <a:pt x="406" y="791"/>
                </a:moveTo>
                <a:cubicBezTo>
                  <a:pt x="227" y="791"/>
                  <a:pt x="227" y="791"/>
                  <a:pt x="227" y="791"/>
                </a:cubicBezTo>
                <a:cubicBezTo>
                  <a:pt x="227" y="1199"/>
                  <a:pt x="227" y="1199"/>
                  <a:pt x="227" y="1199"/>
                </a:cubicBezTo>
                <a:cubicBezTo>
                  <a:pt x="0" y="1199"/>
                  <a:pt x="0" y="1199"/>
                  <a:pt x="0" y="1199"/>
                </a:cubicBezTo>
                <a:cubicBezTo>
                  <a:pt x="0" y="0"/>
                  <a:pt x="0" y="0"/>
                  <a:pt x="0" y="0"/>
                </a:cubicBezTo>
                <a:cubicBezTo>
                  <a:pt x="406" y="0"/>
                  <a:pt x="406" y="0"/>
                  <a:pt x="406" y="0"/>
                </a:cubicBezTo>
                <a:cubicBezTo>
                  <a:pt x="661" y="0"/>
                  <a:pt x="860" y="116"/>
                  <a:pt x="860" y="396"/>
                </a:cubicBezTo>
                <a:cubicBezTo>
                  <a:pt x="860" y="671"/>
                  <a:pt x="659" y="791"/>
                  <a:pt x="406" y="791"/>
                </a:cubicBezTo>
                <a:moveTo>
                  <a:pt x="394" y="194"/>
                </a:moveTo>
                <a:cubicBezTo>
                  <a:pt x="227" y="194"/>
                  <a:pt x="227" y="194"/>
                  <a:pt x="227" y="194"/>
                </a:cubicBezTo>
                <a:cubicBezTo>
                  <a:pt x="227" y="598"/>
                  <a:pt x="227" y="598"/>
                  <a:pt x="227" y="598"/>
                </a:cubicBezTo>
                <a:cubicBezTo>
                  <a:pt x="394" y="598"/>
                  <a:pt x="394" y="598"/>
                  <a:pt x="394" y="598"/>
                </a:cubicBezTo>
                <a:cubicBezTo>
                  <a:pt x="525" y="598"/>
                  <a:pt x="621" y="534"/>
                  <a:pt x="621" y="396"/>
                </a:cubicBezTo>
                <a:cubicBezTo>
                  <a:pt x="621" y="252"/>
                  <a:pt x="525" y="194"/>
                  <a:pt x="394" y="194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18" name="Freeform 11">
            <a:extLst>
              <a:ext uri="{FF2B5EF4-FFF2-40B4-BE49-F238E27FC236}">
                <a16:creationId xmlns:a16="http://schemas.microsoft.com/office/drawing/2014/main" id="{7632E58E-1400-1E6E-BB60-7A9B794F41F4}"/>
              </a:ext>
            </a:extLst>
          </p:cNvPr>
          <p:cNvSpPr>
            <a:spLocks noGrp="1"/>
          </p:cNvSpPr>
          <p:nvPr/>
        </p:nvSpPr>
        <p:spPr>
          <a:xfrm>
            <a:off x="1791084" y="327819"/>
            <a:ext cx="1291824" cy="1272297"/>
          </a:xfrm>
          <a:custGeom>
            <a:avLst/>
            <a:gdLst>
              <a:gd name="T0" fmla="*/ 1265 w 1720"/>
              <a:gd name="T1" fmla="*/ 0 h 1694"/>
              <a:gd name="T2" fmla="*/ 860 w 1720"/>
              <a:gd name="T3" fmla="*/ 996 h 1694"/>
              <a:gd name="T4" fmla="*/ 456 w 1720"/>
              <a:gd name="T5" fmla="*/ 0 h 1694"/>
              <a:gd name="T6" fmla="*/ 0 w 1720"/>
              <a:gd name="T7" fmla="*/ 0 h 1694"/>
              <a:gd name="T8" fmla="*/ 0 w 1720"/>
              <a:gd name="T9" fmla="*/ 1694 h 1694"/>
              <a:gd name="T10" fmla="*/ 303 w 1720"/>
              <a:gd name="T11" fmla="*/ 1694 h 1694"/>
              <a:gd name="T12" fmla="*/ 303 w 1720"/>
              <a:gd name="T13" fmla="*/ 428 h 1694"/>
              <a:gd name="T14" fmla="*/ 692 w 1720"/>
              <a:gd name="T15" fmla="*/ 1321 h 1694"/>
              <a:gd name="T16" fmla="*/ 709 w 1720"/>
              <a:gd name="T17" fmla="*/ 1321 h 1694"/>
              <a:gd name="T18" fmla="*/ 1012 w 1720"/>
              <a:gd name="T19" fmla="*/ 1321 h 1694"/>
              <a:gd name="T20" fmla="*/ 1029 w 1720"/>
              <a:gd name="T21" fmla="*/ 1321 h 1694"/>
              <a:gd name="T22" fmla="*/ 1416 w 1720"/>
              <a:gd name="T23" fmla="*/ 428 h 1694"/>
              <a:gd name="T24" fmla="*/ 1416 w 1720"/>
              <a:gd name="T25" fmla="*/ 1694 h 1694"/>
              <a:gd name="T26" fmla="*/ 1720 w 1720"/>
              <a:gd name="T27" fmla="*/ 1694 h 1694"/>
              <a:gd name="T28" fmla="*/ 1720 w 1720"/>
              <a:gd name="T29" fmla="*/ 0 h 1694"/>
              <a:gd name="T30" fmla="*/ 1265 w 1720"/>
              <a:gd name="T31" fmla="*/ 0 h 1694"/>
            </a:gdLst>
            <a:ahLst/>
            <a:cxnLst/>
            <a:rect l="0" t="0" r="r" b="b"/>
            <a:pathLst>
              <a:path w="1720" h="1694">
                <a:moveTo>
                  <a:pt x="1265" y="0"/>
                </a:moveTo>
                <a:lnTo>
                  <a:pt x="860" y="996"/>
                </a:lnTo>
                <a:lnTo>
                  <a:pt x="456" y="0"/>
                </a:lnTo>
                <a:lnTo>
                  <a:pt x="0" y="0"/>
                </a:lnTo>
                <a:lnTo>
                  <a:pt x="0" y="1694"/>
                </a:lnTo>
                <a:lnTo>
                  <a:pt x="303" y="1694"/>
                </a:lnTo>
                <a:lnTo>
                  <a:pt x="303" y="428"/>
                </a:lnTo>
                <a:lnTo>
                  <a:pt x="692" y="1321"/>
                </a:lnTo>
                <a:lnTo>
                  <a:pt x="709" y="1321"/>
                </a:lnTo>
                <a:lnTo>
                  <a:pt x="1012" y="1321"/>
                </a:lnTo>
                <a:lnTo>
                  <a:pt x="1029" y="1321"/>
                </a:lnTo>
                <a:lnTo>
                  <a:pt x="1416" y="428"/>
                </a:lnTo>
                <a:lnTo>
                  <a:pt x="1416" y="1694"/>
                </a:lnTo>
                <a:lnTo>
                  <a:pt x="1720" y="1694"/>
                </a:lnTo>
                <a:lnTo>
                  <a:pt x="1720" y="0"/>
                </a:lnTo>
                <a:lnTo>
                  <a:pt x="126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19" name="Freeform 12">
            <a:extLst>
              <a:ext uri="{FF2B5EF4-FFF2-40B4-BE49-F238E27FC236}">
                <a16:creationId xmlns:a16="http://schemas.microsoft.com/office/drawing/2014/main" id="{4D65D159-581D-F29B-BBD4-C1C5BACCEEFB}"/>
              </a:ext>
            </a:extLst>
          </p:cNvPr>
          <p:cNvSpPr>
            <a:spLocks noGrp="1"/>
          </p:cNvSpPr>
          <p:nvPr/>
        </p:nvSpPr>
        <p:spPr>
          <a:xfrm>
            <a:off x="330271" y="327819"/>
            <a:ext cx="835930" cy="1272297"/>
          </a:xfrm>
          <a:custGeom>
            <a:avLst/>
            <a:gdLst>
              <a:gd name="T0" fmla="*/ 0 w 1113"/>
              <a:gd name="T1" fmla="*/ 0 h 1694"/>
              <a:gd name="T2" fmla="*/ 0 w 1113"/>
              <a:gd name="T3" fmla="*/ 297 h 1694"/>
              <a:gd name="T4" fmla="*/ 397 w 1113"/>
              <a:gd name="T5" fmla="*/ 297 h 1694"/>
              <a:gd name="T6" fmla="*/ 397 w 1113"/>
              <a:gd name="T7" fmla="*/ 1397 h 1694"/>
              <a:gd name="T8" fmla="*/ 0 w 1113"/>
              <a:gd name="T9" fmla="*/ 1397 h 1694"/>
              <a:gd name="T10" fmla="*/ 0 w 1113"/>
              <a:gd name="T11" fmla="*/ 1694 h 1694"/>
              <a:gd name="T12" fmla="*/ 1113 w 1113"/>
              <a:gd name="T13" fmla="*/ 1694 h 1694"/>
              <a:gd name="T14" fmla="*/ 1113 w 1113"/>
              <a:gd name="T15" fmla="*/ 1397 h 1694"/>
              <a:gd name="T16" fmla="*/ 717 w 1113"/>
              <a:gd name="T17" fmla="*/ 1397 h 1694"/>
              <a:gd name="T18" fmla="*/ 717 w 1113"/>
              <a:gd name="T19" fmla="*/ 297 h 1694"/>
              <a:gd name="T20" fmla="*/ 1113 w 1113"/>
              <a:gd name="T21" fmla="*/ 297 h 1694"/>
              <a:gd name="T22" fmla="*/ 1113 w 1113"/>
              <a:gd name="T23" fmla="*/ 0 h 1694"/>
              <a:gd name="T24" fmla="*/ 0 w 1113"/>
              <a:gd name="T25" fmla="*/ 0 h 1694"/>
            </a:gdLst>
            <a:ahLst/>
            <a:cxnLst/>
            <a:rect l="0" t="0" r="r" b="b"/>
            <a:pathLst>
              <a:path w="1113" h="1694">
                <a:moveTo>
                  <a:pt x="0" y="0"/>
                </a:moveTo>
                <a:lnTo>
                  <a:pt x="0" y="297"/>
                </a:lnTo>
                <a:lnTo>
                  <a:pt x="397" y="297"/>
                </a:lnTo>
                <a:lnTo>
                  <a:pt x="397" y="1397"/>
                </a:lnTo>
                <a:lnTo>
                  <a:pt x="0" y="1397"/>
                </a:lnTo>
                <a:lnTo>
                  <a:pt x="0" y="1694"/>
                </a:lnTo>
                <a:lnTo>
                  <a:pt x="1113" y="1694"/>
                </a:lnTo>
                <a:lnTo>
                  <a:pt x="1113" y="1397"/>
                </a:lnTo>
                <a:lnTo>
                  <a:pt x="717" y="1397"/>
                </a:lnTo>
                <a:lnTo>
                  <a:pt x="717" y="297"/>
                </a:lnTo>
                <a:lnTo>
                  <a:pt x="1113" y="297"/>
                </a:lnTo>
                <a:lnTo>
                  <a:pt x="1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Image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5">
            <a:extLst>
              <a:ext uri="{FF2B5EF4-FFF2-40B4-BE49-F238E27FC236}">
                <a16:creationId xmlns:a16="http://schemas.microsoft.com/office/drawing/2014/main" id="{31EDC35F-4F2D-B2A7-1ECD-0CF19D1AD285}"/>
              </a:ext>
            </a:extLst>
          </p:cNvPr>
          <p:cNvSpPr>
            <a:spLocks noGrp="1"/>
          </p:cNvSpPr>
          <p:nvPr/>
        </p:nvSpPr>
        <p:spPr>
          <a:xfrm>
            <a:off x="11041147" y="327819"/>
            <a:ext cx="825415" cy="1272297"/>
          </a:xfrm>
          <a:custGeom>
            <a:avLst/>
            <a:gdLst>
              <a:gd name="T0" fmla="*/ 0 w 1099"/>
              <a:gd name="T1" fmla="*/ 0 h 1694"/>
              <a:gd name="T2" fmla="*/ 0 w 1099"/>
              <a:gd name="T3" fmla="*/ 1694 h 1694"/>
              <a:gd name="T4" fmla="*/ 1099 w 1099"/>
              <a:gd name="T5" fmla="*/ 1694 h 1694"/>
              <a:gd name="T6" fmla="*/ 1099 w 1099"/>
              <a:gd name="T7" fmla="*/ 1397 h 1694"/>
              <a:gd name="T8" fmla="*/ 319 w 1099"/>
              <a:gd name="T9" fmla="*/ 1397 h 1694"/>
              <a:gd name="T10" fmla="*/ 319 w 1099"/>
              <a:gd name="T11" fmla="*/ 0 h 1694"/>
              <a:gd name="T12" fmla="*/ 0 w 1099"/>
              <a:gd name="T13" fmla="*/ 0 h 1694"/>
            </a:gdLst>
            <a:ahLst/>
            <a:cxnLst/>
            <a:rect l="0" t="0" r="r" b="b"/>
            <a:pathLst>
              <a:path w="1099" h="1694">
                <a:moveTo>
                  <a:pt x="0" y="0"/>
                </a:moveTo>
                <a:lnTo>
                  <a:pt x="0" y="1694"/>
                </a:lnTo>
                <a:lnTo>
                  <a:pt x="1099" y="1694"/>
                </a:lnTo>
                <a:lnTo>
                  <a:pt x="1099" y="1397"/>
                </a:lnTo>
                <a:lnTo>
                  <a:pt x="319" y="1397"/>
                </a:lnTo>
                <a:lnTo>
                  <a:pt x="31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4" name="Freeform 6">
            <a:extLst>
              <a:ext uri="{FF2B5EF4-FFF2-40B4-BE49-F238E27FC236}">
                <a16:creationId xmlns:a16="http://schemas.microsoft.com/office/drawing/2014/main" id="{97F4776F-4E5E-13DF-F11A-A6808FFFC980}"/>
              </a:ext>
            </a:extLst>
          </p:cNvPr>
          <p:cNvSpPr>
            <a:spLocks noGrp="1"/>
          </p:cNvSpPr>
          <p:nvPr/>
        </p:nvSpPr>
        <p:spPr>
          <a:xfrm>
            <a:off x="9344501" y="327819"/>
            <a:ext cx="1152878" cy="1272297"/>
          </a:xfrm>
          <a:custGeom>
            <a:avLst/>
            <a:gdLst>
              <a:gd name="T0" fmla="*/ 556 w 1535"/>
              <a:gd name="T1" fmla="*/ 0 h 1694"/>
              <a:gd name="T2" fmla="*/ 0 w 1535"/>
              <a:gd name="T3" fmla="*/ 1694 h 1694"/>
              <a:gd name="T4" fmla="*/ 337 w 1535"/>
              <a:gd name="T5" fmla="*/ 1694 h 1694"/>
              <a:gd name="T6" fmla="*/ 453 w 1535"/>
              <a:gd name="T7" fmla="*/ 1321 h 1694"/>
              <a:gd name="T8" fmla="*/ 1083 w 1535"/>
              <a:gd name="T9" fmla="*/ 1321 h 1694"/>
              <a:gd name="T10" fmla="*/ 1197 w 1535"/>
              <a:gd name="T11" fmla="*/ 1694 h 1694"/>
              <a:gd name="T12" fmla="*/ 1535 w 1535"/>
              <a:gd name="T13" fmla="*/ 1694 h 1694"/>
              <a:gd name="T14" fmla="*/ 978 w 1535"/>
              <a:gd name="T15" fmla="*/ 0 h 1694"/>
              <a:gd name="T16" fmla="*/ 556 w 1535"/>
              <a:gd name="T17" fmla="*/ 0 h 1694"/>
              <a:gd name="T18" fmla="*/ 768 w 1535"/>
              <a:gd name="T19" fmla="*/ 301 h 1694"/>
              <a:gd name="T20" fmla="*/ 998 w 1535"/>
              <a:gd name="T21" fmla="*/ 1048 h 1694"/>
              <a:gd name="T22" fmla="*/ 536 w 1535"/>
              <a:gd name="T23" fmla="*/ 1048 h 1694"/>
              <a:gd name="T24" fmla="*/ 768 w 1535"/>
              <a:gd name="T25" fmla="*/ 301 h 1694"/>
            </a:gdLst>
            <a:ahLst/>
            <a:cxnLst/>
            <a:rect l="0" t="0" r="r" b="b"/>
            <a:pathLst>
              <a:path w="1535" h="1694">
                <a:moveTo>
                  <a:pt x="556" y="0"/>
                </a:moveTo>
                <a:lnTo>
                  <a:pt x="0" y="1694"/>
                </a:lnTo>
                <a:lnTo>
                  <a:pt x="337" y="1694"/>
                </a:lnTo>
                <a:lnTo>
                  <a:pt x="453" y="1321"/>
                </a:lnTo>
                <a:lnTo>
                  <a:pt x="1083" y="1321"/>
                </a:lnTo>
                <a:lnTo>
                  <a:pt x="1197" y="1694"/>
                </a:lnTo>
                <a:lnTo>
                  <a:pt x="1535" y="1694"/>
                </a:lnTo>
                <a:lnTo>
                  <a:pt x="978" y="0"/>
                </a:lnTo>
                <a:lnTo>
                  <a:pt x="556" y="0"/>
                </a:lnTo>
                <a:close/>
                <a:moveTo>
                  <a:pt x="768" y="301"/>
                </a:moveTo>
                <a:lnTo>
                  <a:pt x="998" y="1048"/>
                </a:lnTo>
                <a:lnTo>
                  <a:pt x="536" y="1048"/>
                </a:lnTo>
                <a:lnTo>
                  <a:pt x="768" y="30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5" name="Freeform 7">
            <a:extLst>
              <a:ext uri="{FF2B5EF4-FFF2-40B4-BE49-F238E27FC236}">
                <a16:creationId xmlns:a16="http://schemas.microsoft.com/office/drawing/2014/main" id="{BA993AE1-6A24-5C17-7FE2-A16589D9C4A6}"/>
              </a:ext>
            </a:extLst>
          </p:cNvPr>
          <p:cNvSpPr>
            <a:spLocks noGrp="1"/>
          </p:cNvSpPr>
          <p:nvPr/>
        </p:nvSpPr>
        <p:spPr>
          <a:xfrm>
            <a:off x="8028642" y="327819"/>
            <a:ext cx="835930" cy="1272297"/>
          </a:xfrm>
          <a:custGeom>
            <a:avLst/>
            <a:gdLst>
              <a:gd name="T0" fmla="*/ 0 w 1113"/>
              <a:gd name="T1" fmla="*/ 0 h 1694"/>
              <a:gd name="T2" fmla="*/ 0 w 1113"/>
              <a:gd name="T3" fmla="*/ 297 h 1694"/>
              <a:gd name="T4" fmla="*/ 396 w 1113"/>
              <a:gd name="T5" fmla="*/ 297 h 1694"/>
              <a:gd name="T6" fmla="*/ 396 w 1113"/>
              <a:gd name="T7" fmla="*/ 1397 h 1694"/>
              <a:gd name="T8" fmla="*/ 0 w 1113"/>
              <a:gd name="T9" fmla="*/ 1397 h 1694"/>
              <a:gd name="T10" fmla="*/ 0 w 1113"/>
              <a:gd name="T11" fmla="*/ 1694 h 1694"/>
              <a:gd name="T12" fmla="*/ 1113 w 1113"/>
              <a:gd name="T13" fmla="*/ 1694 h 1694"/>
              <a:gd name="T14" fmla="*/ 1113 w 1113"/>
              <a:gd name="T15" fmla="*/ 1397 h 1694"/>
              <a:gd name="T16" fmla="*/ 716 w 1113"/>
              <a:gd name="T17" fmla="*/ 1397 h 1694"/>
              <a:gd name="T18" fmla="*/ 716 w 1113"/>
              <a:gd name="T19" fmla="*/ 297 h 1694"/>
              <a:gd name="T20" fmla="*/ 1113 w 1113"/>
              <a:gd name="T21" fmla="*/ 297 h 1694"/>
              <a:gd name="T22" fmla="*/ 1113 w 1113"/>
              <a:gd name="T23" fmla="*/ 0 h 1694"/>
              <a:gd name="T24" fmla="*/ 0 w 1113"/>
              <a:gd name="T25" fmla="*/ 0 h 1694"/>
            </a:gdLst>
            <a:ahLst/>
            <a:cxnLst/>
            <a:rect l="0" t="0" r="r" b="b"/>
            <a:pathLst>
              <a:path w="1113" h="1694">
                <a:moveTo>
                  <a:pt x="0" y="0"/>
                </a:moveTo>
                <a:lnTo>
                  <a:pt x="0" y="297"/>
                </a:lnTo>
                <a:lnTo>
                  <a:pt x="396" y="297"/>
                </a:lnTo>
                <a:lnTo>
                  <a:pt x="396" y="1397"/>
                </a:lnTo>
                <a:lnTo>
                  <a:pt x="0" y="1397"/>
                </a:lnTo>
                <a:lnTo>
                  <a:pt x="0" y="1694"/>
                </a:lnTo>
                <a:lnTo>
                  <a:pt x="1113" y="1694"/>
                </a:lnTo>
                <a:lnTo>
                  <a:pt x="1113" y="1397"/>
                </a:lnTo>
                <a:lnTo>
                  <a:pt x="716" y="1397"/>
                </a:lnTo>
                <a:lnTo>
                  <a:pt x="716" y="297"/>
                </a:lnTo>
                <a:lnTo>
                  <a:pt x="1113" y="297"/>
                </a:lnTo>
                <a:lnTo>
                  <a:pt x="1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15" name="Freeform 8">
            <a:extLst>
              <a:ext uri="{FF2B5EF4-FFF2-40B4-BE49-F238E27FC236}">
                <a16:creationId xmlns:a16="http://schemas.microsoft.com/office/drawing/2014/main" id="{DA87F8EF-CDAD-15A2-A361-88921E1CAF7E}"/>
              </a:ext>
            </a:extLst>
          </p:cNvPr>
          <p:cNvSpPr>
            <a:spLocks noGrp="1"/>
          </p:cNvSpPr>
          <p:nvPr/>
        </p:nvSpPr>
        <p:spPr>
          <a:xfrm>
            <a:off x="6536285" y="327819"/>
            <a:ext cx="989146" cy="1272297"/>
          </a:xfrm>
          <a:custGeom>
            <a:avLst/>
            <a:gdLst>
              <a:gd name="T0" fmla="*/ 884 w 932"/>
              <a:gd name="T1" fmla="*/ 372 h 1199"/>
              <a:gd name="T2" fmla="*/ 442 w 932"/>
              <a:gd name="T3" fmla="*/ 0 h 1199"/>
              <a:gd name="T4" fmla="*/ 0 w 932"/>
              <a:gd name="T5" fmla="*/ 0 h 1199"/>
              <a:gd name="T6" fmla="*/ 0 w 932"/>
              <a:gd name="T7" fmla="*/ 1199 h 1199"/>
              <a:gd name="T8" fmla="*/ 227 w 932"/>
              <a:gd name="T9" fmla="*/ 1199 h 1199"/>
              <a:gd name="T10" fmla="*/ 227 w 932"/>
              <a:gd name="T11" fmla="*/ 755 h 1199"/>
              <a:gd name="T12" fmla="*/ 418 w 932"/>
              <a:gd name="T13" fmla="*/ 755 h 1199"/>
              <a:gd name="T14" fmla="*/ 450 w 932"/>
              <a:gd name="T15" fmla="*/ 755 h 1199"/>
              <a:gd name="T16" fmla="*/ 681 w 932"/>
              <a:gd name="T17" fmla="*/ 1199 h 1199"/>
              <a:gd name="T18" fmla="*/ 932 w 932"/>
              <a:gd name="T19" fmla="*/ 1199 h 1199"/>
              <a:gd name="T20" fmla="*/ 676 w 932"/>
              <a:gd name="T21" fmla="*/ 707 h 1199"/>
              <a:gd name="T22" fmla="*/ 884 w 932"/>
              <a:gd name="T23" fmla="*/ 372 h 1199"/>
              <a:gd name="T24" fmla="*/ 645 w 932"/>
              <a:gd name="T25" fmla="*/ 372 h 1199"/>
              <a:gd name="T26" fmla="*/ 418 w 932"/>
              <a:gd name="T27" fmla="*/ 562 h 1199"/>
              <a:gd name="T28" fmla="*/ 227 w 932"/>
              <a:gd name="T29" fmla="*/ 562 h 1199"/>
              <a:gd name="T30" fmla="*/ 227 w 932"/>
              <a:gd name="T31" fmla="*/ 194 h 1199"/>
              <a:gd name="T32" fmla="*/ 418 w 932"/>
              <a:gd name="T33" fmla="*/ 194 h 1199"/>
              <a:gd name="T34" fmla="*/ 645 w 932"/>
              <a:gd name="T35" fmla="*/ 372 h 1199"/>
            </a:gdLst>
            <a:ahLst/>
            <a:cxnLst/>
            <a:rect l="0" t="0" r="r" b="b"/>
            <a:pathLst>
              <a:path w="932" h="1199">
                <a:moveTo>
                  <a:pt x="884" y="372"/>
                </a:moveTo>
                <a:cubicBezTo>
                  <a:pt x="884" y="92"/>
                  <a:pt x="693" y="0"/>
                  <a:pt x="442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199"/>
                  <a:pt x="0" y="1199"/>
                  <a:pt x="0" y="1199"/>
                </a:cubicBezTo>
                <a:cubicBezTo>
                  <a:pt x="227" y="1199"/>
                  <a:pt x="227" y="1199"/>
                  <a:pt x="227" y="1199"/>
                </a:cubicBezTo>
                <a:cubicBezTo>
                  <a:pt x="227" y="755"/>
                  <a:pt x="227" y="755"/>
                  <a:pt x="227" y="755"/>
                </a:cubicBezTo>
                <a:cubicBezTo>
                  <a:pt x="418" y="755"/>
                  <a:pt x="418" y="755"/>
                  <a:pt x="418" y="755"/>
                </a:cubicBezTo>
                <a:cubicBezTo>
                  <a:pt x="429" y="755"/>
                  <a:pt x="439" y="755"/>
                  <a:pt x="450" y="755"/>
                </a:cubicBezTo>
                <a:cubicBezTo>
                  <a:pt x="681" y="1199"/>
                  <a:pt x="681" y="1199"/>
                  <a:pt x="681" y="1199"/>
                </a:cubicBezTo>
                <a:cubicBezTo>
                  <a:pt x="932" y="1199"/>
                  <a:pt x="932" y="1199"/>
                  <a:pt x="932" y="1199"/>
                </a:cubicBezTo>
                <a:cubicBezTo>
                  <a:pt x="676" y="707"/>
                  <a:pt x="676" y="707"/>
                  <a:pt x="676" y="707"/>
                </a:cubicBezTo>
                <a:cubicBezTo>
                  <a:pt x="801" y="652"/>
                  <a:pt x="884" y="545"/>
                  <a:pt x="884" y="372"/>
                </a:cubicBezTo>
                <a:moveTo>
                  <a:pt x="645" y="372"/>
                </a:moveTo>
                <a:cubicBezTo>
                  <a:pt x="645" y="516"/>
                  <a:pt x="562" y="562"/>
                  <a:pt x="418" y="562"/>
                </a:cubicBezTo>
                <a:cubicBezTo>
                  <a:pt x="227" y="562"/>
                  <a:pt x="227" y="562"/>
                  <a:pt x="227" y="562"/>
                </a:cubicBezTo>
                <a:cubicBezTo>
                  <a:pt x="227" y="194"/>
                  <a:pt x="227" y="194"/>
                  <a:pt x="227" y="194"/>
                </a:cubicBezTo>
                <a:cubicBezTo>
                  <a:pt x="418" y="194"/>
                  <a:pt x="418" y="194"/>
                  <a:pt x="418" y="194"/>
                </a:cubicBezTo>
                <a:cubicBezTo>
                  <a:pt x="574" y="194"/>
                  <a:pt x="645" y="252"/>
                  <a:pt x="645" y="372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16" name="Freeform 9">
            <a:extLst>
              <a:ext uri="{FF2B5EF4-FFF2-40B4-BE49-F238E27FC236}">
                <a16:creationId xmlns:a16="http://schemas.microsoft.com/office/drawing/2014/main" id="{E90186DB-2300-A8AA-8FAD-2C609649A61A}"/>
              </a:ext>
            </a:extLst>
          </p:cNvPr>
          <p:cNvSpPr>
            <a:spLocks noGrp="1"/>
          </p:cNvSpPr>
          <p:nvPr/>
        </p:nvSpPr>
        <p:spPr>
          <a:xfrm>
            <a:off x="5113776" y="327819"/>
            <a:ext cx="824664" cy="1272297"/>
          </a:xfrm>
          <a:custGeom>
            <a:avLst/>
            <a:gdLst>
              <a:gd name="T0" fmla="*/ 0 w 1098"/>
              <a:gd name="T1" fmla="*/ 0 h 1694"/>
              <a:gd name="T2" fmla="*/ 0 w 1098"/>
              <a:gd name="T3" fmla="*/ 1694 h 1694"/>
              <a:gd name="T4" fmla="*/ 1098 w 1098"/>
              <a:gd name="T5" fmla="*/ 1694 h 1694"/>
              <a:gd name="T6" fmla="*/ 1098 w 1098"/>
              <a:gd name="T7" fmla="*/ 1397 h 1694"/>
              <a:gd name="T8" fmla="*/ 321 w 1098"/>
              <a:gd name="T9" fmla="*/ 1397 h 1694"/>
              <a:gd name="T10" fmla="*/ 321 w 1098"/>
              <a:gd name="T11" fmla="*/ 973 h 1694"/>
              <a:gd name="T12" fmla="*/ 1030 w 1098"/>
              <a:gd name="T13" fmla="*/ 973 h 1694"/>
              <a:gd name="T14" fmla="*/ 1030 w 1098"/>
              <a:gd name="T15" fmla="*/ 687 h 1694"/>
              <a:gd name="T16" fmla="*/ 321 w 1098"/>
              <a:gd name="T17" fmla="*/ 687 h 1694"/>
              <a:gd name="T18" fmla="*/ 321 w 1098"/>
              <a:gd name="T19" fmla="*/ 297 h 1694"/>
              <a:gd name="T20" fmla="*/ 1098 w 1098"/>
              <a:gd name="T21" fmla="*/ 297 h 1694"/>
              <a:gd name="T22" fmla="*/ 1098 w 1098"/>
              <a:gd name="T23" fmla="*/ 0 h 1694"/>
              <a:gd name="T24" fmla="*/ 0 w 1098"/>
              <a:gd name="T25" fmla="*/ 0 h 1694"/>
            </a:gdLst>
            <a:ahLst/>
            <a:cxnLst/>
            <a:rect l="0" t="0" r="r" b="b"/>
            <a:pathLst>
              <a:path w="1098" h="1694">
                <a:moveTo>
                  <a:pt x="0" y="0"/>
                </a:moveTo>
                <a:lnTo>
                  <a:pt x="0" y="1694"/>
                </a:lnTo>
                <a:lnTo>
                  <a:pt x="1098" y="1694"/>
                </a:lnTo>
                <a:lnTo>
                  <a:pt x="1098" y="1397"/>
                </a:lnTo>
                <a:lnTo>
                  <a:pt x="321" y="1397"/>
                </a:lnTo>
                <a:lnTo>
                  <a:pt x="321" y="973"/>
                </a:lnTo>
                <a:lnTo>
                  <a:pt x="1030" y="973"/>
                </a:lnTo>
                <a:lnTo>
                  <a:pt x="1030" y="687"/>
                </a:lnTo>
                <a:lnTo>
                  <a:pt x="321" y="687"/>
                </a:lnTo>
                <a:lnTo>
                  <a:pt x="321" y="297"/>
                </a:lnTo>
                <a:lnTo>
                  <a:pt x="1098" y="297"/>
                </a:lnTo>
                <a:lnTo>
                  <a:pt x="1098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17" name="Freeform 10">
            <a:extLst>
              <a:ext uri="{FF2B5EF4-FFF2-40B4-BE49-F238E27FC236}">
                <a16:creationId xmlns:a16="http://schemas.microsoft.com/office/drawing/2014/main" id="{31922286-E237-1114-3A54-E1731611D66C}"/>
              </a:ext>
            </a:extLst>
          </p:cNvPr>
          <p:cNvSpPr>
            <a:spLocks noGrp="1"/>
          </p:cNvSpPr>
          <p:nvPr/>
        </p:nvSpPr>
        <p:spPr>
          <a:xfrm>
            <a:off x="3695773" y="327819"/>
            <a:ext cx="912538" cy="1272297"/>
          </a:xfrm>
          <a:custGeom>
            <a:avLst/>
            <a:gdLst>
              <a:gd name="T0" fmla="*/ 406 w 860"/>
              <a:gd name="T1" fmla="*/ 791 h 1199"/>
              <a:gd name="T2" fmla="*/ 227 w 860"/>
              <a:gd name="T3" fmla="*/ 791 h 1199"/>
              <a:gd name="T4" fmla="*/ 227 w 860"/>
              <a:gd name="T5" fmla="*/ 1199 h 1199"/>
              <a:gd name="T6" fmla="*/ 0 w 860"/>
              <a:gd name="T7" fmla="*/ 1199 h 1199"/>
              <a:gd name="T8" fmla="*/ 0 w 860"/>
              <a:gd name="T9" fmla="*/ 0 h 1199"/>
              <a:gd name="T10" fmla="*/ 406 w 860"/>
              <a:gd name="T11" fmla="*/ 0 h 1199"/>
              <a:gd name="T12" fmla="*/ 860 w 860"/>
              <a:gd name="T13" fmla="*/ 396 h 1199"/>
              <a:gd name="T14" fmla="*/ 406 w 860"/>
              <a:gd name="T15" fmla="*/ 791 h 1199"/>
              <a:gd name="T16" fmla="*/ 394 w 860"/>
              <a:gd name="T17" fmla="*/ 194 h 1199"/>
              <a:gd name="T18" fmla="*/ 227 w 860"/>
              <a:gd name="T19" fmla="*/ 194 h 1199"/>
              <a:gd name="T20" fmla="*/ 227 w 860"/>
              <a:gd name="T21" fmla="*/ 598 h 1199"/>
              <a:gd name="T22" fmla="*/ 394 w 860"/>
              <a:gd name="T23" fmla="*/ 598 h 1199"/>
              <a:gd name="T24" fmla="*/ 621 w 860"/>
              <a:gd name="T25" fmla="*/ 396 h 1199"/>
              <a:gd name="T26" fmla="*/ 394 w 860"/>
              <a:gd name="T27" fmla="*/ 194 h 1199"/>
            </a:gdLst>
            <a:ahLst/>
            <a:cxnLst/>
            <a:rect l="0" t="0" r="r" b="b"/>
            <a:pathLst>
              <a:path w="860" h="1199">
                <a:moveTo>
                  <a:pt x="406" y="791"/>
                </a:moveTo>
                <a:cubicBezTo>
                  <a:pt x="227" y="791"/>
                  <a:pt x="227" y="791"/>
                  <a:pt x="227" y="791"/>
                </a:cubicBezTo>
                <a:cubicBezTo>
                  <a:pt x="227" y="1199"/>
                  <a:pt x="227" y="1199"/>
                  <a:pt x="227" y="1199"/>
                </a:cubicBezTo>
                <a:cubicBezTo>
                  <a:pt x="0" y="1199"/>
                  <a:pt x="0" y="1199"/>
                  <a:pt x="0" y="1199"/>
                </a:cubicBezTo>
                <a:cubicBezTo>
                  <a:pt x="0" y="0"/>
                  <a:pt x="0" y="0"/>
                  <a:pt x="0" y="0"/>
                </a:cubicBezTo>
                <a:cubicBezTo>
                  <a:pt x="406" y="0"/>
                  <a:pt x="406" y="0"/>
                  <a:pt x="406" y="0"/>
                </a:cubicBezTo>
                <a:cubicBezTo>
                  <a:pt x="661" y="0"/>
                  <a:pt x="860" y="116"/>
                  <a:pt x="860" y="396"/>
                </a:cubicBezTo>
                <a:cubicBezTo>
                  <a:pt x="860" y="671"/>
                  <a:pt x="659" y="791"/>
                  <a:pt x="406" y="791"/>
                </a:cubicBezTo>
                <a:moveTo>
                  <a:pt x="394" y="194"/>
                </a:moveTo>
                <a:cubicBezTo>
                  <a:pt x="227" y="194"/>
                  <a:pt x="227" y="194"/>
                  <a:pt x="227" y="194"/>
                </a:cubicBezTo>
                <a:cubicBezTo>
                  <a:pt x="227" y="598"/>
                  <a:pt x="227" y="598"/>
                  <a:pt x="227" y="598"/>
                </a:cubicBezTo>
                <a:cubicBezTo>
                  <a:pt x="394" y="598"/>
                  <a:pt x="394" y="598"/>
                  <a:pt x="394" y="598"/>
                </a:cubicBezTo>
                <a:cubicBezTo>
                  <a:pt x="525" y="598"/>
                  <a:pt x="621" y="534"/>
                  <a:pt x="621" y="396"/>
                </a:cubicBezTo>
                <a:cubicBezTo>
                  <a:pt x="621" y="252"/>
                  <a:pt x="525" y="194"/>
                  <a:pt x="394" y="194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18" name="Freeform 11">
            <a:extLst>
              <a:ext uri="{FF2B5EF4-FFF2-40B4-BE49-F238E27FC236}">
                <a16:creationId xmlns:a16="http://schemas.microsoft.com/office/drawing/2014/main" id="{1B4DA78C-0EF6-B05D-F2D2-EFEDA343E394}"/>
              </a:ext>
            </a:extLst>
          </p:cNvPr>
          <p:cNvSpPr>
            <a:spLocks noGrp="1"/>
          </p:cNvSpPr>
          <p:nvPr/>
        </p:nvSpPr>
        <p:spPr>
          <a:xfrm>
            <a:off x="1791084" y="327819"/>
            <a:ext cx="1291824" cy="1272297"/>
          </a:xfrm>
          <a:custGeom>
            <a:avLst/>
            <a:gdLst>
              <a:gd name="T0" fmla="*/ 1265 w 1720"/>
              <a:gd name="T1" fmla="*/ 0 h 1694"/>
              <a:gd name="T2" fmla="*/ 860 w 1720"/>
              <a:gd name="T3" fmla="*/ 996 h 1694"/>
              <a:gd name="T4" fmla="*/ 456 w 1720"/>
              <a:gd name="T5" fmla="*/ 0 h 1694"/>
              <a:gd name="T6" fmla="*/ 0 w 1720"/>
              <a:gd name="T7" fmla="*/ 0 h 1694"/>
              <a:gd name="T8" fmla="*/ 0 w 1720"/>
              <a:gd name="T9" fmla="*/ 1694 h 1694"/>
              <a:gd name="T10" fmla="*/ 303 w 1720"/>
              <a:gd name="T11" fmla="*/ 1694 h 1694"/>
              <a:gd name="T12" fmla="*/ 303 w 1720"/>
              <a:gd name="T13" fmla="*/ 428 h 1694"/>
              <a:gd name="T14" fmla="*/ 692 w 1720"/>
              <a:gd name="T15" fmla="*/ 1321 h 1694"/>
              <a:gd name="T16" fmla="*/ 709 w 1720"/>
              <a:gd name="T17" fmla="*/ 1321 h 1694"/>
              <a:gd name="T18" fmla="*/ 1012 w 1720"/>
              <a:gd name="T19" fmla="*/ 1321 h 1694"/>
              <a:gd name="T20" fmla="*/ 1029 w 1720"/>
              <a:gd name="T21" fmla="*/ 1321 h 1694"/>
              <a:gd name="T22" fmla="*/ 1416 w 1720"/>
              <a:gd name="T23" fmla="*/ 428 h 1694"/>
              <a:gd name="T24" fmla="*/ 1416 w 1720"/>
              <a:gd name="T25" fmla="*/ 1694 h 1694"/>
              <a:gd name="T26" fmla="*/ 1720 w 1720"/>
              <a:gd name="T27" fmla="*/ 1694 h 1694"/>
              <a:gd name="T28" fmla="*/ 1720 w 1720"/>
              <a:gd name="T29" fmla="*/ 0 h 1694"/>
              <a:gd name="T30" fmla="*/ 1265 w 1720"/>
              <a:gd name="T31" fmla="*/ 0 h 1694"/>
            </a:gdLst>
            <a:ahLst/>
            <a:cxnLst/>
            <a:rect l="0" t="0" r="r" b="b"/>
            <a:pathLst>
              <a:path w="1720" h="1694">
                <a:moveTo>
                  <a:pt x="1265" y="0"/>
                </a:moveTo>
                <a:lnTo>
                  <a:pt x="860" y="996"/>
                </a:lnTo>
                <a:lnTo>
                  <a:pt x="456" y="0"/>
                </a:lnTo>
                <a:lnTo>
                  <a:pt x="0" y="0"/>
                </a:lnTo>
                <a:lnTo>
                  <a:pt x="0" y="1694"/>
                </a:lnTo>
                <a:lnTo>
                  <a:pt x="303" y="1694"/>
                </a:lnTo>
                <a:lnTo>
                  <a:pt x="303" y="428"/>
                </a:lnTo>
                <a:lnTo>
                  <a:pt x="692" y="1321"/>
                </a:lnTo>
                <a:lnTo>
                  <a:pt x="709" y="1321"/>
                </a:lnTo>
                <a:lnTo>
                  <a:pt x="1012" y="1321"/>
                </a:lnTo>
                <a:lnTo>
                  <a:pt x="1029" y="1321"/>
                </a:lnTo>
                <a:lnTo>
                  <a:pt x="1416" y="428"/>
                </a:lnTo>
                <a:lnTo>
                  <a:pt x="1416" y="1694"/>
                </a:lnTo>
                <a:lnTo>
                  <a:pt x="1720" y="1694"/>
                </a:lnTo>
                <a:lnTo>
                  <a:pt x="1720" y="0"/>
                </a:lnTo>
                <a:lnTo>
                  <a:pt x="126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19" name="Freeform 12">
            <a:extLst>
              <a:ext uri="{FF2B5EF4-FFF2-40B4-BE49-F238E27FC236}">
                <a16:creationId xmlns:a16="http://schemas.microsoft.com/office/drawing/2014/main" id="{A00F92FE-6EB2-0D0E-BFC9-559AD1E7A4E7}"/>
              </a:ext>
            </a:extLst>
          </p:cNvPr>
          <p:cNvSpPr>
            <a:spLocks noGrp="1"/>
          </p:cNvSpPr>
          <p:nvPr/>
        </p:nvSpPr>
        <p:spPr>
          <a:xfrm>
            <a:off x="330271" y="327819"/>
            <a:ext cx="835930" cy="1272297"/>
          </a:xfrm>
          <a:custGeom>
            <a:avLst/>
            <a:gdLst>
              <a:gd name="T0" fmla="*/ 0 w 1113"/>
              <a:gd name="T1" fmla="*/ 0 h 1694"/>
              <a:gd name="T2" fmla="*/ 0 w 1113"/>
              <a:gd name="T3" fmla="*/ 297 h 1694"/>
              <a:gd name="T4" fmla="*/ 397 w 1113"/>
              <a:gd name="T5" fmla="*/ 297 h 1694"/>
              <a:gd name="T6" fmla="*/ 397 w 1113"/>
              <a:gd name="T7" fmla="*/ 1397 h 1694"/>
              <a:gd name="T8" fmla="*/ 0 w 1113"/>
              <a:gd name="T9" fmla="*/ 1397 h 1694"/>
              <a:gd name="T10" fmla="*/ 0 w 1113"/>
              <a:gd name="T11" fmla="*/ 1694 h 1694"/>
              <a:gd name="T12" fmla="*/ 1113 w 1113"/>
              <a:gd name="T13" fmla="*/ 1694 h 1694"/>
              <a:gd name="T14" fmla="*/ 1113 w 1113"/>
              <a:gd name="T15" fmla="*/ 1397 h 1694"/>
              <a:gd name="T16" fmla="*/ 717 w 1113"/>
              <a:gd name="T17" fmla="*/ 1397 h 1694"/>
              <a:gd name="T18" fmla="*/ 717 w 1113"/>
              <a:gd name="T19" fmla="*/ 297 h 1694"/>
              <a:gd name="T20" fmla="*/ 1113 w 1113"/>
              <a:gd name="T21" fmla="*/ 297 h 1694"/>
              <a:gd name="T22" fmla="*/ 1113 w 1113"/>
              <a:gd name="T23" fmla="*/ 0 h 1694"/>
              <a:gd name="T24" fmla="*/ 0 w 1113"/>
              <a:gd name="T25" fmla="*/ 0 h 1694"/>
            </a:gdLst>
            <a:ahLst/>
            <a:cxnLst/>
            <a:rect l="0" t="0" r="r" b="b"/>
            <a:pathLst>
              <a:path w="1113" h="1694">
                <a:moveTo>
                  <a:pt x="0" y="0"/>
                </a:moveTo>
                <a:lnTo>
                  <a:pt x="0" y="297"/>
                </a:lnTo>
                <a:lnTo>
                  <a:pt x="397" y="297"/>
                </a:lnTo>
                <a:lnTo>
                  <a:pt x="397" y="1397"/>
                </a:lnTo>
                <a:lnTo>
                  <a:pt x="0" y="1397"/>
                </a:lnTo>
                <a:lnTo>
                  <a:pt x="0" y="1694"/>
                </a:lnTo>
                <a:lnTo>
                  <a:pt x="1113" y="1694"/>
                </a:lnTo>
                <a:lnTo>
                  <a:pt x="1113" y="1397"/>
                </a:lnTo>
                <a:lnTo>
                  <a:pt x="717" y="1397"/>
                </a:lnTo>
                <a:lnTo>
                  <a:pt x="717" y="297"/>
                </a:lnTo>
                <a:lnTo>
                  <a:pt x="1113" y="297"/>
                </a:lnTo>
                <a:lnTo>
                  <a:pt x="1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C1E3-6A7C-C21D-910D-C4B7DFFF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271" y="3338719"/>
            <a:ext cx="9144000" cy="1828406"/>
          </a:xfrm>
        </p:spPr>
        <p:txBody>
          <a:bodyPr anchor="t"/>
          <a:lstStyle>
            <a:lvl1pPr algn="l">
              <a:buNone/>
              <a:defRPr sz="6400">
                <a:solidFill>
                  <a:schemeClr val="accent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4" name="Freeform 5">
            <a:extLst>
              <a:ext uri="{FF2B5EF4-FFF2-40B4-BE49-F238E27FC236}">
                <a16:creationId xmlns:a16="http://schemas.microsoft.com/office/drawing/2014/main" id="{FB1AA775-4CCE-276F-2BCF-CDB5A9211FDB}"/>
              </a:ext>
            </a:extLst>
          </p:cNvPr>
          <p:cNvSpPr>
            <a:spLocks noGrp="1"/>
          </p:cNvSpPr>
          <p:nvPr/>
        </p:nvSpPr>
        <p:spPr>
          <a:xfrm>
            <a:off x="4018633" y="327819"/>
            <a:ext cx="284237" cy="438124"/>
          </a:xfrm>
          <a:custGeom>
            <a:avLst/>
            <a:gdLst>
              <a:gd name="T0" fmla="*/ 0 w 1099"/>
              <a:gd name="T1" fmla="*/ 0 h 1694"/>
              <a:gd name="T2" fmla="*/ 0 w 1099"/>
              <a:gd name="T3" fmla="*/ 1694 h 1694"/>
              <a:gd name="T4" fmla="*/ 1099 w 1099"/>
              <a:gd name="T5" fmla="*/ 1694 h 1694"/>
              <a:gd name="T6" fmla="*/ 1099 w 1099"/>
              <a:gd name="T7" fmla="*/ 1397 h 1694"/>
              <a:gd name="T8" fmla="*/ 319 w 1099"/>
              <a:gd name="T9" fmla="*/ 1397 h 1694"/>
              <a:gd name="T10" fmla="*/ 319 w 1099"/>
              <a:gd name="T11" fmla="*/ 0 h 1694"/>
              <a:gd name="T12" fmla="*/ 0 w 1099"/>
              <a:gd name="T13" fmla="*/ 0 h 1694"/>
            </a:gdLst>
            <a:ahLst/>
            <a:cxnLst/>
            <a:rect l="0" t="0" r="r" b="b"/>
            <a:pathLst>
              <a:path w="1099" h="1694">
                <a:moveTo>
                  <a:pt x="0" y="0"/>
                </a:moveTo>
                <a:lnTo>
                  <a:pt x="0" y="1694"/>
                </a:lnTo>
                <a:lnTo>
                  <a:pt x="1099" y="1694"/>
                </a:lnTo>
                <a:lnTo>
                  <a:pt x="1099" y="1397"/>
                </a:lnTo>
                <a:lnTo>
                  <a:pt x="319" y="1397"/>
                </a:lnTo>
                <a:lnTo>
                  <a:pt x="31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5" name="Freeform 6">
            <a:extLst>
              <a:ext uri="{FF2B5EF4-FFF2-40B4-BE49-F238E27FC236}">
                <a16:creationId xmlns:a16="http://schemas.microsoft.com/office/drawing/2014/main" id="{D0FDD9D0-D471-8D20-94AE-C3BC73F88F8D}"/>
              </a:ext>
            </a:extLst>
          </p:cNvPr>
          <p:cNvSpPr>
            <a:spLocks noGrp="1"/>
          </p:cNvSpPr>
          <p:nvPr/>
        </p:nvSpPr>
        <p:spPr>
          <a:xfrm>
            <a:off x="3434382" y="327819"/>
            <a:ext cx="397001" cy="438124"/>
          </a:xfrm>
          <a:custGeom>
            <a:avLst/>
            <a:gdLst>
              <a:gd name="T0" fmla="*/ 556 w 1535"/>
              <a:gd name="T1" fmla="*/ 0 h 1694"/>
              <a:gd name="T2" fmla="*/ 0 w 1535"/>
              <a:gd name="T3" fmla="*/ 1694 h 1694"/>
              <a:gd name="T4" fmla="*/ 337 w 1535"/>
              <a:gd name="T5" fmla="*/ 1694 h 1694"/>
              <a:gd name="T6" fmla="*/ 453 w 1535"/>
              <a:gd name="T7" fmla="*/ 1321 h 1694"/>
              <a:gd name="T8" fmla="*/ 1083 w 1535"/>
              <a:gd name="T9" fmla="*/ 1321 h 1694"/>
              <a:gd name="T10" fmla="*/ 1197 w 1535"/>
              <a:gd name="T11" fmla="*/ 1694 h 1694"/>
              <a:gd name="T12" fmla="*/ 1535 w 1535"/>
              <a:gd name="T13" fmla="*/ 1694 h 1694"/>
              <a:gd name="T14" fmla="*/ 978 w 1535"/>
              <a:gd name="T15" fmla="*/ 0 h 1694"/>
              <a:gd name="T16" fmla="*/ 556 w 1535"/>
              <a:gd name="T17" fmla="*/ 0 h 1694"/>
              <a:gd name="T18" fmla="*/ 768 w 1535"/>
              <a:gd name="T19" fmla="*/ 301 h 1694"/>
              <a:gd name="T20" fmla="*/ 998 w 1535"/>
              <a:gd name="T21" fmla="*/ 1048 h 1694"/>
              <a:gd name="T22" fmla="*/ 536 w 1535"/>
              <a:gd name="T23" fmla="*/ 1048 h 1694"/>
              <a:gd name="T24" fmla="*/ 768 w 1535"/>
              <a:gd name="T25" fmla="*/ 301 h 1694"/>
            </a:gdLst>
            <a:ahLst/>
            <a:cxnLst/>
            <a:rect l="0" t="0" r="r" b="b"/>
            <a:pathLst>
              <a:path w="1535" h="1694">
                <a:moveTo>
                  <a:pt x="556" y="0"/>
                </a:moveTo>
                <a:lnTo>
                  <a:pt x="0" y="1694"/>
                </a:lnTo>
                <a:lnTo>
                  <a:pt x="337" y="1694"/>
                </a:lnTo>
                <a:lnTo>
                  <a:pt x="453" y="1321"/>
                </a:lnTo>
                <a:lnTo>
                  <a:pt x="1083" y="1321"/>
                </a:lnTo>
                <a:lnTo>
                  <a:pt x="1197" y="1694"/>
                </a:lnTo>
                <a:lnTo>
                  <a:pt x="1535" y="1694"/>
                </a:lnTo>
                <a:lnTo>
                  <a:pt x="978" y="0"/>
                </a:lnTo>
                <a:lnTo>
                  <a:pt x="556" y="0"/>
                </a:lnTo>
                <a:close/>
                <a:moveTo>
                  <a:pt x="768" y="301"/>
                </a:moveTo>
                <a:lnTo>
                  <a:pt x="998" y="1048"/>
                </a:lnTo>
                <a:lnTo>
                  <a:pt x="536" y="1048"/>
                </a:lnTo>
                <a:lnTo>
                  <a:pt x="768" y="30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6" name="Freeform 7">
            <a:extLst>
              <a:ext uri="{FF2B5EF4-FFF2-40B4-BE49-F238E27FC236}">
                <a16:creationId xmlns:a16="http://schemas.microsoft.com/office/drawing/2014/main" id="{CD6C2A08-9069-9582-5D59-A51210F8CB78}"/>
              </a:ext>
            </a:extLst>
          </p:cNvPr>
          <p:cNvSpPr>
            <a:spLocks noGrp="1"/>
          </p:cNvSpPr>
          <p:nvPr/>
        </p:nvSpPr>
        <p:spPr>
          <a:xfrm>
            <a:off x="2981257" y="327819"/>
            <a:ext cx="287858" cy="438124"/>
          </a:xfrm>
          <a:custGeom>
            <a:avLst/>
            <a:gdLst>
              <a:gd name="T0" fmla="*/ 0 w 1113"/>
              <a:gd name="T1" fmla="*/ 0 h 1694"/>
              <a:gd name="T2" fmla="*/ 0 w 1113"/>
              <a:gd name="T3" fmla="*/ 297 h 1694"/>
              <a:gd name="T4" fmla="*/ 396 w 1113"/>
              <a:gd name="T5" fmla="*/ 297 h 1694"/>
              <a:gd name="T6" fmla="*/ 396 w 1113"/>
              <a:gd name="T7" fmla="*/ 1397 h 1694"/>
              <a:gd name="T8" fmla="*/ 0 w 1113"/>
              <a:gd name="T9" fmla="*/ 1397 h 1694"/>
              <a:gd name="T10" fmla="*/ 0 w 1113"/>
              <a:gd name="T11" fmla="*/ 1694 h 1694"/>
              <a:gd name="T12" fmla="*/ 1113 w 1113"/>
              <a:gd name="T13" fmla="*/ 1694 h 1694"/>
              <a:gd name="T14" fmla="*/ 1113 w 1113"/>
              <a:gd name="T15" fmla="*/ 1397 h 1694"/>
              <a:gd name="T16" fmla="*/ 716 w 1113"/>
              <a:gd name="T17" fmla="*/ 1397 h 1694"/>
              <a:gd name="T18" fmla="*/ 716 w 1113"/>
              <a:gd name="T19" fmla="*/ 297 h 1694"/>
              <a:gd name="T20" fmla="*/ 1113 w 1113"/>
              <a:gd name="T21" fmla="*/ 297 h 1694"/>
              <a:gd name="T22" fmla="*/ 1113 w 1113"/>
              <a:gd name="T23" fmla="*/ 0 h 1694"/>
              <a:gd name="T24" fmla="*/ 0 w 1113"/>
              <a:gd name="T25" fmla="*/ 0 h 1694"/>
            </a:gdLst>
            <a:ahLst/>
            <a:cxnLst/>
            <a:rect l="0" t="0" r="r" b="b"/>
            <a:pathLst>
              <a:path w="1113" h="1694">
                <a:moveTo>
                  <a:pt x="0" y="0"/>
                </a:moveTo>
                <a:lnTo>
                  <a:pt x="0" y="297"/>
                </a:lnTo>
                <a:lnTo>
                  <a:pt x="396" y="297"/>
                </a:lnTo>
                <a:lnTo>
                  <a:pt x="396" y="1397"/>
                </a:lnTo>
                <a:lnTo>
                  <a:pt x="0" y="1397"/>
                </a:lnTo>
                <a:lnTo>
                  <a:pt x="0" y="1694"/>
                </a:lnTo>
                <a:lnTo>
                  <a:pt x="1113" y="1694"/>
                </a:lnTo>
                <a:lnTo>
                  <a:pt x="1113" y="1397"/>
                </a:lnTo>
                <a:lnTo>
                  <a:pt x="716" y="1397"/>
                </a:lnTo>
                <a:lnTo>
                  <a:pt x="716" y="297"/>
                </a:lnTo>
                <a:lnTo>
                  <a:pt x="1113" y="297"/>
                </a:lnTo>
                <a:lnTo>
                  <a:pt x="1113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610C2D08-4FE4-C1FC-5226-E7A45B13D658}"/>
              </a:ext>
            </a:extLst>
          </p:cNvPr>
          <p:cNvSpPr>
            <a:spLocks noGrp="1"/>
          </p:cNvSpPr>
          <p:nvPr/>
        </p:nvSpPr>
        <p:spPr>
          <a:xfrm>
            <a:off x="2467353" y="327819"/>
            <a:ext cx="340619" cy="438124"/>
          </a:xfrm>
          <a:custGeom>
            <a:avLst/>
            <a:gdLst>
              <a:gd name="T0" fmla="*/ 884 w 932"/>
              <a:gd name="T1" fmla="*/ 372 h 1199"/>
              <a:gd name="T2" fmla="*/ 442 w 932"/>
              <a:gd name="T3" fmla="*/ 0 h 1199"/>
              <a:gd name="T4" fmla="*/ 0 w 932"/>
              <a:gd name="T5" fmla="*/ 0 h 1199"/>
              <a:gd name="T6" fmla="*/ 0 w 932"/>
              <a:gd name="T7" fmla="*/ 1199 h 1199"/>
              <a:gd name="T8" fmla="*/ 227 w 932"/>
              <a:gd name="T9" fmla="*/ 1199 h 1199"/>
              <a:gd name="T10" fmla="*/ 227 w 932"/>
              <a:gd name="T11" fmla="*/ 755 h 1199"/>
              <a:gd name="T12" fmla="*/ 418 w 932"/>
              <a:gd name="T13" fmla="*/ 755 h 1199"/>
              <a:gd name="T14" fmla="*/ 450 w 932"/>
              <a:gd name="T15" fmla="*/ 755 h 1199"/>
              <a:gd name="T16" fmla="*/ 681 w 932"/>
              <a:gd name="T17" fmla="*/ 1199 h 1199"/>
              <a:gd name="T18" fmla="*/ 932 w 932"/>
              <a:gd name="T19" fmla="*/ 1199 h 1199"/>
              <a:gd name="T20" fmla="*/ 676 w 932"/>
              <a:gd name="T21" fmla="*/ 707 h 1199"/>
              <a:gd name="T22" fmla="*/ 884 w 932"/>
              <a:gd name="T23" fmla="*/ 372 h 1199"/>
              <a:gd name="T24" fmla="*/ 645 w 932"/>
              <a:gd name="T25" fmla="*/ 372 h 1199"/>
              <a:gd name="T26" fmla="*/ 418 w 932"/>
              <a:gd name="T27" fmla="*/ 562 h 1199"/>
              <a:gd name="T28" fmla="*/ 227 w 932"/>
              <a:gd name="T29" fmla="*/ 562 h 1199"/>
              <a:gd name="T30" fmla="*/ 227 w 932"/>
              <a:gd name="T31" fmla="*/ 194 h 1199"/>
              <a:gd name="T32" fmla="*/ 418 w 932"/>
              <a:gd name="T33" fmla="*/ 194 h 1199"/>
              <a:gd name="T34" fmla="*/ 645 w 932"/>
              <a:gd name="T35" fmla="*/ 372 h 1199"/>
            </a:gdLst>
            <a:ahLst/>
            <a:cxnLst/>
            <a:rect l="0" t="0" r="r" b="b"/>
            <a:pathLst>
              <a:path w="932" h="1199">
                <a:moveTo>
                  <a:pt x="884" y="372"/>
                </a:moveTo>
                <a:cubicBezTo>
                  <a:pt x="884" y="92"/>
                  <a:pt x="693" y="0"/>
                  <a:pt x="442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199"/>
                  <a:pt x="0" y="1199"/>
                  <a:pt x="0" y="1199"/>
                </a:cubicBezTo>
                <a:cubicBezTo>
                  <a:pt x="227" y="1199"/>
                  <a:pt x="227" y="1199"/>
                  <a:pt x="227" y="1199"/>
                </a:cubicBezTo>
                <a:cubicBezTo>
                  <a:pt x="227" y="755"/>
                  <a:pt x="227" y="755"/>
                  <a:pt x="227" y="755"/>
                </a:cubicBezTo>
                <a:cubicBezTo>
                  <a:pt x="418" y="755"/>
                  <a:pt x="418" y="755"/>
                  <a:pt x="418" y="755"/>
                </a:cubicBezTo>
                <a:cubicBezTo>
                  <a:pt x="429" y="755"/>
                  <a:pt x="439" y="755"/>
                  <a:pt x="450" y="755"/>
                </a:cubicBezTo>
                <a:cubicBezTo>
                  <a:pt x="681" y="1199"/>
                  <a:pt x="681" y="1199"/>
                  <a:pt x="681" y="1199"/>
                </a:cubicBezTo>
                <a:cubicBezTo>
                  <a:pt x="932" y="1199"/>
                  <a:pt x="932" y="1199"/>
                  <a:pt x="932" y="1199"/>
                </a:cubicBezTo>
                <a:cubicBezTo>
                  <a:pt x="676" y="707"/>
                  <a:pt x="676" y="707"/>
                  <a:pt x="676" y="707"/>
                </a:cubicBezTo>
                <a:cubicBezTo>
                  <a:pt x="801" y="652"/>
                  <a:pt x="884" y="545"/>
                  <a:pt x="884" y="372"/>
                </a:cubicBezTo>
                <a:moveTo>
                  <a:pt x="645" y="372"/>
                </a:moveTo>
                <a:cubicBezTo>
                  <a:pt x="645" y="516"/>
                  <a:pt x="562" y="562"/>
                  <a:pt x="418" y="562"/>
                </a:cubicBezTo>
                <a:cubicBezTo>
                  <a:pt x="227" y="562"/>
                  <a:pt x="227" y="562"/>
                  <a:pt x="227" y="562"/>
                </a:cubicBezTo>
                <a:cubicBezTo>
                  <a:pt x="227" y="194"/>
                  <a:pt x="227" y="194"/>
                  <a:pt x="227" y="194"/>
                </a:cubicBezTo>
                <a:cubicBezTo>
                  <a:pt x="418" y="194"/>
                  <a:pt x="418" y="194"/>
                  <a:pt x="418" y="194"/>
                </a:cubicBezTo>
                <a:cubicBezTo>
                  <a:pt x="574" y="194"/>
                  <a:pt x="645" y="252"/>
                  <a:pt x="645" y="372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8010D1AF-A77E-06AA-9B05-D1DD5EE83096}"/>
              </a:ext>
            </a:extLst>
          </p:cNvPr>
          <p:cNvSpPr>
            <a:spLocks noGrp="1"/>
          </p:cNvSpPr>
          <p:nvPr/>
        </p:nvSpPr>
        <p:spPr>
          <a:xfrm>
            <a:off x="1977503" y="327819"/>
            <a:ext cx="283978" cy="438124"/>
          </a:xfrm>
          <a:custGeom>
            <a:avLst/>
            <a:gdLst>
              <a:gd name="T0" fmla="*/ 0 w 1098"/>
              <a:gd name="T1" fmla="*/ 0 h 1694"/>
              <a:gd name="T2" fmla="*/ 0 w 1098"/>
              <a:gd name="T3" fmla="*/ 1694 h 1694"/>
              <a:gd name="T4" fmla="*/ 1098 w 1098"/>
              <a:gd name="T5" fmla="*/ 1694 h 1694"/>
              <a:gd name="T6" fmla="*/ 1098 w 1098"/>
              <a:gd name="T7" fmla="*/ 1397 h 1694"/>
              <a:gd name="T8" fmla="*/ 321 w 1098"/>
              <a:gd name="T9" fmla="*/ 1397 h 1694"/>
              <a:gd name="T10" fmla="*/ 321 w 1098"/>
              <a:gd name="T11" fmla="*/ 973 h 1694"/>
              <a:gd name="T12" fmla="*/ 1030 w 1098"/>
              <a:gd name="T13" fmla="*/ 973 h 1694"/>
              <a:gd name="T14" fmla="*/ 1030 w 1098"/>
              <a:gd name="T15" fmla="*/ 687 h 1694"/>
              <a:gd name="T16" fmla="*/ 321 w 1098"/>
              <a:gd name="T17" fmla="*/ 687 h 1694"/>
              <a:gd name="T18" fmla="*/ 321 w 1098"/>
              <a:gd name="T19" fmla="*/ 297 h 1694"/>
              <a:gd name="T20" fmla="*/ 1098 w 1098"/>
              <a:gd name="T21" fmla="*/ 297 h 1694"/>
              <a:gd name="T22" fmla="*/ 1098 w 1098"/>
              <a:gd name="T23" fmla="*/ 0 h 1694"/>
              <a:gd name="T24" fmla="*/ 0 w 1098"/>
              <a:gd name="T25" fmla="*/ 0 h 1694"/>
            </a:gdLst>
            <a:ahLst/>
            <a:cxnLst/>
            <a:rect l="0" t="0" r="r" b="b"/>
            <a:pathLst>
              <a:path w="1098" h="1694">
                <a:moveTo>
                  <a:pt x="0" y="0"/>
                </a:moveTo>
                <a:lnTo>
                  <a:pt x="0" y="1694"/>
                </a:lnTo>
                <a:lnTo>
                  <a:pt x="1098" y="1694"/>
                </a:lnTo>
                <a:lnTo>
                  <a:pt x="1098" y="1397"/>
                </a:lnTo>
                <a:lnTo>
                  <a:pt x="321" y="1397"/>
                </a:lnTo>
                <a:lnTo>
                  <a:pt x="321" y="973"/>
                </a:lnTo>
                <a:lnTo>
                  <a:pt x="1030" y="973"/>
                </a:lnTo>
                <a:lnTo>
                  <a:pt x="1030" y="687"/>
                </a:lnTo>
                <a:lnTo>
                  <a:pt x="321" y="687"/>
                </a:lnTo>
                <a:lnTo>
                  <a:pt x="321" y="297"/>
                </a:lnTo>
                <a:lnTo>
                  <a:pt x="1098" y="297"/>
                </a:lnTo>
                <a:lnTo>
                  <a:pt x="109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19" name="Freeform 10">
            <a:extLst>
              <a:ext uri="{FF2B5EF4-FFF2-40B4-BE49-F238E27FC236}">
                <a16:creationId xmlns:a16="http://schemas.microsoft.com/office/drawing/2014/main" id="{98B53AE0-4719-5655-6BA0-0E7E9ECB8EC1}"/>
              </a:ext>
            </a:extLst>
          </p:cNvPr>
          <p:cNvSpPr>
            <a:spLocks noGrp="1"/>
          </p:cNvSpPr>
          <p:nvPr/>
        </p:nvSpPr>
        <p:spPr>
          <a:xfrm>
            <a:off x="1489204" y="327819"/>
            <a:ext cx="314238" cy="438124"/>
          </a:xfrm>
          <a:custGeom>
            <a:avLst/>
            <a:gdLst>
              <a:gd name="T0" fmla="*/ 406 w 860"/>
              <a:gd name="T1" fmla="*/ 791 h 1199"/>
              <a:gd name="T2" fmla="*/ 227 w 860"/>
              <a:gd name="T3" fmla="*/ 791 h 1199"/>
              <a:gd name="T4" fmla="*/ 227 w 860"/>
              <a:gd name="T5" fmla="*/ 1199 h 1199"/>
              <a:gd name="T6" fmla="*/ 0 w 860"/>
              <a:gd name="T7" fmla="*/ 1199 h 1199"/>
              <a:gd name="T8" fmla="*/ 0 w 860"/>
              <a:gd name="T9" fmla="*/ 0 h 1199"/>
              <a:gd name="T10" fmla="*/ 406 w 860"/>
              <a:gd name="T11" fmla="*/ 0 h 1199"/>
              <a:gd name="T12" fmla="*/ 860 w 860"/>
              <a:gd name="T13" fmla="*/ 396 h 1199"/>
              <a:gd name="T14" fmla="*/ 406 w 860"/>
              <a:gd name="T15" fmla="*/ 791 h 1199"/>
              <a:gd name="T16" fmla="*/ 394 w 860"/>
              <a:gd name="T17" fmla="*/ 194 h 1199"/>
              <a:gd name="T18" fmla="*/ 227 w 860"/>
              <a:gd name="T19" fmla="*/ 194 h 1199"/>
              <a:gd name="T20" fmla="*/ 227 w 860"/>
              <a:gd name="T21" fmla="*/ 598 h 1199"/>
              <a:gd name="T22" fmla="*/ 394 w 860"/>
              <a:gd name="T23" fmla="*/ 598 h 1199"/>
              <a:gd name="T24" fmla="*/ 621 w 860"/>
              <a:gd name="T25" fmla="*/ 396 h 1199"/>
              <a:gd name="T26" fmla="*/ 394 w 860"/>
              <a:gd name="T27" fmla="*/ 194 h 1199"/>
            </a:gdLst>
            <a:ahLst/>
            <a:cxnLst/>
            <a:rect l="0" t="0" r="r" b="b"/>
            <a:pathLst>
              <a:path w="860" h="1199">
                <a:moveTo>
                  <a:pt x="406" y="791"/>
                </a:moveTo>
                <a:cubicBezTo>
                  <a:pt x="227" y="791"/>
                  <a:pt x="227" y="791"/>
                  <a:pt x="227" y="791"/>
                </a:cubicBezTo>
                <a:cubicBezTo>
                  <a:pt x="227" y="1199"/>
                  <a:pt x="227" y="1199"/>
                  <a:pt x="227" y="1199"/>
                </a:cubicBezTo>
                <a:cubicBezTo>
                  <a:pt x="0" y="1199"/>
                  <a:pt x="0" y="1199"/>
                  <a:pt x="0" y="1199"/>
                </a:cubicBezTo>
                <a:cubicBezTo>
                  <a:pt x="0" y="0"/>
                  <a:pt x="0" y="0"/>
                  <a:pt x="0" y="0"/>
                </a:cubicBezTo>
                <a:cubicBezTo>
                  <a:pt x="406" y="0"/>
                  <a:pt x="406" y="0"/>
                  <a:pt x="406" y="0"/>
                </a:cubicBezTo>
                <a:cubicBezTo>
                  <a:pt x="661" y="0"/>
                  <a:pt x="860" y="116"/>
                  <a:pt x="860" y="396"/>
                </a:cubicBezTo>
                <a:cubicBezTo>
                  <a:pt x="860" y="671"/>
                  <a:pt x="659" y="791"/>
                  <a:pt x="406" y="791"/>
                </a:cubicBezTo>
                <a:moveTo>
                  <a:pt x="394" y="194"/>
                </a:moveTo>
                <a:cubicBezTo>
                  <a:pt x="227" y="194"/>
                  <a:pt x="227" y="194"/>
                  <a:pt x="227" y="194"/>
                </a:cubicBezTo>
                <a:cubicBezTo>
                  <a:pt x="227" y="598"/>
                  <a:pt x="227" y="598"/>
                  <a:pt x="227" y="598"/>
                </a:cubicBezTo>
                <a:cubicBezTo>
                  <a:pt x="394" y="598"/>
                  <a:pt x="394" y="598"/>
                  <a:pt x="394" y="598"/>
                </a:cubicBezTo>
                <a:cubicBezTo>
                  <a:pt x="525" y="598"/>
                  <a:pt x="621" y="534"/>
                  <a:pt x="621" y="396"/>
                </a:cubicBezTo>
                <a:cubicBezTo>
                  <a:pt x="621" y="252"/>
                  <a:pt x="525" y="194"/>
                  <a:pt x="394" y="194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20" name="Freeform 11">
            <a:extLst>
              <a:ext uri="{FF2B5EF4-FFF2-40B4-BE49-F238E27FC236}">
                <a16:creationId xmlns:a16="http://schemas.microsoft.com/office/drawing/2014/main" id="{0AD6D1E9-D44F-9A59-4CB4-033C25A77DAC}"/>
              </a:ext>
            </a:extLst>
          </p:cNvPr>
          <p:cNvSpPr>
            <a:spLocks noGrp="1"/>
          </p:cNvSpPr>
          <p:nvPr/>
        </p:nvSpPr>
        <p:spPr>
          <a:xfrm>
            <a:off x="833311" y="327819"/>
            <a:ext cx="444848" cy="438124"/>
          </a:xfrm>
          <a:custGeom>
            <a:avLst/>
            <a:gdLst>
              <a:gd name="T0" fmla="*/ 1265 w 1720"/>
              <a:gd name="T1" fmla="*/ 0 h 1694"/>
              <a:gd name="T2" fmla="*/ 860 w 1720"/>
              <a:gd name="T3" fmla="*/ 996 h 1694"/>
              <a:gd name="T4" fmla="*/ 456 w 1720"/>
              <a:gd name="T5" fmla="*/ 0 h 1694"/>
              <a:gd name="T6" fmla="*/ 0 w 1720"/>
              <a:gd name="T7" fmla="*/ 0 h 1694"/>
              <a:gd name="T8" fmla="*/ 0 w 1720"/>
              <a:gd name="T9" fmla="*/ 1694 h 1694"/>
              <a:gd name="T10" fmla="*/ 303 w 1720"/>
              <a:gd name="T11" fmla="*/ 1694 h 1694"/>
              <a:gd name="T12" fmla="*/ 303 w 1720"/>
              <a:gd name="T13" fmla="*/ 428 h 1694"/>
              <a:gd name="T14" fmla="*/ 692 w 1720"/>
              <a:gd name="T15" fmla="*/ 1321 h 1694"/>
              <a:gd name="T16" fmla="*/ 709 w 1720"/>
              <a:gd name="T17" fmla="*/ 1321 h 1694"/>
              <a:gd name="T18" fmla="*/ 1012 w 1720"/>
              <a:gd name="T19" fmla="*/ 1321 h 1694"/>
              <a:gd name="T20" fmla="*/ 1029 w 1720"/>
              <a:gd name="T21" fmla="*/ 1321 h 1694"/>
              <a:gd name="T22" fmla="*/ 1416 w 1720"/>
              <a:gd name="T23" fmla="*/ 428 h 1694"/>
              <a:gd name="T24" fmla="*/ 1416 w 1720"/>
              <a:gd name="T25" fmla="*/ 1694 h 1694"/>
              <a:gd name="T26" fmla="*/ 1720 w 1720"/>
              <a:gd name="T27" fmla="*/ 1694 h 1694"/>
              <a:gd name="T28" fmla="*/ 1720 w 1720"/>
              <a:gd name="T29" fmla="*/ 0 h 1694"/>
              <a:gd name="T30" fmla="*/ 1265 w 1720"/>
              <a:gd name="T31" fmla="*/ 0 h 1694"/>
            </a:gdLst>
            <a:ahLst/>
            <a:cxnLst/>
            <a:rect l="0" t="0" r="r" b="b"/>
            <a:pathLst>
              <a:path w="1720" h="1694">
                <a:moveTo>
                  <a:pt x="1265" y="0"/>
                </a:moveTo>
                <a:lnTo>
                  <a:pt x="860" y="996"/>
                </a:lnTo>
                <a:lnTo>
                  <a:pt x="456" y="0"/>
                </a:lnTo>
                <a:lnTo>
                  <a:pt x="0" y="0"/>
                </a:lnTo>
                <a:lnTo>
                  <a:pt x="0" y="1694"/>
                </a:lnTo>
                <a:lnTo>
                  <a:pt x="303" y="1694"/>
                </a:lnTo>
                <a:lnTo>
                  <a:pt x="303" y="428"/>
                </a:lnTo>
                <a:lnTo>
                  <a:pt x="692" y="1321"/>
                </a:lnTo>
                <a:lnTo>
                  <a:pt x="709" y="1321"/>
                </a:lnTo>
                <a:lnTo>
                  <a:pt x="1012" y="1321"/>
                </a:lnTo>
                <a:lnTo>
                  <a:pt x="1029" y="1321"/>
                </a:lnTo>
                <a:lnTo>
                  <a:pt x="1416" y="428"/>
                </a:lnTo>
                <a:lnTo>
                  <a:pt x="1416" y="1694"/>
                </a:lnTo>
                <a:lnTo>
                  <a:pt x="1720" y="1694"/>
                </a:lnTo>
                <a:lnTo>
                  <a:pt x="1720" y="0"/>
                </a:lnTo>
                <a:lnTo>
                  <a:pt x="126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21" name="Freeform 12">
            <a:extLst>
              <a:ext uri="{FF2B5EF4-FFF2-40B4-BE49-F238E27FC236}">
                <a16:creationId xmlns:a16="http://schemas.microsoft.com/office/drawing/2014/main" id="{F58ED361-0E2C-77F6-2830-FBB60D746483}"/>
              </a:ext>
            </a:extLst>
          </p:cNvPr>
          <p:cNvSpPr>
            <a:spLocks noGrp="1"/>
          </p:cNvSpPr>
          <p:nvPr/>
        </p:nvSpPr>
        <p:spPr>
          <a:xfrm>
            <a:off x="330271" y="327819"/>
            <a:ext cx="287858" cy="438124"/>
          </a:xfrm>
          <a:custGeom>
            <a:avLst/>
            <a:gdLst>
              <a:gd name="T0" fmla="*/ 0 w 1113"/>
              <a:gd name="T1" fmla="*/ 0 h 1694"/>
              <a:gd name="T2" fmla="*/ 0 w 1113"/>
              <a:gd name="T3" fmla="*/ 297 h 1694"/>
              <a:gd name="T4" fmla="*/ 397 w 1113"/>
              <a:gd name="T5" fmla="*/ 297 h 1694"/>
              <a:gd name="T6" fmla="*/ 397 w 1113"/>
              <a:gd name="T7" fmla="*/ 1397 h 1694"/>
              <a:gd name="T8" fmla="*/ 0 w 1113"/>
              <a:gd name="T9" fmla="*/ 1397 h 1694"/>
              <a:gd name="T10" fmla="*/ 0 w 1113"/>
              <a:gd name="T11" fmla="*/ 1694 h 1694"/>
              <a:gd name="T12" fmla="*/ 1113 w 1113"/>
              <a:gd name="T13" fmla="*/ 1694 h 1694"/>
              <a:gd name="T14" fmla="*/ 1113 w 1113"/>
              <a:gd name="T15" fmla="*/ 1397 h 1694"/>
              <a:gd name="T16" fmla="*/ 717 w 1113"/>
              <a:gd name="T17" fmla="*/ 1397 h 1694"/>
              <a:gd name="T18" fmla="*/ 717 w 1113"/>
              <a:gd name="T19" fmla="*/ 297 h 1694"/>
              <a:gd name="T20" fmla="*/ 1113 w 1113"/>
              <a:gd name="T21" fmla="*/ 297 h 1694"/>
              <a:gd name="T22" fmla="*/ 1113 w 1113"/>
              <a:gd name="T23" fmla="*/ 0 h 1694"/>
              <a:gd name="T24" fmla="*/ 0 w 1113"/>
              <a:gd name="T25" fmla="*/ 0 h 1694"/>
            </a:gdLst>
            <a:ahLst/>
            <a:cxnLst/>
            <a:rect l="0" t="0" r="r" b="b"/>
            <a:pathLst>
              <a:path w="1113" h="1694">
                <a:moveTo>
                  <a:pt x="0" y="0"/>
                </a:moveTo>
                <a:lnTo>
                  <a:pt x="0" y="297"/>
                </a:lnTo>
                <a:lnTo>
                  <a:pt x="397" y="297"/>
                </a:lnTo>
                <a:lnTo>
                  <a:pt x="397" y="1397"/>
                </a:lnTo>
                <a:lnTo>
                  <a:pt x="0" y="1397"/>
                </a:lnTo>
                <a:lnTo>
                  <a:pt x="0" y="1694"/>
                </a:lnTo>
                <a:lnTo>
                  <a:pt x="1113" y="1694"/>
                </a:lnTo>
                <a:lnTo>
                  <a:pt x="1113" y="1397"/>
                </a:lnTo>
                <a:lnTo>
                  <a:pt x="717" y="1397"/>
                </a:lnTo>
                <a:lnTo>
                  <a:pt x="717" y="297"/>
                </a:lnTo>
                <a:lnTo>
                  <a:pt x="1113" y="297"/>
                </a:lnTo>
                <a:lnTo>
                  <a:pt x="1113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8941CFE3-E9FE-BA73-2A08-4753061CC43F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330271" y="5789336"/>
            <a:ext cx="5579198" cy="740845"/>
          </a:xfrm>
        </p:spPr>
        <p:txBody>
          <a:bodyPr anchor="b"/>
          <a:lstStyle>
            <a:lvl1pPr>
              <a:buNone/>
              <a:defRPr sz="2200" b="1">
                <a:solidFill>
                  <a:schemeClr val="accent1"/>
                </a:solidFill>
                <a:latin typeface="+mn-lt"/>
                <a:ea typeface="+mn-lt"/>
                <a:cs typeface="+mn-lt"/>
              </a:defRPr>
            </a:lvl1pPr>
            <a:lvl2pPr>
              <a:buNone/>
              <a:defRPr sz="2200">
                <a:solidFill>
                  <a:schemeClr val="accent1"/>
                </a:solidFill>
              </a:defRPr>
            </a:lvl2pPr>
            <a:lvl3pPr>
              <a:buNone/>
              <a:defRPr sz="2200">
                <a:solidFill>
                  <a:schemeClr val="accent1"/>
                </a:solidFill>
                <a:latin typeface="+mn-lt"/>
                <a:ea typeface="+mn-lt"/>
                <a:cs typeface="+mn-lt"/>
              </a:defRPr>
            </a:lvl3pPr>
            <a:lvl4pPr>
              <a:buNone/>
              <a:defRPr sz="2200">
                <a:solidFill>
                  <a:schemeClr val="accent1"/>
                </a:solidFill>
                <a:latin typeface="+mn-lt"/>
                <a:ea typeface="+mn-lt"/>
                <a:cs typeface="+mn-lt"/>
              </a:defRPr>
            </a:lvl4pPr>
            <a:lvl5pPr>
              <a:buNone/>
              <a:defRPr sz="2200">
                <a:solidFill>
                  <a:schemeClr val="accent1"/>
                </a:solidFill>
                <a:latin typeface="+mn-lt"/>
                <a:ea typeface="+mn-lt"/>
                <a:cs typeface="+mn-lt"/>
              </a:defRPr>
            </a:lvl5pPr>
            <a:lvl6pPr>
              <a:buNone/>
              <a:defRPr>
                <a:latin typeface="+mn-lt"/>
                <a:ea typeface="+mn-lt"/>
                <a:cs typeface="+mn-lt"/>
              </a:defRPr>
            </a:lvl6pPr>
          </a:lstStyle>
          <a:p>
            <a:pPr lvl="0">
              <a:buNone/>
            </a:pPr>
            <a: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C1E3-6A7C-C21D-910D-C4B7DFFF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271" y="3338719"/>
            <a:ext cx="9144000" cy="1828406"/>
          </a:xfrm>
        </p:spPr>
        <p:txBody>
          <a:bodyPr anchor="t"/>
          <a:lstStyle>
            <a:lvl1pPr algn="l">
              <a:buNone/>
              <a:defRPr sz="6400">
                <a:solidFill>
                  <a:schemeClr val="accent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4" name="Freeform 5">
            <a:extLst>
              <a:ext uri="{FF2B5EF4-FFF2-40B4-BE49-F238E27FC236}">
                <a16:creationId xmlns:a16="http://schemas.microsoft.com/office/drawing/2014/main" id="{FB1AA775-4CCE-276F-2BCF-CDB5A9211FDB}"/>
              </a:ext>
            </a:extLst>
          </p:cNvPr>
          <p:cNvSpPr>
            <a:spLocks noGrp="1"/>
          </p:cNvSpPr>
          <p:nvPr/>
        </p:nvSpPr>
        <p:spPr>
          <a:xfrm>
            <a:off x="4018633" y="327819"/>
            <a:ext cx="284237" cy="438124"/>
          </a:xfrm>
          <a:custGeom>
            <a:avLst/>
            <a:gdLst>
              <a:gd name="T0" fmla="*/ 0 w 1099"/>
              <a:gd name="T1" fmla="*/ 0 h 1694"/>
              <a:gd name="T2" fmla="*/ 0 w 1099"/>
              <a:gd name="T3" fmla="*/ 1694 h 1694"/>
              <a:gd name="T4" fmla="*/ 1099 w 1099"/>
              <a:gd name="T5" fmla="*/ 1694 h 1694"/>
              <a:gd name="T6" fmla="*/ 1099 w 1099"/>
              <a:gd name="T7" fmla="*/ 1397 h 1694"/>
              <a:gd name="T8" fmla="*/ 319 w 1099"/>
              <a:gd name="T9" fmla="*/ 1397 h 1694"/>
              <a:gd name="T10" fmla="*/ 319 w 1099"/>
              <a:gd name="T11" fmla="*/ 0 h 1694"/>
              <a:gd name="T12" fmla="*/ 0 w 1099"/>
              <a:gd name="T13" fmla="*/ 0 h 1694"/>
            </a:gdLst>
            <a:ahLst/>
            <a:cxnLst/>
            <a:rect l="0" t="0" r="r" b="b"/>
            <a:pathLst>
              <a:path w="1099" h="1694">
                <a:moveTo>
                  <a:pt x="0" y="0"/>
                </a:moveTo>
                <a:lnTo>
                  <a:pt x="0" y="1694"/>
                </a:lnTo>
                <a:lnTo>
                  <a:pt x="1099" y="1694"/>
                </a:lnTo>
                <a:lnTo>
                  <a:pt x="1099" y="1397"/>
                </a:lnTo>
                <a:lnTo>
                  <a:pt x="319" y="1397"/>
                </a:lnTo>
                <a:lnTo>
                  <a:pt x="31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5" name="Freeform 6">
            <a:extLst>
              <a:ext uri="{FF2B5EF4-FFF2-40B4-BE49-F238E27FC236}">
                <a16:creationId xmlns:a16="http://schemas.microsoft.com/office/drawing/2014/main" id="{D0FDD9D0-D471-8D20-94AE-C3BC73F88F8D}"/>
              </a:ext>
            </a:extLst>
          </p:cNvPr>
          <p:cNvSpPr>
            <a:spLocks noGrp="1"/>
          </p:cNvSpPr>
          <p:nvPr/>
        </p:nvSpPr>
        <p:spPr>
          <a:xfrm>
            <a:off x="3434382" y="327819"/>
            <a:ext cx="397001" cy="438124"/>
          </a:xfrm>
          <a:custGeom>
            <a:avLst/>
            <a:gdLst>
              <a:gd name="T0" fmla="*/ 556 w 1535"/>
              <a:gd name="T1" fmla="*/ 0 h 1694"/>
              <a:gd name="T2" fmla="*/ 0 w 1535"/>
              <a:gd name="T3" fmla="*/ 1694 h 1694"/>
              <a:gd name="T4" fmla="*/ 337 w 1535"/>
              <a:gd name="T5" fmla="*/ 1694 h 1694"/>
              <a:gd name="T6" fmla="*/ 453 w 1535"/>
              <a:gd name="T7" fmla="*/ 1321 h 1694"/>
              <a:gd name="T8" fmla="*/ 1083 w 1535"/>
              <a:gd name="T9" fmla="*/ 1321 h 1694"/>
              <a:gd name="T10" fmla="*/ 1197 w 1535"/>
              <a:gd name="T11" fmla="*/ 1694 h 1694"/>
              <a:gd name="T12" fmla="*/ 1535 w 1535"/>
              <a:gd name="T13" fmla="*/ 1694 h 1694"/>
              <a:gd name="T14" fmla="*/ 978 w 1535"/>
              <a:gd name="T15" fmla="*/ 0 h 1694"/>
              <a:gd name="T16" fmla="*/ 556 w 1535"/>
              <a:gd name="T17" fmla="*/ 0 h 1694"/>
              <a:gd name="T18" fmla="*/ 768 w 1535"/>
              <a:gd name="T19" fmla="*/ 301 h 1694"/>
              <a:gd name="T20" fmla="*/ 998 w 1535"/>
              <a:gd name="T21" fmla="*/ 1048 h 1694"/>
              <a:gd name="T22" fmla="*/ 536 w 1535"/>
              <a:gd name="T23" fmla="*/ 1048 h 1694"/>
              <a:gd name="T24" fmla="*/ 768 w 1535"/>
              <a:gd name="T25" fmla="*/ 301 h 1694"/>
            </a:gdLst>
            <a:ahLst/>
            <a:cxnLst/>
            <a:rect l="0" t="0" r="r" b="b"/>
            <a:pathLst>
              <a:path w="1535" h="1694">
                <a:moveTo>
                  <a:pt x="556" y="0"/>
                </a:moveTo>
                <a:lnTo>
                  <a:pt x="0" y="1694"/>
                </a:lnTo>
                <a:lnTo>
                  <a:pt x="337" y="1694"/>
                </a:lnTo>
                <a:lnTo>
                  <a:pt x="453" y="1321"/>
                </a:lnTo>
                <a:lnTo>
                  <a:pt x="1083" y="1321"/>
                </a:lnTo>
                <a:lnTo>
                  <a:pt x="1197" y="1694"/>
                </a:lnTo>
                <a:lnTo>
                  <a:pt x="1535" y="1694"/>
                </a:lnTo>
                <a:lnTo>
                  <a:pt x="978" y="0"/>
                </a:lnTo>
                <a:lnTo>
                  <a:pt x="556" y="0"/>
                </a:lnTo>
                <a:close/>
                <a:moveTo>
                  <a:pt x="768" y="301"/>
                </a:moveTo>
                <a:lnTo>
                  <a:pt x="998" y="1048"/>
                </a:lnTo>
                <a:lnTo>
                  <a:pt x="536" y="1048"/>
                </a:lnTo>
                <a:lnTo>
                  <a:pt x="768" y="30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6" name="Freeform 7">
            <a:extLst>
              <a:ext uri="{FF2B5EF4-FFF2-40B4-BE49-F238E27FC236}">
                <a16:creationId xmlns:a16="http://schemas.microsoft.com/office/drawing/2014/main" id="{CD6C2A08-9069-9582-5D59-A51210F8CB78}"/>
              </a:ext>
            </a:extLst>
          </p:cNvPr>
          <p:cNvSpPr>
            <a:spLocks noGrp="1"/>
          </p:cNvSpPr>
          <p:nvPr/>
        </p:nvSpPr>
        <p:spPr>
          <a:xfrm>
            <a:off x="2981257" y="327819"/>
            <a:ext cx="287858" cy="438124"/>
          </a:xfrm>
          <a:custGeom>
            <a:avLst/>
            <a:gdLst>
              <a:gd name="T0" fmla="*/ 0 w 1113"/>
              <a:gd name="T1" fmla="*/ 0 h 1694"/>
              <a:gd name="T2" fmla="*/ 0 w 1113"/>
              <a:gd name="T3" fmla="*/ 297 h 1694"/>
              <a:gd name="T4" fmla="*/ 396 w 1113"/>
              <a:gd name="T5" fmla="*/ 297 h 1694"/>
              <a:gd name="T6" fmla="*/ 396 w 1113"/>
              <a:gd name="T7" fmla="*/ 1397 h 1694"/>
              <a:gd name="T8" fmla="*/ 0 w 1113"/>
              <a:gd name="T9" fmla="*/ 1397 h 1694"/>
              <a:gd name="T10" fmla="*/ 0 w 1113"/>
              <a:gd name="T11" fmla="*/ 1694 h 1694"/>
              <a:gd name="T12" fmla="*/ 1113 w 1113"/>
              <a:gd name="T13" fmla="*/ 1694 h 1694"/>
              <a:gd name="T14" fmla="*/ 1113 w 1113"/>
              <a:gd name="T15" fmla="*/ 1397 h 1694"/>
              <a:gd name="T16" fmla="*/ 716 w 1113"/>
              <a:gd name="T17" fmla="*/ 1397 h 1694"/>
              <a:gd name="T18" fmla="*/ 716 w 1113"/>
              <a:gd name="T19" fmla="*/ 297 h 1694"/>
              <a:gd name="T20" fmla="*/ 1113 w 1113"/>
              <a:gd name="T21" fmla="*/ 297 h 1694"/>
              <a:gd name="T22" fmla="*/ 1113 w 1113"/>
              <a:gd name="T23" fmla="*/ 0 h 1694"/>
              <a:gd name="T24" fmla="*/ 0 w 1113"/>
              <a:gd name="T25" fmla="*/ 0 h 1694"/>
            </a:gdLst>
            <a:ahLst/>
            <a:cxnLst/>
            <a:rect l="0" t="0" r="r" b="b"/>
            <a:pathLst>
              <a:path w="1113" h="1694">
                <a:moveTo>
                  <a:pt x="0" y="0"/>
                </a:moveTo>
                <a:lnTo>
                  <a:pt x="0" y="297"/>
                </a:lnTo>
                <a:lnTo>
                  <a:pt x="396" y="297"/>
                </a:lnTo>
                <a:lnTo>
                  <a:pt x="396" y="1397"/>
                </a:lnTo>
                <a:lnTo>
                  <a:pt x="0" y="1397"/>
                </a:lnTo>
                <a:lnTo>
                  <a:pt x="0" y="1694"/>
                </a:lnTo>
                <a:lnTo>
                  <a:pt x="1113" y="1694"/>
                </a:lnTo>
                <a:lnTo>
                  <a:pt x="1113" y="1397"/>
                </a:lnTo>
                <a:lnTo>
                  <a:pt x="716" y="1397"/>
                </a:lnTo>
                <a:lnTo>
                  <a:pt x="716" y="297"/>
                </a:lnTo>
                <a:lnTo>
                  <a:pt x="1113" y="297"/>
                </a:lnTo>
                <a:lnTo>
                  <a:pt x="1113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610C2D08-4FE4-C1FC-5226-E7A45B13D658}"/>
              </a:ext>
            </a:extLst>
          </p:cNvPr>
          <p:cNvSpPr>
            <a:spLocks noGrp="1"/>
          </p:cNvSpPr>
          <p:nvPr/>
        </p:nvSpPr>
        <p:spPr>
          <a:xfrm>
            <a:off x="2467353" y="327819"/>
            <a:ext cx="340619" cy="438124"/>
          </a:xfrm>
          <a:custGeom>
            <a:avLst/>
            <a:gdLst>
              <a:gd name="T0" fmla="*/ 884 w 932"/>
              <a:gd name="T1" fmla="*/ 372 h 1199"/>
              <a:gd name="T2" fmla="*/ 442 w 932"/>
              <a:gd name="T3" fmla="*/ 0 h 1199"/>
              <a:gd name="T4" fmla="*/ 0 w 932"/>
              <a:gd name="T5" fmla="*/ 0 h 1199"/>
              <a:gd name="T6" fmla="*/ 0 w 932"/>
              <a:gd name="T7" fmla="*/ 1199 h 1199"/>
              <a:gd name="T8" fmla="*/ 227 w 932"/>
              <a:gd name="T9" fmla="*/ 1199 h 1199"/>
              <a:gd name="T10" fmla="*/ 227 w 932"/>
              <a:gd name="T11" fmla="*/ 755 h 1199"/>
              <a:gd name="T12" fmla="*/ 418 w 932"/>
              <a:gd name="T13" fmla="*/ 755 h 1199"/>
              <a:gd name="T14" fmla="*/ 450 w 932"/>
              <a:gd name="T15" fmla="*/ 755 h 1199"/>
              <a:gd name="T16" fmla="*/ 681 w 932"/>
              <a:gd name="T17" fmla="*/ 1199 h 1199"/>
              <a:gd name="T18" fmla="*/ 932 w 932"/>
              <a:gd name="T19" fmla="*/ 1199 h 1199"/>
              <a:gd name="T20" fmla="*/ 676 w 932"/>
              <a:gd name="T21" fmla="*/ 707 h 1199"/>
              <a:gd name="T22" fmla="*/ 884 w 932"/>
              <a:gd name="T23" fmla="*/ 372 h 1199"/>
              <a:gd name="T24" fmla="*/ 645 w 932"/>
              <a:gd name="T25" fmla="*/ 372 h 1199"/>
              <a:gd name="T26" fmla="*/ 418 w 932"/>
              <a:gd name="T27" fmla="*/ 562 h 1199"/>
              <a:gd name="T28" fmla="*/ 227 w 932"/>
              <a:gd name="T29" fmla="*/ 562 h 1199"/>
              <a:gd name="T30" fmla="*/ 227 w 932"/>
              <a:gd name="T31" fmla="*/ 194 h 1199"/>
              <a:gd name="T32" fmla="*/ 418 w 932"/>
              <a:gd name="T33" fmla="*/ 194 h 1199"/>
              <a:gd name="T34" fmla="*/ 645 w 932"/>
              <a:gd name="T35" fmla="*/ 372 h 1199"/>
            </a:gdLst>
            <a:ahLst/>
            <a:cxnLst/>
            <a:rect l="0" t="0" r="r" b="b"/>
            <a:pathLst>
              <a:path w="932" h="1199">
                <a:moveTo>
                  <a:pt x="884" y="372"/>
                </a:moveTo>
                <a:cubicBezTo>
                  <a:pt x="884" y="92"/>
                  <a:pt x="693" y="0"/>
                  <a:pt x="442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199"/>
                  <a:pt x="0" y="1199"/>
                  <a:pt x="0" y="1199"/>
                </a:cubicBezTo>
                <a:cubicBezTo>
                  <a:pt x="227" y="1199"/>
                  <a:pt x="227" y="1199"/>
                  <a:pt x="227" y="1199"/>
                </a:cubicBezTo>
                <a:cubicBezTo>
                  <a:pt x="227" y="755"/>
                  <a:pt x="227" y="755"/>
                  <a:pt x="227" y="755"/>
                </a:cubicBezTo>
                <a:cubicBezTo>
                  <a:pt x="418" y="755"/>
                  <a:pt x="418" y="755"/>
                  <a:pt x="418" y="755"/>
                </a:cubicBezTo>
                <a:cubicBezTo>
                  <a:pt x="429" y="755"/>
                  <a:pt x="439" y="755"/>
                  <a:pt x="450" y="755"/>
                </a:cubicBezTo>
                <a:cubicBezTo>
                  <a:pt x="681" y="1199"/>
                  <a:pt x="681" y="1199"/>
                  <a:pt x="681" y="1199"/>
                </a:cubicBezTo>
                <a:cubicBezTo>
                  <a:pt x="932" y="1199"/>
                  <a:pt x="932" y="1199"/>
                  <a:pt x="932" y="1199"/>
                </a:cubicBezTo>
                <a:cubicBezTo>
                  <a:pt x="676" y="707"/>
                  <a:pt x="676" y="707"/>
                  <a:pt x="676" y="707"/>
                </a:cubicBezTo>
                <a:cubicBezTo>
                  <a:pt x="801" y="652"/>
                  <a:pt x="884" y="545"/>
                  <a:pt x="884" y="372"/>
                </a:cubicBezTo>
                <a:moveTo>
                  <a:pt x="645" y="372"/>
                </a:moveTo>
                <a:cubicBezTo>
                  <a:pt x="645" y="516"/>
                  <a:pt x="562" y="562"/>
                  <a:pt x="418" y="562"/>
                </a:cubicBezTo>
                <a:cubicBezTo>
                  <a:pt x="227" y="562"/>
                  <a:pt x="227" y="562"/>
                  <a:pt x="227" y="562"/>
                </a:cubicBezTo>
                <a:cubicBezTo>
                  <a:pt x="227" y="194"/>
                  <a:pt x="227" y="194"/>
                  <a:pt x="227" y="194"/>
                </a:cubicBezTo>
                <a:cubicBezTo>
                  <a:pt x="418" y="194"/>
                  <a:pt x="418" y="194"/>
                  <a:pt x="418" y="194"/>
                </a:cubicBezTo>
                <a:cubicBezTo>
                  <a:pt x="574" y="194"/>
                  <a:pt x="645" y="252"/>
                  <a:pt x="645" y="372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8010D1AF-A77E-06AA-9B05-D1DD5EE83096}"/>
              </a:ext>
            </a:extLst>
          </p:cNvPr>
          <p:cNvSpPr>
            <a:spLocks noGrp="1"/>
          </p:cNvSpPr>
          <p:nvPr/>
        </p:nvSpPr>
        <p:spPr>
          <a:xfrm>
            <a:off x="1977503" y="327819"/>
            <a:ext cx="283978" cy="438124"/>
          </a:xfrm>
          <a:custGeom>
            <a:avLst/>
            <a:gdLst>
              <a:gd name="T0" fmla="*/ 0 w 1098"/>
              <a:gd name="T1" fmla="*/ 0 h 1694"/>
              <a:gd name="T2" fmla="*/ 0 w 1098"/>
              <a:gd name="T3" fmla="*/ 1694 h 1694"/>
              <a:gd name="T4" fmla="*/ 1098 w 1098"/>
              <a:gd name="T5" fmla="*/ 1694 h 1694"/>
              <a:gd name="T6" fmla="*/ 1098 w 1098"/>
              <a:gd name="T7" fmla="*/ 1397 h 1694"/>
              <a:gd name="T8" fmla="*/ 321 w 1098"/>
              <a:gd name="T9" fmla="*/ 1397 h 1694"/>
              <a:gd name="T10" fmla="*/ 321 w 1098"/>
              <a:gd name="T11" fmla="*/ 973 h 1694"/>
              <a:gd name="T12" fmla="*/ 1030 w 1098"/>
              <a:gd name="T13" fmla="*/ 973 h 1694"/>
              <a:gd name="T14" fmla="*/ 1030 w 1098"/>
              <a:gd name="T15" fmla="*/ 687 h 1694"/>
              <a:gd name="T16" fmla="*/ 321 w 1098"/>
              <a:gd name="T17" fmla="*/ 687 h 1694"/>
              <a:gd name="T18" fmla="*/ 321 w 1098"/>
              <a:gd name="T19" fmla="*/ 297 h 1694"/>
              <a:gd name="T20" fmla="*/ 1098 w 1098"/>
              <a:gd name="T21" fmla="*/ 297 h 1694"/>
              <a:gd name="T22" fmla="*/ 1098 w 1098"/>
              <a:gd name="T23" fmla="*/ 0 h 1694"/>
              <a:gd name="T24" fmla="*/ 0 w 1098"/>
              <a:gd name="T25" fmla="*/ 0 h 1694"/>
            </a:gdLst>
            <a:ahLst/>
            <a:cxnLst/>
            <a:rect l="0" t="0" r="r" b="b"/>
            <a:pathLst>
              <a:path w="1098" h="1694">
                <a:moveTo>
                  <a:pt x="0" y="0"/>
                </a:moveTo>
                <a:lnTo>
                  <a:pt x="0" y="1694"/>
                </a:lnTo>
                <a:lnTo>
                  <a:pt x="1098" y="1694"/>
                </a:lnTo>
                <a:lnTo>
                  <a:pt x="1098" y="1397"/>
                </a:lnTo>
                <a:lnTo>
                  <a:pt x="321" y="1397"/>
                </a:lnTo>
                <a:lnTo>
                  <a:pt x="321" y="973"/>
                </a:lnTo>
                <a:lnTo>
                  <a:pt x="1030" y="973"/>
                </a:lnTo>
                <a:lnTo>
                  <a:pt x="1030" y="687"/>
                </a:lnTo>
                <a:lnTo>
                  <a:pt x="321" y="687"/>
                </a:lnTo>
                <a:lnTo>
                  <a:pt x="321" y="297"/>
                </a:lnTo>
                <a:lnTo>
                  <a:pt x="1098" y="297"/>
                </a:lnTo>
                <a:lnTo>
                  <a:pt x="109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19" name="Freeform 10">
            <a:extLst>
              <a:ext uri="{FF2B5EF4-FFF2-40B4-BE49-F238E27FC236}">
                <a16:creationId xmlns:a16="http://schemas.microsoft.com/office/drawing/2014/main" id="{98B53AE0-4719-5655-6BA0-0E7E9ECB8EC1}"/>
              </a:ext>
            </a:extLst>
          </p:cNvPr>
          <p:cNvSpPr>
            <a:spLocks noGrp="1"/>
          </p:cNvSpPr>
          <p:nvPr/>
        </p:nvSpPr>
        <p:spPr>
          <a:xfrm>
            <a:off x="1489204" y="327819"/>
            <a:ext cx="314238" cy="438124"/>
          </a:xfrm>
          <a:custGeom>
            <a:avLst/>
            <a:gdLst>
              <a:gd name="T0" fmla="*/ 406 w 860"/>
              <a:gd name="T1" fmla="*/ 791 h 1199"/>
              <a:gd name="T2" fmla="*/ 227 w 860"/>
              <a:gd name="T3" fmla="*/ 791 h 1199"/>
              <a:gd name="T4" fmla="*/ 227 w 860"/>
              <a:gd name="T5" fmla="*/ 1199 h 1199"/>
              <a:gd name="T6" fmla="*/ 0 w 860"/>
              <a:gd name="T7" fmla="*/ 1199 h 1199"/>
              <a:gd name="T8" fmla="*/ 0 w 860"/>
              <a:gd name="T9" fmla="*/ 0 h 1199"/>
              <a:gd name="T10" fmla="*/ 406 w 860"/>
              <a:gd name="T11" fmla="*/ 0 h 1199"/>
              <a:gd name="T12" fmla="*/ 860 w 860"/>
              <a:gd name="T13" fmla="*/ 396 h 1199"/>
              <a:gd name="T14" fmla="*/ 406 w 860"/>
              <a:gd name="T15" fmla="*/ 791 h 1199"/>
              <a:gd name="T16" fmla="*/ 394 w 860"/>
              <a:gd name="T17" fmla="*/ 194 h 1199"/>
              <a:gd name="T18" fmla="*/ 227 w 860"/>
              <a:gd name="T19" fmla="*/ 194 h 1199"/>
              <a:gd name="T20" fmla="*/ 227 w 860"/>
              <a:gd name="T21" fmla="*/ 598 h 1199"/>
              <a:gd name="T22" fmla="*/ 394 w 860"/>
              <a:gd name="T23" fmla="*/ 598 h 1199"/>
              <a:gd name="T24" fmla="*/ 621 w 860"/>
              <a:gd name="T25" fmla="*/ 396 h 1199"/>
              <a:gd name="T26" fmla="*/ 394 w 860"/>
              <a:gd name="T27" fmla="*/ 194 h 1199"/>
            </a:gdLst>
            <a:ahLst/>
            <a:cxnLst/>
            <a:rect l="0" t="0" r="r" b="b"/>
            <a:pathLst>
              <a:path w="860" h="1199">
                <a:moveTo>
                  <a:pt x="406" y="791"/>
                </a:moveTo>
                <a:cubicBezTo>
                  <a:pt x="227" y="791"/>
                  <a:pt x="227" y="791"/>
                  <a:pt x="227" y="791"/>
                </a:cubicBezTo>
                <a:cubicBezTo>
                  <a:pt x="227" y="1199"/>
                  <a:pt x="227" y="1199"/>
                  <a:pt x="227" y="1199"/>
                </a:cubicBezTo>
                <a:cubicBezTo>
                  <a:pt x="0" y="1199"/>
                  <a:pt x="0" y="1199"/>
                  <a:pt x="0" y="1199"/>
                </a:cubicBezTo>
                <a:cubicBezTo>
                  <a:pt x="0" y="0"/>
                  <a:pt x="0" y="0"/>
                  <a:pt x="0" y="0"/>
                </a:cubicBezTo>
                <a:cubicBezTo>
                  <a:pt x="406" y="0"/>
                  <a:pt x="406" y="0"/>
                  <a:pt x="406" y="0"/>
                </a:cubicBezTo>
                <a:cubicBezTo>
                  <a:pt x="661" y="0"/>
                  <a:pt x="860" y="116"/>
                  <a:pt x="860" y="396"/>
                </a:cubicBezTo>
                <a:cubicBezTo>
                  <a:pt x="860" y="671"/>
                  <a:pt x="659" y="791"/>
                  <a:pt x="406" y="791"/>
                </a:cubicBezTo>
                <a:moveTo>
                  <a:pt x="394" y="194"/>
                </a:moveTo>
                <a:cubicBezTo>
                  <a:pt x="227" y="194"/>
                  <a:pt x="227" y="194"/>
                  <a:pt x="227" y="194"/>
                </a:cubicBezTo>
                <a:cubicBezTo>
                  <a:pt x="227" y="598"/>
                  <a:pt x="227" y="598"/>
                  <a:pt x="227" y="598"/>
                </a:cubicBezTo>
                <a:cubicBezTo>
                  <a:pt x="394" y="598"/>
                  <a:pt x="394" y="598"/>
                  <a:pt x="394" y="598"/>
                </a:cubicBezTo>
                <a:cubicBezTo>
                  <a:pt x="525" y="598"/>
                  <a:pt x="621" y="534"/>
                  <a:pt x="621" y="396"/>
                </a:cubicBezTo>
                <a:cubicBezTo>
                  <a:pt x="621" y="252"/>
                  <a:pt x="525" y="194"/>
                  <a:pt x="394" y="194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20" name="Freeform 11">
            <a:extLst>
              <a:ext uri="{FF2B5EF4-FFF2-40B4-BE49-F238E27FC236}">
                <a16:creationId xmlns:a16="http://schemas.microsoft.com/office/drawing/2014/main" id="{0AD6D1E9-D44F-9A59-4CB4-033C25A77DAC}"/>
              </a:ext>
            </a:extLst>
          </p:cNvPr>
          <p:cNvSpPr>
            <a:spLocks noGrp="1"/>
          </p:cNvSpPr>
          <p:nvPr/>
        </p:nvSpPr>
        <p:spPr>
          <a:xfrm>
            <a:off x="833311" y="327819"/>
            <a:ext cx="444848" cy="438124"/>
          </a:xfrm>
          <a:custGeom>
            <a:avLst/>
            <a:gdLst>
              <a:gd name="T0" fmla="*/ 1265 w 1720"/>
              <a:gd name="T1" fmla="*/ 0 h 1694"/>
              <a:gd name="T2" fmla="*/ 860 w 1720"/>
              <a:gd name="T3" fmla="*/ 996 h 1694"/>
              <a:gd name="T4" fmla="*/ 456 w 1720"/>
              <a:gd name="T5" fmla="*/ 0 h 1694"/>
              <a:gd name="T6" fmla="*/ 0 w 1720"/>
              <a:gd name="T7" fmla="*/ 0 h 1694"/>
              <a:gd name="T8" fmla="*/ 0 w 1720"/>
              <a:gd name="T9" fmla="*/ 1694 h 1694"/>
              <a:gd name="T10" fmla="*/ 303 w 1720"/>
              <a:gd name="T11" fmla="*/ 1694 h 1694"/>
              <a:gd name="T12" fmla="*/ 303 w 1720"/>
              <a:gd name="T13" fmla="*/ 428 h 1694"/>
              <a:gd name="T14" fmla="*/ 692 w 1720"/>
              <a:gd name="T15" fmla="*/ 1321 h 1694"/>
              <a:gd name="T16" fmla="*/ 709 w 1720"/>
              <a:gd name="T17" fmla="*/ 1321 h 1694"/>
              <a:gd name="T18" fmla="*/ 1012 w 1720"/>
              <a:gd name="T19" fmla="*/ 1321 h 1694"/>
              <a:gd name="T20" fmla="*/ 1029 w 1720"/>
              <a:gd name="T21" fmla="*/ 1321 h 1694"/>
              <a:gd name="T22" fmla="*/ 1416 w 1720"/>
              <a:gd name="T23" fmla="*/ 428 h 1694"/>
              <a:gd name="T24" fmla="*/ 1416 w 1720"/>
              <a:gd name="T25" fmla="*/ 1694 h 1694"/>
              <a:gd name="T26" fmla="*/ 1720 w 1720"/>
              <a:gd name="T27" fmla="*/ 1694 h 1694"/>
              <a:gd name="T28" fmla="*/ 1720 w 1720"/>
              <a:gd name="T29" fmla="*/ 0 h 1694"/>
              <a:gd name="T30" fmla="*/ 1265 w 1720"/>
              <a:gd name="T31" fmla="*/ 0 h 1694"/>
            </a:gdLst>
            <a:ahLst/>
            <a:cxnLst/>
            <a:rect l="0" t="0" r="r" b="b"/>
            <a:pathLst>
              <a:path w="1720" h="1694">
                <a:moveTo>
                  <a:pt x="1265" y="0"/>
                </a:moveTo>
                <a:lnTo>
                  <a:pt x="860" y="996"/>
                </a:lnTo>
                <a:lnTo>
                  <a:pt x="456" y="0"/>
                </a:lnTo>
                <a:lnTo>
                  <a:pt x="0" y="0"/>
                </a:lnTo>
                <a:lnTo>
                  <a:pt x="0" y="1694"/>
                </a:lnTo>
                <a:lnTo>
                  <a:pt x="303" y="1694"/>
                </a:lnTo>
                <a:lnTo>
                  <a:pt x="303" y="428"/>
                </a:lnTo>
                <a:lnTo>
                  <a:pt x="692" y="1321"/>
                </a:lnTo>
                <a:lnTo>
                  <a:pt x="709" y="1321"/>
                </a:lnTo>
                <a:lnTo>
                  <a:pt x="1012" y="1321"/>
                </a:lnTo>
                <a:lnTo>
                  <a:pt x="1029" y="1321"/>
                </a:lnTo>
                <a:lnTo>
                  <a:pt x="1416" y="428"/>
                </a:lnTo>
                <a:lnTo>
                  <a:pt x="1416" y="1694"/>
                </a:lnTo>
                <a:lnTo>
                  <a:pt x="1720" y="1694"/>
                </a:lnTo>
                <a:lnTo>
                  <a:pt x="1720" y="0"/>
                </a:lnTo>
                <a:lnTo>
                  <a:pt x="126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21" name="Freeform 12">
            <a:extLst>
              <a:ext uri="{FF2B5EF4-FFF2-40B4-BE49-F238E27FC236}">
                <a16:creationId xmlns:a16="http://schemas.microsoft.com/office/drawing/2014/main" id="{F58ED361-0E2C-77F6-2830-FBB60D746483}"/>
              </a:ext>
            </a:extLst>
          </p:cNvPr>
          <p:cNvSpPr>
            <a:spLocks noGrp="1"/>
          </p:cNvSpPr>
          <p:nvPr/>
        </p:nvSpPr>
        <p:spPr>
          <a:xfrm>
            <a:off x="330271" y="327819"/>
            <a:ext cx="287858" cy="438124"/>
          </a:xfrm>
          <a:custGeom>
            <a:avLst/>
            <a:gdLst>
              <a:gd name="T0" fmla="*/ 0 w 1113"/>
              <a:gd name="T1" fmla="*/ 0 h 1694"/>
              <a:gd name="T2" fmla="*/ 0 w 1113"/>
              <a:gd name="T3" fmla="*/ 297 h 1694"/>
              <a:gd name="T4" fmla="*/ 397 w 1113"/>
              <a:gd name="T5" fmla="*/ 297 h 1694"/>
              <a:gd name="T6" fmla="*/ 397 w 1113"/>
              <a:gd name="T7" fmla="*/ 1397 h 1694"/>
              <a:gd name="T8" fmla="*/ 0 w 1113"/>
              <a:gd name="T9" fmla="*/ 1397 h 1694"/>
              <a:gd name="T10" fmla="*/ 0 w 1113"/>
              <a:gd name="T11" fmla="*/ 1694 h 1694"/>
              <a:gd name="T12" fmla="*/ 1113 w 1113"/>
              <a:gd name="T13" fmla="*/ 1694 h 1694"/>
              <a:gd name="T14" fmla="*/ 1113 w 1113"/>
              <a:gd name="T15" fmla="*/ 1397 h 1694"/>
              <a:gd name="T16" fmla="*/ 717 w 1113"/>
              <a:gd name="T17" fmla="*/ 1397 h 1694"/>
              <a:gd name="T18" fmla="*/ 717 w 1113"/>
              <a:gd name="T19" fmla="*/ 297 h 1694"/>
              <a:gd name="T20" fmla="*/ 1113 w 1113"/>
              <a:gd name="T21" fmla="*/ 297 h 1694"/>
              <a:gd name="T22" fmla="*/ 1113 w 1113"/>
              <a:gd name="T23" fmla="*/ 0 h 1694"/>
              <a:gd name="T24" fmla="*/ 0 w 1113"/>
              <a:gd name="T25" fmla="*/ 0 h 1694"/>
            </a:gdLst>
            <a:ahLst/>
            <a:cxnLst/>
            <a:rect l="0" t="0" r="r" b="b"/>
            <a:pathLst>
              <a:path w="1113" h="1694">
                <a:moveTo>
                  <a:pt x="0" y="0"/>
                </a:moveTo>
                <a:lnTo>
                  <a:pt x="0" y="297"/>
                </a:lnTo>
                <a:lnTo>
                  <a:pt x="397" y="297"/>
                </a:lnTo>
                <a:lnTo>
                  <a:pt x="397" y="1397"/>
                </a:lnTo>
                <a:lnTo>
                  <a:pt x="0" y="1397"/>
                </a:lnTo>
                <a:lnTo>
                  <a:pt x="0" y="1694"/>
                </a:lnTo>
                <a:lnTo>
                  <a:pt x="1113" y="1694"/>
                </a:lnTo>
                <a:lnTo>
                  <a:pt x="1113" y="1397"/>
                </a:lnTo>
                <a:lnTo>
                  <a:pt x="717" y="1397"/>
                </a:lnTo>
                <a:lnTo>
                  <a:pt x="717" y="297"/>
                </a:lnTo>
                <a:lnTo>
                  <a:pt x="1113" y="297"/>
                </a:lnTo>
                <a:lnTo>
                  <a:pt x="1113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92BEE681-8AB7-A062-C6CA-FCE05129827F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330271" y="5789336"/>
            <a:ext cx="5579198" cy="740845"/>
          </a:xfrm>
        </p:spPr>
        <p:txBody>
          <a:bodyPr anchor="b"/>
          <a:lstStyle>
            <a:lvl1pPr>
              <a:buNone/>
              <a:defRPr sz="2200" b="1">
                <a:solidFill>
                  <a:schemeClr val="accent1"/>
                </a:solidFill>
                <a:latin typeface="+mn-lt"/>
                <a:ea typeface="+mn-lt"/>
                <a:cs typeface="+mn-lt"/>
              </a:defRPr>
            </a:lvl1pPr>
            <a:lvl2pPr>
              <a:buNone/>
              <a:defRPr sz="2200">
                <a:solidFill>
                  <a:schemeClr val="accent1"/>
                </a:solidFill>
              </a:defRPr>
            </a:lvl2pPr>
            <a:lvl3pPr>
              <a:buNone/>
              <a:defRPr sz="2200">
                <a:solidFill>
                  <a:schemeClr val="accent1"/>
                </a:solidFill>
                <a:latin typeface="+mn-lt"/>
                <a:ea typeface="+mn-lt"/>
                <a:cs typeface="+mn-lt"/>
              </a:defRPr>
            </a:lvl3pPr>
            <a:lvl4pPr>
              <a:buNone/>
              <a:defRPr sz="2200">
                <a:solidFill>
                  <a:schemeClr val="accent1"/>
                </a:solidFill>
                <a:latin typeface="+mn-lt"/>
                <a:ea typeface="+mn-lt"/>
                <a:cs typeface="+mn-lt"/>
              </a:defRPr>
            </a:lvl4pPr>
            <a:lvl5pPr>
              <a:buNone/>
              <a:defRPr sz="2200">
                <a:solidFill>
                  <a:schemeClr val="accent1"/>
                </a:solidFill>
                <a:latin typeface="+mn-lt"/>
                <a:ea typeface="+mn-lt"/>
                <a:cs typeface="+mn-lt"/>
              </a:defRPr>
            </a:lvl5pPr>
            <a:lvl6pPr>
              <a:buNone/>
              <a:defRPr>
                <a:latin typeface="+mn-lt"/>
                <a:ea typeface="+mn-lt"/>
                <a:cs typeface="+mn-lt"/>
              </a:defRPr>
            </a:lvl6pPr>
          </a:lstStyle>
          <a:p>
            <a:pPr lvl="0">
              <a:buNone/>
            </a:pPr>
            <a: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C1E3-6A7C-C21D-910D-C4B7DFFF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271" y="3338719"/>
            <a:ext cx="9144000" cy="1828406"/>
          </a:xfrm>
        </p:spPr>
        <p:txBody>
          <a:bodyPr anchor="t"/>
          <a:lstStyle>
            <a:lvl1pPr algn="l">
              <a:buNone/>
              <a:defRPr sz="6400">
                <a:solidFill>
                  <a:schemeClr val="accent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4" name="Freeform 5">
            <a:extLst>
              <a:ext uri="{FF2B5EF4-FFF2-40B4-BE49-F238E27FC236}">
                <a16:creationId xmlns:a16="http://schemas.microsoft.com/office/drawing/2014/main" id="{FB1AA775-4CCE-276F-2BCF-CDB5A9211FDB}"/>
              </a:ext>
            </a:extLst>
          </p:cNvPr>
          <p:cNvSpPr>
            <a:spLocks noGrp="1"/>
          </p:cNvSpPr>
          <p:nvPr/>
        </p:nvSpPr>
        <p:spPr>
          <a:xfrm>
            <a:off x="4018633" y="327819"/>
            <a:ext cx="284237" cy="438124"/>
          </a:xfrm>
          <a:custGeom>
            <a:avLst/>
            <a:gdLst>
              <a:gd name="T0" fmla="*/ 0 w 1099"/>
              <a:gd name="T1" fmla="*/ 0 h 1694"/>
              <a:gd name="T2" fmla="*/ 0 w 1099"/>
              <a:gd name="T3" fmla="*/ 1694 h 1694"/>
              <a:gd name="T4" fmla="*/ 1099 w 1099"/>
              <a:gd name="T5" fmla="*/ 1694 h 1694"/>
              <a:gd name="T6" fmla="*/ 1099 w 1099"/>
              <a:gd name="T7" fmla="*/ 1397 h 1694"/>
              <a:gd name="T8" fmla="*/ 319 w 1099"/>
              <a:gd name="T9" fmla="*/ 1397 h 1694"/>
              <a:gd name="T10" fmla="*/ 319 w 1099"/>
              <a:gd name="T11" fmla="*/ 0 h 1694"/>
              <a:gd name="T12" fmla="*/ 0 w 1099"/>
              <a:gd name="T13" fmla="*/ 0 h 1694"/>
            </a:gdLst>
            <a:ahLst/>
            <a:cxnLst/>
            <a:rect l="0" t="0" r="r" b="b"/>
            <a:pathLst>
              <a:path w="1099" h="1694">
                <a:moveTo>
                  <a:pt x="0" y="0"/>
                </a:moveTo>
                <a:lnTo>
                  <a:pt x="0" y="1694"/>
                </a:lnTo>
                <a:lnTo>
                  <a:pt x="1099" y="1694"/>
                </a:lnTo>
                <a:lnTo>
                  <a:pt x="1099" y="1397"/>
                </a:lnTo>
                <a:lnTo>
                  <a:pt x="319" y="1397"/>
                </a:lnTo>
                <a:lnTo>
                  <a:pt x="31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5" name="Freeform 6">
            <a:extLst>
              <a:ext uri="{FF2B5EF4-FFF2-40B4-BE49-F238E27FC236}">
                <a16:creationId xmlns:a16="http://schemas.microsoft.com/office/drawing/2014/main" id="{D0FDD9D0-D471-8D20-94AE-C3BC73F88F8D}"/>
              </a:ext>
            </a:extLst>
          </p:cNvPr>
          <p:cNvSpPr>
            <a:spLocks noGrp="1"/>
          </p:cNvSpPr>
          <p:nvPr/>
        </p:nvSpPr>
        <p:spPr>
          <a:xfrm>
            <a:off x="3434382" y="327819"/>
            <a:ext cx="397001" cy="438124"/>
          </a:xfrm>
          <a:custGeom>
            <a:avLst/>
            <a:gdLst>
              <a:gd name="T0" fmla="*/ 556 w 1535"/>
              <a:gd name="T1" fmla="*/ 0 h 1694"/>
              <a:gd name="T2" fmla="*/ 0 w 1535"/>
              <a:gd name="T3" fmla="*/ 1694 h 1694"/>
              <a:gd name="T4" fmla="*/ 337 w 1535"/>
              <a:gd name="T5" fmla="*/ 1694 h 1694"/>
              <a:gd name="T6" fmla="*/ 453 w 1535"/>
              <a:gd name="T7" fmla="*/ 1321 h 1694"/>
              <a:gd name="T8" fmla="*/ 1083 w 1535"/>
              <a:gd name="T9" fmla="*/ 1321 h 1694"/>
              <a:gd name="T10" fmla="*/ 1197 w 1535"/>
              <a:gd name="T11" fmla="*/ 1694 h 1694"/>
              <a:gd name="T12" fmla="*/ 1535 w 1535"/>
              <a:gd name="T13" fmla="*/ 1694 h 1694"/>
              <a:gd name="T14" fmla="*/ 978 w 1535"/>
              <a:gd name="T15" fmla="*/ 0 h 1694"/>
              <a:gd name="T16" fmla="*/ 556 w 1535"/>
              <a:gd name="T17" fmla="*/ 0 h 1694"/>
              <a:gd name="T18" fmla="*/ 768 w 1535"/>
              <a:gd name="T19" fmla="*/ 301 h 1694"/>
              <a:gd name="T20" fmla="*/ 998 w 1535"/>
              <a:gd name="T21" fmla="*/ 1048 h 1694"/>
              <a:gd name="T22" fmla="*/ 536 w 1535"/>
              <a:gd name="T23" fmla="*/ 1048 h 1694"/>
              <a:gd name="T24" fmla="*/ 768 w 1535"/>
              <a:gd name="T25" fmla="*/ 301 h 1694"/>
            </a:gdLst>
            <a:ahLst/>
            <a:cxnLst/>
            <a:rect l="0" t="0" r="r" b="b"/>
            <a:pathLst>
              <a:path w="1535" h="1694">
                <a:moveTo>
                  <a:pt x="556" y="0"/>
                </a:moveTo>
                <a:lnTo>
                  <a:pt x="0" y="1694"/>
                </a:lnTo>
                <a:lnTo>
                  <a:pt x="337" y="1694"/>
                </a:lnTo>
                <a:lnTo>
                  <a:pt x="453" y="1321"/>
                </a:lnTo>
                <a:lnTo>
                  <a:pt x="1083" y="1321"/>
                </a:lnTo>
                <a:lnTo>
                  <a:pt x="1197" y="1694"/>
                </a:lnTo>
                <a:lnTo>
                  <a:pt x="1535" y="1694"/>
                </a:lnTo>
                <a:lnTo>
                  <a:pt x="978" y="0"/>
                </a:lnTo>
                <a:lnTo>
                  <a:pt x="556" y="0"/>
                </a:lnTo>
                <a:close/>
                <a:moveTo>
                  <a:pt x="768" y="301"/>
                </a:moveTo>
                <a:lnTo>
                  <a:pt x="998" y="1048"/>
                </a:lnTo>
                <a:lnTo>
                  <a:pt x="536" y="1048"/>
                </a:lnTo>
                <a:lnTo>
                  <a:pt x="768" y="30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6" name="Freeform 7">
            <a:extLst>
              <a:ext uri="{FF2B5EF4-FFF2-40B4-BE49-F238E27FC236}">
                <a16:creationId xmlns:a16="http://schemas.microsoft.com/office/drawing/2014/main" id="{CD6C2A08-9069-9582-5D59-A51210F8CB78}"/>
              </a:ext>
            </a:extLst>
          </p:cNvPr>
          <p:cNvSpPr>
            <a:spLocks noGrp="1"/>
          </p:cNvSpPr>
          <p:nvPr/>
        </p:nvSpPr>
        <p:spPr>
          <a:xfrm>
            <a:off x="2981257" y="327819"/>
            <a:ext cx="287858" cy="438124"/>
          </a:xfrm>
          <a:custGeom>
            <a:avLst/>
            <a:gdLst>
              <a:gd name="T0" fmla="*/ 0 w 1113"/>
              <a:gd name="T1" fmla="*/ 0 h 1694"/>
              <a:gd name="T2" fmla="*/ 0 w 1113"/>
              <a:gd name="T3" fmla="*/ 297 h 1694"/>
              <a:gd name="T4" fmla="*/ 396 w 1113"/>
              <a:gd name="T5" fmla="*/ 297 h 1694"/>
              <a:gd name="T6" fmla="*/ 396 w 1113"/>
              <a:gd name="T7" fmla="*/ 1397 h 1694"/>
              <a:gd name="T8" fmla="*/ 0 w 1113"/>
              <a:gd name="T9" fmla="*/ 1397 h 1694"/>
              <a:gd name="T10" fmla="*/ 0 w 1113"/>
              <a:gd name="T11" fmla="*/ 1694 h 1694"/>
              <a:gd name="T12" fmla="*/ 1113 w 1113"/>
              <a:gd name="T13" fmla="*/ 1694 h 1694"/>
              <a:gd name="T14" fmla="*/ 1113 w 1113"/>
              <a:gd name="T15" fmla="*/ 1397 h 1694"/>
              <a:gd name="T16" fmla="*/ 716 w 1113"/>
              <a:gd name="T17" fmla="*/ 1397 h 1694"/>
              <a:gd name="T18" fmla="*/ 716 w 1113"/>
              <a:gd name="T19" fmla="*/ 297 h 1694"/>
              <a:gd name="T20" fmla="*/ 1113 w 1113"/>
              <a:gd name="T21" fmla="*/ 297 h 1694"/>
              <a:gd name="T22" fmla="*/ 1113 w 1113"/>
              <a:gd name="T23" fmla="*/ 0 h 1694"/>
              <a:gd name="T24" fmla="*/ 0 w 1113"/>
              <a:gd name="T25" fmla="*/ 0 h 1694"/>
            </a:gdLst>
            <a:ahLst/>
            <a:cxnLst/>
            <a:rect l="0" t="0" r="r" b="b"/>
            <a:pathLst>
              <a:path w="1113" h="1694">
                <a:moveTo>
                  <a:pt x="0" y="0"/>
                </a:moveTo>
                <a:lnTo>
                  <a:pt x="0" y="297"/>
                </a:lnTo>
                <a:lnTo>
                  <a:pt x="396" y="297"/>
                </a:lnTo>
                <a:lnTo>
                  <a:pt x="396" y="1397"/>
                </a:lnTo>
                <a:lnTo>
                  <a:pt x="0" y="1397"/>
                </a:lnTo>
                <a:lnTo>
                  <a:pt x="0" y="1694"/>
                </a:lnTo>
                <a:lnTo>
                  <a:pt x="1113" y="1694"/>
                </a:lnTo>
                <a:lnTo>
                  <a:pt x="1113" y="1397"/>
                </a:lnTo>
                <a:lnTo>
                  <a:pt x="716" y="1397"/>
                </a:lnTo>
                <a:lnTo>
                  <a:pt x="716" y="297"/>
                </a:lnTo>
                <a:lnTo>
                  <a:pt x="1113" y="297"/>
                </a:lnTo>
                <a:lnTo>
                  <a:pt x="1113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610C2D08-4FE4-C1FC-5226-E7A45B13D658}"/>
              </a:ext>
            </a:extLst>
          </p:cNvPr>
          <p:cNvSpPr>
            <a:spLocks noGrp="1"/>
          </p:cNvSpPr>
          <p:nvPr/>
        </p:nvSpPr>
        <p:spPr>
          <a:xfrm>
            <a:off x="2467353" y="327819"/>
            <a:ext cx="340619" cy="438124"/>
          </a:xfrm>
          <a:custGeom>
            <a:avLst/>
            <a:gdLst>
              <a:gd name="T0" fmla="*/ 884 w 932"/>
              <a:gd name="T1" fmla="*/ 372 h 1199"/>
              <a:gd name="T2" fmla="*/ 442 w 932"/>
              <a:gd name="T3" fmla="*/ 0 h 1199"/>
              <a:gd name="T4" fmla="*/ 0 w 932"/>
              <a:gd name="T5" fmla="*/ 0 h 1199"/>
              <a:gd name="T6" fmla="*/ 0 w 932"/>
              <a:gd name="T7" fmla="*/ 1199 h 1199"/>
              <a:gd name="T8" fmla="*/ 227 w 932"/>
              <a:gd name="T9" fmla="*/ 1199 h 1199"/>
              <a:gd name="T10" fmla="*/ 227 w 932"/>
              <a:gd name="T11" fmla="*/ 755 h 1199"/>
              <a:gd name="T12" fmla="*/ 418 w 932"/>
              <a:gd name="T13" fmla="*/ 755 h 1199"/>
              <a:gd name="T14" fmla="*/ 450 w 932"/>
              <a:gd name="T15" fmla="*/ 755 h 1199"/>
              <a:gd name="T16" fmla="*/ 681 w 932"/>
              <a:gd name="T17" fmla="*/ 1199 h 1199"/>
              <a:gd name="T18" fmla="*/ 932 w 932"/>
              <a:gd name="T19" fmla="*/ 1199 h 1199"/>
              <a:gd name="T20" fmla="*/ 676 w 932"/>
              <a:gd name="T21" fmla="*/ 707 h 1199"/>
              <a:gd name="T22" fmla="*/ 884 w 932"/>
              <a:gd name="T23" fmla="*/ 372 h 1199"/>
              <a:gd name="T24" fmla="*/ 645 w 932"/>
              <a:gd name="T25" fmla="*/ 372 h 1199"/>
              <a:gd name="T26" fmla="*/ 418 w 932"/>
              <a:gd name="T27" fmla="*/ 562 h 1199"/>
              <a:gd name="T28" fmla="*/ 227 w 932"/>
              <a:gd name="T29" fmla="*/ 562 h 1199"/>
              <a:gd name="T30" fmla="*/ 227 w 932"/>
              <a:gd name="T31" fmla="*/ 194 h 1199"/>
              <a:gd name="T32" fmla="*/ 418 w 932"/>
              <a:gd name="T33" fmla="*/ 194 h 1199"/>
              <a:gd name="T34" fmla="*/ 645 w 932"/>
              <a:gd name="T35" fmla="*/ 372 h 1199"/>
            </a:gdLst>
            <a:ahLst/>
            <a:cxnLst/>
            <a:rect l="0" t="0" r="r" b="b"/>
            <a:pathLst>
              <a:path w="932" h="1199">
                <a:moveTo>
                  <a:pt x="884" y="372"/>
                </a:moveTo>
                <a:cubicBezTo>
                  <a:pt x="884" y="92"/>
                  <a:pt x="693" y="0"/>
                  <a:pt x="442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199"/>
                  <a:pt x="0" y="1199"/>
                  <a:pt x="0" y="1199"/>
                </a:cubicBezTo>
                <a:cubicBezTo>
                  <a:pt x="227" y="1199"/>
                  <a:pt x="227" y="1199"/>
                  <a:pt x="227" y="1199"/>
                </a:cubicBezTo>
                <a:cubicBezTo>
                  <a:pt x="227" y="755"/>
                  <a:pt x="227" y="755"/>
                  <a:pt x="227" y="755"/>
                </a:cubicBezTo>
                <a:cubicBezTo>
                  <a:pt x="418" y="755"/>
                  <a:pt x="418" y="755"/>
                  <a:pt x="418" y="755"/>
                </a:cubicBezTo>
                <a:cubicBezTo>
                  <a:pt x="429" y="755"/>
                  <a:pt x="439" y="755"/>
                  <a:pt x="450" y="755"/>
                </a:cubicBezTo>
                <a:cubicBezTo>
                  <a:pt x="681" y="1199"/>
                  <a:pt x="681" y="1199"/>
                  <a:pt x="681" y="1199"/>
                </a:cubicBezTo>
                <a:cubicBezTo>
                  <a:pt x="932" y="1199"/>
                  <a:pt x="932" y="1199"/>
                  <a:pt x="932" y="1199"/>
                </a:cubicBezTo>
                <a:cubicBezTo>
                  <a:pt x="676" y="707"/>
                  <a:pt x="676" y="707"/>
                  <a:pt x="676" y="707"/>
                </a:cubicBezTo>
                <a:cubicBezTo>
                  <a:pt x="801" y="652"/>
                  <a:pt x="884" y="545"/>
                  <a:pt x="884" y="372"/>
                </a:cubicBezTo>
                <a:moveTo>
                  <a:pt x="645" y="372"/>
                </a:moveTo>
                <a:cubicBezTo>
                  <a:pt x="645" y="516"/>
                  <a:pt x="562" y="562"/>
                  <a:pt x="418" y="562"/>
                </a:cubicBezTo>
                <a:cubicBezTo>
                  <a:pt x="227" y="562"/>
                  <a:pt x="227" y="562"/>
                  <a:pt x="227" y="562"/>
                </a:cubicBezTo>
                <a:cubicBezTo>
                  <a:pt x="227" y="194"/>
                  <a:pt x="227" y="194"/>
                  <a:pt x="227" y="194"/>
                </a:cubicBezTo>
                <a:cubicBezTo>
                  <a:pt x="418" y="194"/>
                  <a:pt x="418" y="194"/>
                  <a:pt x="418" y="194"/>
                </a:cubicBezTo>
                <a:cubicBezTo>
                  <a:pt x="574" y="194"/>
                  <a:pt x="645" y="252"/>
                  <a:pt x="645" y="372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8010D1AF-A77E-06AA-9B05-D1DD5EE83096}"/>
              </a:ext>
            </a:extLst>
          </p:cNvPr>
          <p:cNvSpPr>
            <a:spLocks noGrp="1"/>
          </p:cNvSpPr>
          <p:nvPr/>
        </p:nvSpPr>
        <p:spPr>
          <a:xfrm>
            <a:off x="1977503" y="327819"/>
            <a:ext cx="283978" cy="438124"/>
          </a:xfrm>
          <a:custGeom>
            <a:avLst/>
            <a:gdLst>
              <a:gd name="T0" fmla="*/ 0 w 1098"/>
              <a:gd name="T1" fmla="*/ 0 h 1694"/>
              <a:gd name="T2" fmla="*/ 0 w 1098"/>
              <a:gd name="T3" fmla="*/ 1694 h 1694"/>
              <a:gd name="T4" fmla="*/ 1098 w 1098"/>
              <a:gd name="T5" fmla="*/ 1694 h 1694"/>
              <a:gd name="T6" fmla="*/ 1098 w 1098"/>
              <a:gd name="T7" fmla="*/ 1397 h 1694"/>
              <a:gd name="T8" fmla="*/ 321 w 1098"/>
              <a:gd name="T9" fmla="*/ 1397 h 1694"/>
              <a:gd name="T10" fmla="*/ 321 w 1098"/>
              <a:gd name="T11" fmla="*/ 973 h 1694"/>
              <a:gd name="T12" fmla="*/ 1030 w 1098"/>
              <a:gd name="T13" fmla="*/ 973 h 1694"/>
              <a:gd name="T14" fmla="*/ 1030 w 1098"/>
              <a:gd name="T15" fmla="*/ 687 h 1694"/>
              <a:gd name="T16" fmla="*/ 321 w 1098"/>
              <a:gd name="T17" fmla="*/ 687 h 1694"/>
              <a:gd name="T18" fmla="*/ 321 w 1098"/>
              <a:gd name="T19" fmla="*/ 297 h 1694"/>
              <a:gd name="T20" fmla="*/ 1098 w 1098"/>
              <a:gd name="T21" fmla="*/ 297 h 1694"/>
              <a:gd name="T22" fmla="*/ 1098 w 1098"/>
              <a:gd name="T23" fmla="*/ 0 h 1694"/>
              <a:gd name="T24" fmla="*/ 0 w 1098"/>
              <a:gd name="T25" fmla="*/ 0 h 1694"/>
            </a:gdLst>
            <a:ahLst/>
            <a:cxnLst/>
            <a:rect l="0" t="0" r="r" b="b"/>
            <a:pathLst>
              <a:path w="1098" h="1694">
                <a:moveTo>
                  <a:pt x="0" y="0"/>
                </a:moveTo>
                <a:lnTo>
                  <a:pt x="0" y="1694"/>
                </a:lnTo>
                <a:lnTo>
                  <a:pt x="1098" y="1694"/>
                </a:lnTo>
                <a:lnTo>
                  <a:pt x="1098" y="1397"/>
                </a:lnTo>
                <a:lnTo>
                  <a:pt x="321" y="1397"/>
                </a:lnTo>
                <a:lnTo>
                  <a:pt x="321" y="973"/>
                </a:lnTo>
                <a:lnTo>
                  <a:pt x="1030" y="973"/>
                </a:lnTo>
                <a:lnTo>
                  <a:pt x="1030" y="687"/>
                </a:lnTo>
                <a:lnTo>
                  <a:pt x="321" y="687"/>
                </a:lnTo>
                <a:lnTo>
                  <a:pt x="321" y="297"/>
                </a:lnTo>
                <a:lnTo>
                  <a:pt x="1098" y="297"/>
                </a:lnTo>
                <a:lnTo>
                  <a:pt x="109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19" name="Freeform 10">
            <a:extLst>
              <a:ext uri="{FF2B5EF4-FFF2-40B4-BE49-F238E27FC236}">
                <a16:creationId xmlns:a16="http://schemas.microsoft.com/office/drawing/2014/main" id="{98B53AE0-4719-5655-6BA0-0E7E9ECB8EC1}"/>
              </a:ext>
            </a:extLst>
          </p:cNvPr>
          <p:cNvSpPr>
            <a:spLocks noGrp="1"/>
          </p:cNvSpPr>
          <p:nvPr/>
        </p:nvSpPr>
        <p:spPr>
          <a:xfrm>
            <a:off x="1489204" y="327819"/>
            <a:ext cx="314238" cy="438124"/>
          </a:xfrm>
          <a:custGeom>
            <a:avLst/>
            <a:gdLst>
              <a:gd name="T0" fmla="*/ 406 w 860"/>
              <a:gd name="T1" fmla="*/ 791 h 1199"/>
              <a:gd name="T2" fmla="*/ 227 w 860"/>
              <a:gd name="T3" fmla="*/ 791 h 1199"/>
              <a:gd name="T4" fmla="*/ 227 w 860"/>
              <a:gd name="T5" fmla="*/ 1199 h 1199"/>
              <a:gd name="T6" fmla="*/ 0 w 860"/>
              <a:gd name="T7" fmla="*/ 1199 h 1199"/>
              <a:gd name="T8" fmla="*/ 0 w 860"/>
              <a:gd name="T9" fmla="*/ 0 h 1199"/>
              <a:gd name="T10" fmla="*/ 406 w 860"/>
              <a:gd name="T11" fmla="*/ 0 h 1199"/>
              <a:gd name="T12" fmla="*/ 860 w 860"/>
              <a:gd name="T13" fmla="*/ 396 h 1199"/>
              <a:gd name="T14" fmla="*/ 406 w 860"/>
              <a:gd name="T15" fmla="*/ 791 h 1199"/>
              <a:gd name="T16" fmla="*/ 394 w 860"/>
              <a:gd name="T17" fmla="*/ 194 h 1199"/>
              <a:gd name="T18" fmla="*/ 227 w 860"/>
              <a:gd name="T19" fmla="*/ 194 h 1199"/>
              <a:gd name="T20" fmla="*/ 227 w 860"/>
              <a:gd name="T21" fmla="*/ 598 h 1199"/>
              <a:gd name="T22" fmla="*/ 394 w 860"/>
              <a:gd name="T23" fmla="*/ 598 h 1199"/>
              <a:gd name="T24" fmla="*/ 621 w 860"/>
              <a:gd name="T25" fmla="*/ 396 h 1199"/>
              <a:gd name="T26" fmla="*/ 394 w 860"/>
              <a:gd name="T27" fmla="*/ 194 h 1199"/>
            </a:gdLst>
            <a:ahLst/>
            <a:cxnLst/>
            <a:rect l="0" t="0" r="r" b="b"/>
            <a:pathLst>
              <a:path w="860" h="1199">
                <a:moveTo>
                  <a:pt x="406" y="791"/>
                </a:moveTo>
                <a:cubicBezTo>
                  <a:pt x="227" y="791"/>
                  <a:pt x="227" y="791"/>
                  <a:pt x="227" y="791"/>
                </a:cubicBezTo>
                <a:cubicBezTo>
                  <a:pt x="227" y="1199"/>
                  <a:pt x="227" y="1199"/>
                  <a:pt x="227" y="1199"/>
                </a:cubicBezTo>
                <a:cubicBezTo>
                  <a:pt x="0" y="1199"/>
                  <a:pt x="0" y="1199"/>
                  <a:pt x="0" y="1199"/>
                </a:cubicBezTo>
                <a:cubicBezTo>
                  <a:pt x="0" y="0"/>
                  <a:pt x="0" y="0"/>
                  <a:pt x="0" y="0"/>
                </a:cubicBezTo>
                <a:cubicBezTo>
                  <a:pt x="406" y="0"/>
                  <a:pt x="406" y="0"/>
                  <a:pt x="406" y="0"/>
                </a:cubicBezTo>
                <a:cubicBezTo>
                  <a:pt x="661" y="0"/>
                  <a:pt x="860" y="116"/>
                  <a:pt x="860" y="396"/>
                </a:cubicBezTo>
                <a:cubicBezTo>
                  <a:pt x="860" y="671"/>
                  <a:pt x="659" y="791"/>
                  <a:pt x="406" y="791"/>
                </a:cubicBezTo>
                <a:moveTo>
                  <a:pt x="394" y="194"/>
                </a:moveTo>
                <a:cubicBezTo>
                  <a:pt x="227" y="194"/>
                  <a:pt x="227" y="194"/>
                  <a:pt x="227" y="194"/>
                </a:cubicBezTo>
                <a:cubicBezTo>
                  <a:pt x="227" y="598"/>
                  <a:pt x="227" y="598"/>
                  <a:pt x="227" y="598"/>
                </a:cubicBezTo>
                <a:cubicBezTo>
                  <a:pt x="394" y="598"/>
                  <a:pt x="394" y="598"/>
                  <a:pt x="394" y="598"/>
                </a:cubicBezTo>
                <a:cubicBezTo>
                  <a:pt x="525" y="598"/>
                  <a:pt x="621" y="534"/>
                  <a:pt x="621" y="396"/>
                </a:cubicBezTo>
                <a:cubicBezTo>
                  <a:pt x="621" y="252"/>
                  <a:pt x="525" y="194"/>
                  <a:pt x="394" y="194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20" name="Freeform 11">
            <a:extLst>
              <a:ext uri="{FF2B5EF4-FFF2-40B4-BE49-F238E27FC236}">
                <a16:creationId xmlns:a16="http://schemas.microsoft.com/office/drawing/2014/main" id="{0AD6D1E9-D44F-9A59-4CB4-033C25A77DAC}"/>
              </a:ext>
            </a:extLst>
          </p:cNvPr>
          <p:cNvSpPr>
            <a:spLocks noGrp="1"/>
          </p:cNvSpPr>
          <p:nvPr/>
        </p:nvSpPr>
        <p:spPr>
          <a:xfrm>
            <a:off x="833311" y="327819"/>
            <a:ext cx="444848" cy="438124"/>
          </a:xfrm>
          <a:custGeom>
            <a:avLst/>
            <a:gdLst>
              <a:gd name="T0" fmla="*/ 1265 w 1720"/>
              <a:gd name="T1" fmla="*/ 0 h 1694"/>
              <a:gd name="T2" fmla="*/ 860 w 1720"/>
              <a:gd name="T3" fmla="*/ 996 h 1694"/>
              <a:gd name="T4" fmla="*/ 456 w 1720"/>
              <a:gd name="T5" fmla="*/ 0 h 1694"/>
              <a:gd name="T6" fmla="*/ 0 w 1720"/>
              <a:gd name="T7" fmla="*/ 0 h 1694"/>
              <a:gd name="T8" fmla="*/ 0 w 1720"/>
              <a:gd name="T9" fmla="*/ 1694 h 1694"/>
              <a:gd name="T10" fmla="*/ 303 w 1720"/>
              <a:gd name="T11" fmla="*/ 1694 h 1694"/>
              <a:gd name="T12" fmla="*/ 303 w 1720"/>
              <a:gd name="T13" fmla="*/ 428 h 1694"/>
              <a:gd name="T14" fmla="*/ 692 w 1720"/>
              <a:gd name="T15" fmla="*/ 1321 h 1694"/>
              <a:gd name="T16" fmla="*/ 709 w 1720"/>
              <a:gd name="T17" fmla="*/ 1321 h 1694"/>
              <a:gd name="T18" fmla="*/ 1012 w 1720"/>
              <a:gd name="T19" fmla="*/ 1321 h 1694"/>
              <a:gd name="T20" fmla="*/ 1029 w 1720"/>
              <a:gd name="T21" fmla="*/ 1321 h 1694"/>
              <a:gd name="T22" fmla="*/ 1416 w 1720"/>
              <a:gd name="T23" fmla="*/ 428 h 1694"/>
              <a:gd name="T24" fmla="*/ 1416 w 1720"/>
              <a:gd name="T25" fmla="*/ 1694 h 1694"/>
              <a:gd name="T26" fmla="*/ 1720 w 1720"/>
              <a:gd name="T27" fmla="*/ 1694 h 1694"/>
              <a:gd name="T28" fmla="*/ 1720 w 1720"/>
              <a:gd name="T29" fmla="*/ 0 h 1694"/>
              <a:gd name="T30" fmla="*/ 1265 w 1720"/>
              <a:gd name="T31" fmla="*/ 0 h 1694"/>
            </a:gdLst>
            <a:ahLst/>
            <a:cxnLst/>
            <a:rect l="0" t="0" r="r" b="b"/>
            <a:pathLst>
              <a:path w="1720" h="1694">
                <a:moveTo>
                  <a:pt x="1265" y="0"/>
                </a:moveTo>
                <a:lnTo>
                  <a:pt x="860" y="996"/>
                </a:lnTo>
                <a:lnTo>
                  <a:pt x="456" y="0"/>
                </a:lnTo>
                <a:lnTo>
                  <a:pt x="0" y="0"/>
                </a:lnTo>
                <a:lnTo>
                  <a:pt x="0" y="1694"/>
                </a:lnTo>
                <a:lnTo>
                  <a:pt x="303" y="1694"/>
                </a:lnTo>
                <a:lnTo>
                  <a:pt x="303" y="428"/>
                </a:lnTo>
                <a:lnTo>
                  <a:pt x="692" y="1321"/>
                </a:lnTo>
                <a:lnTo>
                  <a:pt x="709" y="1321"/>
                </a:lnTo>
                <a:lnTo>
                  <a:pt x="1012" y="1321"/>
                </a:lnTo>
                <a:lnTo>
                  <a:pt x="1029" y="1321"/>
                </a:lnTo>
                <a:lnTo>
                  <a:pt x="1416" y="428"/>
                </a:lnTo>
                <a:lnTo>
                  <a:pt x="1416" y="1694"/>
                </a:lnTo>
                <a:lnTo>
                  <a:pt x="1720" y="1694"/>
                </a:lnTo>
                <a:lnTo>
                  <a:pt x="1720" y="0"/>
                </a:lnTo>
                <a:lnTo>
                  <a:pt x="126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21" name="Freeform 12">
            <a:extLst>
              <a:ext uri="{FF2B5EF4-FFF2-40B4-BE49-F238E27FC236}">
                <a16:creationId xmlns:a16="http://schemas.microsoft.com/office/drawing/2014/main" id="{F58ED361-0E2C-77F6-2830-FBB60D746483}"/>
              </a:ext>
            </a:extLst>
          </p:cNvPr>
          <p:cNvSpPr>
            <a:spLocks noGrp="1"/>
          </p:cNvSpPr>
          <p:nvPr/>
        </p:nvSpPr>
        <p:spPr>
          <a:xfrm>
            <a:off x="330271" y="327819"/>
            <a:ext cx="287858" cy="438124"/>
          </a:xfrm>
          <a:custGeom>
            <a:avLst/>
            <a:gdLst>
              <a:gd name="T0" fmla="*/ 0 w 1113"/>
              <a:gd name="T1" fmla="*/ 0 h 1694"/>
              <a:gd name="T2" fmla="*/ 0 w 1113"/>
              <a:gd name="T3" fmla="*/ 297 h 1694"/>
              <a:gd name="T4" fmla="*/ 397 w 1113"/>
              <a:gd name="T5" fmla="*/ 297 h 1694"/>
              <a:gd name="T6" fmla="*/ 397 w 1113"/>
              <a:gd name="T7" fmla="*/ 1397 h 1694"/>
              <a:gd name="T8" fmla="*/ 0 w 1113"/>
              <a:gd name="T9" fmla="*/ 1397 h 1694"/>
              <a:gd name="T10" fmla="*/ 0 w 1113"/>
              <a:gd name="T11" fmla="*/ 1694 h 1694"/>
              <a:gd name="T12" fmla="*/ 1113 w 1113"/>
              <a:gd name="T13" fmla="*/ 1694 h 1694"/>
              <a:gd name="T14" fmla="*/ 1113 w 1113"/>
              <a:gd name="T15" fmla="*/ 1397 h 1694"/>
              <a:gd name="T16" fmla="*/ 717 w 1113"/>
              <a:gd name="T17" fmla="*/ 1397 h 1694"/>
              <a:gd name="T18" fmla="*/ 717 w 1113"/>
              <a:gd name="T19" fmla="*/ 297 h 1694"/>
              <a:gd name="T20" fmla="*/ 1113 w 1113"/>
              <a:gd name="T21" fmla="*/ 297 h 1694"/>
              <a:gd name="T22" fmla="*/ 1113 w 1113"/>
              <a:gd name="T23" fmla="*/ 0 h 1694"/>
              <a:gd name="T24" fmla="*/ 0 w 1113"/>
              <a:gd name="T25" fmla="*/ 0 h 1694"/>
            </a:gdLst>
            <a:ahLst/>
            <a:cxnLst/>
            <a:rect l="0" t="0" r="r" b="b"/>
            <a:pathLst>
              <a:path w="1113" h="1694">
                <a:moveTo>
                  <a:pt x="0" y="0"/>
                </a:moveTo>
                <a:lnTo>
                  <a:pt x="0" y="297"/>
                </a:lnTo>
                <a:lnTo>
                  <a:pt x="397" y="297"/>
                </a:lnTo>
                <a:lnTo>
                  <a:pt x="397" y="1397"/>
                </a:lnTo>
                <a:lnTo>
                  <a:pt x="0" y="1397"/>
                </a:lnTo>
                <a:lnTo>
                  <a:pt x="0" y="1694"/>
                </a:lnTo>
                <a:lnTo>
                  <a:pt x="1113" y="1694"/>
                </a:lnTo>
                <a:lnTo>
                  <a:pt x="1113" y="1397"/>
                </a:lnTo>
                <a:lnTo>
                  <a:pt x="717" y="1397"/>
                </a:lnTo>
                <a:lnTo>
                  <a:pt x="717" y="297"/>
                </a:lnTo>
                <a:lnTo>
                  <a:pt x="1113" y="297"/>
                </a:lnTo>
                <a:lnTo>
                  <a:pt x="1113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16624136-4B10-E87C-09E8-F602B21AB53E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330271" y="5789336"/>
            <a:ext cx="5579198" cy="740845"/>
          </a:xfrm>
        </p:spPr>
        <p:txBody>
          <a:bodyPr anchor="b"/>
          <a:lstStyle>
            <a:lvl1pPr>
              <a:buNone/>
              <a:defRPr sz="2200" b="1">
                <a:solidFill>
                  <a:schemeClr val="accent1"/>
                </a:solidFill>
                <a:latin typeface="+mn-lt"/>
                <a:ea typeface="+mn-lt"/>
                <a:cs typeface="+mn-lt"/>
              </a:defRPr>
            </a:lvl1pPr>
            <a:lvl2pPr>
              <a:buNone/>
              <a:defRPr sz="2200">
                <a:solidFill>
                  <a:schemeClr val="accent1"/>
                </a:solidFill>
              </a:defRPr>
            </a:lvl2pPr>
            <a:lvl3pPr>
              <a:buNone/>
              <a:defRPr sz="2200">
                <a:solidFill>
                  <a:schemeClr val="accent1"/>
                </a:solidFill>
                <a:latin typeface="+mn-lt"/>
                <a:ea typeface="+mn-lt"/>
                <a:cs typeface="+mn-lt"/>
              </a:defRPr>
            </a:lvl3pPr>
            <a:lvl4pPr>
              <a:buNone/>
              <a:defRPr sz="2200">
                <a:solidFill>
                  <a:schemeClr val="accent1"/>
                </a:solidFill>
                <a:latin typeface="+mn-lt"/>
                <a:ea typeface="+mn-lt"/>
                <a:cs typeface="+mn-lt"/>
              </a:defRPr>
            </a:lvl4pPr>
            <a:lvl5pPr>
              <a:buNone/>
              <a:defRPr sz="2200">
                <a:solidFill>
                  <a:schemeClr val="accent1"/>
                </a:solidFill>
                <a:latin typeface="+mn-lt"/>
                <a:ea typeface="+mn-lt"/>
                <a:cs typeface="+mn-lt"/>
              </a:defRPr>
            </a:lvl5pPr>
            <a:lvl6pPr>
              <a:buNone/>
              <a:defRPr>
                <a:latin typeface="+mn-lt"/>
                <a:ea typeface="+mn-lt"/>
                <a:cs typeface="+mn-lt"/>
              </a:defRPr>
            </a:lvl6pPr>
          </a:lstStyle>
          <a:p>
            <a:pPr lvl="0">
              <a:buNone/>
            </a:pPr>
            <a: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C1E3-6A7C-C21D-910D-C4B7DFFF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271" y="3338719"/>
            <a:ext cx="9144000" cy="1828406"/>
          </a:xfrm>
        </p:spPr>
        <p:txBody>
          <a:bodyPr anchor="t"/>
          <a:lstStyle>
            <a:lvl1pPr algn="l">
              <a:buNone/>
              <a:defRPr sz="6400">
                <a:solidFill>
                  <a:schemeClr val="bg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4" name="Freeform 5">
            <a:extLst>
              <a:ext uri="{FF2B5EF4-FFF2-40B4-BE49-F238E27FC236}">
                <a16:creationId xmlns:a16="http://schemas.microsoft.com/office/drawing/2014/main" id="{770403FB-3386-A0FE-3E9D-A2925EF0E8F0}"/>
              </a:ext>
            </a:extLst>
          </p:cNvPr>
          <p:cNvSpPr>
            <a:spLocks noGrp="1"/>
          </p:cNvSpPr>
          <p:nvPr/>
        </p:nvSpPr>
        <p:spPr>
          <a:xfrm>
            <a:off x="4018633" y="327819"/>
            <a:ext cx="284237" cy="438124"/>
          </a:xfrm>
          <a:custGeom>
            <a:avLst/>
            <a:gdLst>
              <a:gd name="T0" fmla="*/ 0 w 1099"/>
              <a:gd name="T1" fmla="*/ 0 h 1694"/>
              <a:gd name="T2" fmla="*/ 0 w 1099"/>
              <a:gd name="T3" fmla="*/ 1694 h 1694"/>
              <a:gd name="T4" fmla="*/ 1099 w 1099"/>
              <a:gd name="T5" fmla="*/ 1694 h 1694"/>
              <a:gd name="T6" fmla="*/ 1099 w 1099"/>
              <a:gd name="T7" fmla="*/ 1397 h 1694"/>
              <a:gd name="T8" fmla="*/ 319 w 1099"/>
              <a:gd name="T9" fmla="*/ 1397 h 1694"/>
              <a:gd name="T10" fmla="*/ 319 w 1099"/>
              <a:gd name="T11" fmla="*/ 0 h 1694"/>
              <a:gd name="T12" fmla="*/ 0 w 1099"/>
              <a:gd name="T13" fmla="*/ 0 h 1694"/>
            </a:gdLst>
            <a:ahLst/>
            <a:cxnLst/>
            <a:rect l="0" t="0" r="r" b="b"/>
            <a:pathLst>
              <a:path w="1099" h="1694">
                <a:moveTo>
                  <a:pt x="0" y="0"/>
                </a:moveTo>
                <a:lnTo>
                  <a:pt x="0" y="1694"/>
                </a:lnTo>
                <a:lnTo>
                  <a:pt x="1099" y="1694"/>
                </a:lnTo>
                <a:lnTo>
                  <a:pt x="1099" y="1397"/>
                </a:lnTo>
                <a:lnTo>
                  <a:pt x="319" y="1397"/>
                </a:lnTo>
                <a:lnTo>
                  <a:pt x="31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5" name="Freeform 6">
            <a:extLst>
              <a:ext uri="{FF2B5EF4-FFF2-40B4-BE49-F238E27FC236}">
                <a16:creationId xmlns:a16="http://schemas.microsoft.com/office/drawing/2014/main" id="{C2CDC1DE-179E-04D4-B493-BF069DE85D67}"/>
              </a:ext>
            </a:extLst>
          </p:cNvPr>
          <p:cNvSpPr>
            <a:spLocks noGrp="1"/>
          </p:cNvSpPr>
          <p:nvPr/>
        </p:nvSpPr>
        <p:spPr>
          <a:xfrm>
            <a:off x="3434382" y="327819"/>
            <a:ext cx="397001" cy="438124"/>
          </a:xfrm>
          <a:custGeom>
            <a:avLst/>
            <a:gdLst>
              <a:gd name="T0" fmla="*/ 556 w 1535"/>
              <a:gd name="T1" fmla="*/ 0 h 1694"/>
              <a:gd name="T2" fmla="*/ 0 w 1535"/>
              <a:gd name="T3" fmla="*/ 1694 h 1694"/>
              <a:gd name="T4" fmla="*/ 337 w 1535"/>
              <a:gd name="T5" fmla="*/ 1694 h 1694"/>
              <a:gd name="T6" fmla="*/ 453 w 1535"/>
              <a:gd name="T7" fmla="*/ 1321 h 1694"/>
              <a:gd name="T8" fmla="*/ 1083 w 1535"/>
              <a:gd name="T9" fmla="*/ 1321 h 1694"/>
              <a:gd name="T10" fmla="*/ 1197 w 1535"/>
              <a:gd name="T11" fmla="*/ 1694 h 1694"/>
              <a:gd name="T12" fmla="*/ 1535 w 1535"/>
              <a:gd name="T13" fmla="*/ 1694 h 1694"/>
              <a:gd name="T14" fmla="*/ 978 w 1535"/>
              <a:gd name="T15" fmla="*/ 0 h 1694"/>
              <a:gd name="T16" fmla="*/ 556 w 1535"/>
              <a:gd name="T17" fmla="*/ 0 h 1694"/>
              <a:gd name="T18" fmla="*/ 768 w 1535"/>
              <a:gd name="T19" fmla="*/ 301 h 1694"/>
              <a:gd name="T20" fmla="*/ 998 w 1535"/>
              <a:gd name="T21" fmla="*/ 1048 h 1694"/>
              <a:gd name="T22" fmla="*/ 536 w 1535"/>
              <a:gd name="T23" fmla="*/ 1048 h 1694"/>
              <a:gd name="T24" fmla="*/ 768 w 1535"/>
              <a:gd name="T25" fmla="*/ 301 h 1694"/>
            </a:gdLst>
            <a:ahLst/>
            <a:cxnLst/>
            <a:rect l="0" t="0" r="r" b="b"/>
            <a:pathLst>
              <a:path w="1535" h="1694">
                <a:moveTo>
                  <a:pt x="556" y="0"/>
                </a:moveTo>
                <a:lnTo>
                  <a:pt x="0" y="1694"/>
                </a:lnTo>
                <a:lnTo>
                  <a:pt x="337" y="1694"/>
                </a:lnTo>
                <a:lnTo>
                  <a:pt x="453" y="1321"/>
                </a:lnTo>
                <a:lnTo>
                  <a:pt x="1083" y="1321"/>
                </a:lnTo>
                <a:lnTo>
                  <a:pt x="1197" y="1694"/>
                </a:lnTo>
                <a:lnTo>
                  <a:pt x="1535" y="1694"/>
                </a:lnTo>
                <a:lnTo>
                  <a:pt x="978" y="0"/>
                </a:lnTo>
                <a:lnTo>
                  <a:pt x="556" y="0"/>
                </a:lnTo>
                <a:close/>
                <a:moveTo>
                  <a:pt x="768" y="301"/>
                </a:moveTo>
                <a:lnTo>
                  <a:pt x="998" y="1048"/>
                </a:lnTo>
                <a:lnTo>
                  <a:pt x="536" y="1048"/>
                </a:lnTo>
                <a:lnTo>
                  <a:pt x="768" y="30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6" name="Freeform 7">
            <a:extLst>
              <a:ext uri="{FF2B5EF4-FFF2-40B4-BE49-F238E27FC236}">
                <a16:creationId xmlns:a16="http://schemas.microsoft.com/office/drawing/2014/main" id="{B9A68412-C85B-6332-8B98-2635795BBA04}"/>
              </a:ext>
            </a:extLst>
          </p:cNvPr>
          <p:cNvSpPr>
            <a:spLocks noGrp="1"/>
          </p:cNvSpPr>
          <p:nvPr/>
        </p:nvSpPr>
        <p:spPr>
          <a:xfrm>
            <a:off x="2981257" y="327819"/>
            <a:ext cx="287858" cy="438124"/>
          </a:xfrm>
          <a:custGeom>
            <a:avLst/>
            <a:gdLst>
              <a:gd name="T0" fmla="*/ 0 w 1113"/>
              <a:gd name="T1" fmla="*/ 0 h 1694"/>
              <a:gd name="T2" fmla="*/ 0 w 1113"/>
              <a:gd name="T3" fmla="*/ 297 h 1694"/>
              <a:gd name="T4" fmla="*/ 396 w 1113"/>
              <a:gd name="T5" fmla="*/ 297 h 1694"/>
              <a:gd name="T6" fmla="*/ 396 w 1113"/>
              <a:gd name="T7" fmla="*/ 1397 h 1694"/>
              <a:gd name="T8" fmla="*/ 0 w 1113"/>
              <a:gd name="T9" fmla="*/ 1397 h 1694"/>
              <a:gd name="T10" fmla="*/ 0 w 1113"/>
              <a:gd name="T11" fmla="*/ 1694 h 1694"/>
              <a:gd name="T12" fmla="*/ 1113 w 1113"/>
              <a:gd name="T13" fmla="*/ 1694 h 1694"/>
              <a:gd name="T14" fmla="*/ 1113 w 1113"/>
              <a:gd name="T15" fmla="*/ 1397 h 1694"/>
              <a:gd name="T16" fmla="*/ 716 w 1113"/>
              <a:gd name="T17" fmla="*/ 1397 h 1694"/>
              <a:gd name="T18" fmla="*/ 716 w 1113"/>
              <a:gd name="T19" fmla="*/ 297 h 1694"/>
              <a:gd name="T20" fmla="*/ 1113 w 1113"/>
              <a:gd name="T21" fmla="*/ 297 h 1694"/>
              <a:gd name="T22" fmla="*/ 1113 w 1113"/>
              <a:gd name="T23" fmla="*/ 0 h 1694"/>
              <a:gd name="T24" fmla="*/ 0 w 1113"/>
              <a:gd name="T25" fmla="*/ 0 h 1694"/>
            </a:gdLst>
            <a:ahLst/>
            <a:cxnLst/>
            <a:rect l="0" t="0" r="r" b="b"/>
            <a:pathLst>
              <a:path w="1113" h="1694">
                <a:moveTo>
                  <a:pt x="0" y="0"/>
                </a:moveTo>
                <a:lnTo>
                  <a:pt x="0" y="297"/>
                </a:lnTo>
                <a:lnTo>
                  <a:pt x="396" y="297"/>
                </a:lnTo>
                <a:lnTo>
                  <a:pt x="396" y="1397"/>
                </a:lnTo>
                <a:lnTo>
                  <a:pt x="0" y="1397"/>
                </a:lnTo>
                <a:lnTo>
                  <a:pt x="0" y="1694"/>
                </a:lnTo>
                <a:lnTo>
                  <a:pt x="1113" y="1694"/>
                </a:lnTo>
                <a:lnTo>
                  <a:pt x="1113" y="1397"/>
                </a:lnTo>
                <a:lnTo>
                  <a:pt x="716" y="1397"/>
                </a:lnTo>
                <a:lnTo>
                  <a:pt x="716" y="297"/>
                </a:lnTo>
                <a:lnTo>
                  <a:pt x="1113" y="297"/>
                </a:lnTo>
                <a:lnTo>
                  <a:pt x="1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D9ECB875-34C4-65FF-6CDA-1356F6BC767F}"/>
              </a:ext>
            </a:extLst>
          </p:cNvPr>
          <p:cNvSpPr>
            <a:spLocks noGrp="1"/>
          </p:cNvSpPr>
          <p:nvPr/>
        </p:nvSpPr>
        <p:spPr>
          <a:xfrm>
            <a:off x="2467353" y="327819"/>
            <a:ext cx="340619" cy="438124"/>
          </a:xfrm>
          <a:custGeom>
            <a:avLst/>
            <a:gdLst>
              <a:gd name="T0" fmla="*/ 884 w 932"/>
              <a:gd name="T1" fmla="*/ 372 h 1199"/>
              <a:gd name="T2" fmla="*/ 442 w 932"/>
              <a:gd name="T3" fmla="*/ 0 h 1199"/>
              <a:gd name="T4" fmla="*/ 0 w 932"/>
              <a:gd name="T5" fmla="*/ 0 h 1199"/>
              <a:gd name="T6" fmla="*/ 0 w 932"/>
              <a:gd name="T7" fmla="*/ 1199 h 1199"/>
              <a:gd name="T8" fmla="*/ 227 w 932"/>
              <a:gd name="T9" fmla="*/ 1199 h 1199"/>
              <a:gd name="T10" fmla="*/ 227 w 932"/>
              <a:gd name="T11" fmla="*/ 755 h 1199"/>
              <a:gd name="T12" fmla="*/ 418 w 932"/>
              <a:gd name="T13" fmla="*/ 755 h 1199"/>
              <a:gd name="T14" fmla="*/ 450 w 932"/>
              <a:gd name="T15" fmla="*/ 755 h 1199"/>
              <a:gd name="T16" fmla="*/ 681 w 932"/>
              <a:gd name="T17" fmla="*/ 1199 h 1199"/>
              <a:gd name="T18" fmla="*/ 932 w 932"/>
              <a:gd name="T19" fmla="*/ 1199 h 1199"/>
              <a:gd name="T20" fmla="*/ 676 w 932"/>
              <a:gd name="T21" fmla="*/ 707 h 1199"/>
              <a:gd name="T22" fmla="*/ 884 w 932"/>
              <a:gd name="T23" fmla="*/ 372 h 1199"/>
              <a:gd name="T24" fmla="*/ 645 w 932"/>
              <a:gd name="T25" fmla="*/ 372 h 1199"/>
              <a:gd name="T26" fmla="*/ 418 w 932"/>
              <a:gd name="T27" fmla="*/ 562 h 1199"/>
              <a:gd name="T28" fmla="*/ 227 w 932"/>
              <a:gd name="T29" fmla="*/ 562 h 1199"/>
              <a:gd name="T30" fmla="*/ 227 w 932"/>
              <a:gd name="T31" fmla="*/ 194 h 1199"/>
              <a:gd name="T32" fmla="*/ 418 w 932"/>
              <a:gd name="T33" fmla="*/ 194 h 1199"/>
              <a:gd name="T34" fmla="*/ 645 w 932"/>
              <a:gd name="T35" fmla="*/ 372 h 1199"/>
            </a:gdLst>
            <a:ahLst/>
            <a:cxnLst/>
            <a:rect l="0" t="0" r="r" b="b"/>
            <a:pathLst>
              <a:path w="932" h="1199">
                <a:moveTo>
                  <a:pt x="884" y="372"/>
                </a:moveTo>
                <a:cubicBezTo>
                  <a:pt x="884" y="92"/>
                  <a:pt x="693" y="0"/>
                  <a:pt x="442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199"/>
                  <a:pt x="0" y="1199"/>
                  <a:pt x="0" y="1199"/>
                </a:cubicBezTo>
                <a:cubicBezTo>
                  <a:pt x="227" y="1199"/>
                  <a:pt x="227" y="1199"/>
                  <a:pt x="227" y="1199"/>
                </a:cubicBezTo>
                <a:cubicBezTo>
                  <a:pt x="227" y="755"/>
                  <a:pt x="227" y="755"/>
                  <a:pt x="227" y="755"/>
                </a:cubicBezTo>
                <a:cubicBezTo>
                  <a:pt x="418" y="755"/>
                  <a:pt x="418" y="755"/>
                  <a:pt x="418" y="755"/>
                </a:cubicBezTo>
                <a:cubicBezTo>
                  <a:pt x="429" y="755"/>
                  <a:pt x="439" y="755"/>
                  <a:pt x="450" y="755"/>
                </a:cubicBezTo>
                <a:cubicBezTo>
                  <a:pt x="681" y="1199"/>
                  <a:pt x="681" y="1199"/>
                  <a:pt x="681" y="1199"/>
                </a:cubicBezTo>
                <a:cubicBezTo>
                  <a:pt x="932" y="1199"/>
                  <a:pt x="932" y="1199"/>
                  <a:pt x="932" y="1199"/>
                </a:cubicBezTo>
                <a:cubicBezTo>
                  <a:pt x="676" y="707"/>
                  <a:pt x="676" y="707"/>
                  <a:pt x="676" y="707"/>
                </a:cubicBezTo>
                <a:cubicBezTo>
                  <a:pt x="801" y="652"/>
                  <a:pt x="884" y="545"/>
                  <a:pt x="884" y="372"/>
                </a:cubicBezTo>
                <a:moveTo>
                  <a:pt x="645" y="372"/>
                </a:moveTo>
                <a:cubicBezTo>
                  <a:pt x="645" y="516"/>
                  <a:pt x="562" y="562"/>
                  <a:pt x="418" y="562"/>
                </a:cubicBezTo>
                <a:cubicBezTo>
                  <a:pt x="227" y="562"/>
                  <a:pt x="227" y="562"/>
                  <a:pt x="227" y="562"/>
                </a:cubicBezTo>
                <a:cubicBezTo>
                  <a:pt x="227" y="194"/>
                  <a:pt x="227" y="194"/>
                  <a:pt x="227" y="194"/>
                </a:cubicBezTo>
                <a:cubicBezTo>
                  <a:pt x="418" y="194"/>
                  <a:pt x="418" y="194"/>
                  <a:pt x="418" y="194"/>
                </a:cubicBezTo>
                <a:cubicBezTo>
                  <a:pt x="574" y="194"/>
                  <a:pt x="645" y="252"/>
                  <a:pt x="645" y="372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D3B5B848-7A8D-931B-DFC2-C5B37B8DB6F5}"/>
              </a:ext>
            </a:extLst>
          </p:cNvPr>
          <p:cNvSpPr>
            <a:spLocks noGrp="1"/>
          </p:cNvSpPr>
          <p:nvPr/>
        </p:nvSpPr>
        <p:spPr>
          <a:xfrm>
            <a:off x="1977503" y="327819"/>
            <a:ext cx="283978" cy="438124"/>
          </a:xfrm>
          <a:custGeom>
            <a:avLst/>
            <a:gdLst>
              <a:gd name="T0" fmla="*/ 0 w 1098"/>
              <a:gd name="T1" fmla="*/ 0 h 1694"/>
              <a:gd name="T2" fmla="*/ 0 w 1098"/>
              <a:gd name="T3" fmla="*/ 1694 h 1694"/>
              <a:gd name="T4" fmla="*/ 1098 w 1098"/>
              <a:gd name="T5" fmla="*/ 1694 h 1694"/>
              <a:gd name="T6" fmla="*/ 1098 w 1098"/>
              <a:gd name="T7" fmla="*/ 1397 h 1694"/>
              <a:gd name="T8" fmla="*/ 321 w 1098"/>
              <a:gd name="T9" fmla="*/ 1397 h 1694"/>
              <a:gd name="T10" fmla="*/ 321 w 1098"/>
              <a:gd name="T11" fmla="*/ 973 h 1694"/>
              <a:gd name="T12" fmla="*/ 1030 w 1098"/>
              <a:gd name="T13" fmla="*/ 973 h 1694"/>
              <a:gd name="T14" fmla="*/ 1030 w 1098"/>
              <a:gd name="T15" fmla="*/ 687 h 1694"/>
              <a:gd name="T16" fmla="*/ 321 w 1098"/>
              <a:gd name="T17" fmla="*/ 687 h 1694"/>
              <a:gd name="T18" fmla="*/ 321 w 1098"/>
              <a:gd name="T19" fmla="*/ 297 h 1694"/>
              <a:gd name="T20" fmla="*/ 1098 w 1098"/>
              <a:gd name="T21" fmla="*/ 297 h 1694"/>
              <a:gd name="T22" fmla="*/ 1098 w 1098"/>
              <a:gd name="T23" fmla="*/ 0 h 1694"/>
              <a:gd name="T24" fmla="*/ 0 w 1098"/>
              <a:gd name="T25" fmla="*/ 0 h 1694"/>
            </a:gdLst>
            <a:ahLst/>
            <a:cxnLst/>
            <a:rect l="0" t="0" r="r" b="b"/>
            <a:pathLst>
              <a:path w="1098" h="1694">
                <a:moveTo>
                  <a:pt x="0" y="0"/>
                </a:moveTo>
                <a:lnTo>
                  <a:pt x="0" y="1694"/>
                </a:lnTo>
                <a:lnTo>
                  <a:pt x="1098" y="1694"/>
                </a:lnTo>
                <a:lnTo>
                  <a:pt x="1098" y="1397"/>
                </a:lnTo>
                <a:lnTo>
                  <a:pt x="321" y="1397"/>
                </a:lnTo>
                <a:lnTo>
                  <a:pt x="321" y="973"/>
                </a:lnTo>
                <a:lnTo>
                  <a:pt x="1030" y="973"/>
                </a:lnTo>
                <a:lnTo>
                  <a:pt x="1030" y="687"/>
                </a:lnTo>
                <a:lnTo>
                  <a:pt x="321" y="687"/>
                </a:lnTo>
                <a:lnTo>
                  <a:pt x="321" y="297"/>
                </a:lnTo>
                <a:lnTo>
                  <a:pt x="1098" y="297"/>
                </a:lnTo>
                <a:lnTo>
                  <a:pt x="1098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19" name="Freeform 10">
            <a:extLst>
              <a:ext uri="{FF2B5EF4-FFF2-40B4-BE49-F238E27FC236}">
                <a16:creationId xmlns:a16="http://schemas.microsoft.com/office/drawing/2014/main" id="{361AABDF-9542-DBC6-6388-ABE2035BE7BC}"/>
              </a:ext>
            </a:extLst>
          </p:cNvPr>
          <p:cNvSpPr>
            <a:spLocks noGrp="1"/>
          </p:cNvSpPr>
          <p:nvPr/>
        </p:nvSpPr>
        <p:spPr>
          <a:xfrm>
            <a:off x="1489204" y="327819"/>
            <a:ext cx="314238" cy="438124"/>
          </a:xfrm>
          <a:custGeom>
            <a:avLst/>
            <a:gdLst>
              <a:gd name="T0" fmla="*/ 406 w 860"/>
              <a:gd name="T1" fmla="*/ 791 h 1199"/>
              <a:gd name="T2" fmla="*/ 227 w 860"/>
              <a:gd name="T3" fmla="*/ 791 h 1199"/>
              <a:gd name="T4" fmla="*/ 227 w 860"/>
              <a:gd name="T5" fmla="*/ 1199 h 1199"/>
              <a:gd name="T6" fmla="*/ 0 w 860"/>
              <a:gd name="T7" fmla="*/ 1199 h 1199"/>
              <a:gd name="T8" fmla="*/ 0 w 860"/>
              <a:gd name="T9" fmla="*/ 0 h 1199"/>
              <a:gd name="T10" fmla="*/ 406 w 860"/>
              <a:gd name="T11" fmla="*/ 0 h 1199"/>
              <a:gd name="T12" fmla="*/ 860 w 860"/>
              <a:gd name="T13" fmla="*/ 396 h 1199"/>
              <a:gd name="T14" fmla="*/ 406 w 860"/>
              <a:gd name="T15" fmla="*/ 791 h 1199"/>
              <a:gd name="T16" fmla="*/ 394 w 860"/>
              <a:gd name="T17" fmla="*/ 194 h 1199"/>
              <a:gd name="T18" fmla="*/ 227 w 860"/>
              <a:gd name="T19" fmla="*/ 194 h 1199"/>
              <a:gd name="T20" fmla="*/ 227 w 860"/>
              <a:gd name="T21" fmla="*/ 598 h 1199"/>
              <a:gd name="T22" fmla="*/ 394 w 860"/>
              <a:gd name="T23" fmla="*/ 598 h 1199"/>
              <a:gd name="T24" fmla="*/ 621 w 860"/>
              <a:gd name="T25" fmla="*/ 396 h 1199"/>
              <a:gd name="T26" fmla="*/ 394 w 860"/>
              <a:gd name="T27" fmla="*/ 194 h 1199"/>
            </a:gdLst>
            <a:ahLst/>
            <a:cxnLst/>
            <a:rect l="0" t="0" r="r" b="b"/>
            <a:pathLst>
              <a:path w="860" h="1199">
                <a:moveTo>
                  <a:pt x="406" y="791"/>
                </a:moveTo>
                <a:cubicBezTo>
                  <a:pt x="227" y="791"/>
                  <a:pt x="227" y="791"/>
                  <a:pt x="227" y="791"/>
                </a:cubicBezTo>
                <a:cubicBezTo>
                  <a:pt x="227" y="1199"/>
                  <a:pt x="227" y="1199"/>
                  <a:pt x="227" y="1199"/>
                </a:cubicBezTo>
                <a:cubicBezTo>
                  <a:pt x="0" y="1199"/>
                  <a:pt x="0" y="1199"/>
                  <a:pt x="0" y="1199"/>
                </a:cubicBezTo>
                <a:cubicBezTo>
                  <a:pt x="0" y="0"/>
                  <a:pt x="0" y="0"/>
                  <a:pt x="0" y="0"/>
                </a:cubicBezTo>
                <a:cubicBezTo>
                  <a:pt x="406" y="0"/>
                  <a:pt x="406" y="0"/>
                  <a:pt x="406" y="0"/>
                </a:cubicBezTo>
                <a:cubicBezTo>
                  <a:pt x="661" y="0"/>
                  <a:pt x="860" y="116"/>
                  <a:pt x="860" y="396"/>
                </a:cubicBezTo>
                <a:cubicBezTo>
                  <a:pt x="860" y="671"/>
                  <a:pt x="659" y="791"/>
                  <a:pt x="406" y="791"/>
                </a:cubicBezTo>
                <a:moveTo>
                  <a:pt x="394" y="194"/>
                </a:moveTo>
                <a:cubicBezTo>
                  <a:pt x="227" y="194"/>
                  <a:pt x="227" y="194"/>
                  <a:pt x="227" y="194"/>
                </a:cubicBezTo>
                <a:cubicBezTo>
                  <a:pt x="227" y="598"/>
                  <a:pt x="227" y="598"/>
                  <a:pt x="227" y="598"/>
                </a:cubicBezTo>
                <a:cubicBezTo>
                  <a:pt x="394" y="598"/>
                  <a:pt x="394" y="598"/>
                  <a:pt x="394" y="598"/>
                </a:cubicBezTo>
                <a:cubicBezTo>
                  <a:pt x="525" y="598"/>
                  <a:pt x="621" y="534"/>
                  <a:pt x="621" y="396"/>
                </a:cubicBezTo>
                <a:cubicBezTo>
                  <a:pt x="621" y="252"/>
                  <a:pt x="525" y="194"/>
                  <a:pt x="394" y="194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20" name="Freeform 11">
            <a:extLst>
              <a:ext uri="{FF2B5EF4-FFF2-40B4-BE49-F238E27FC236}">
                <a16:creationId xmlns:a16="http://schemas.microsoft.com/office/drawing/2014/main" id="{057C10C3-A39D-D1F6-3C50-91EC9A5E76EF}"/>
              </a:ext>
            </a:extLst>
          </p:cNvPr>
          <p:cNvSpPr>
            <a:spLocks noGrp="1"/>
          </p:cNvSpPr>
          <p:nvPr/>
        </p:nvSpPr>
        <p:spPr>
          <a:xfrm>
            <a:off x="833311" y="327819"/>
            <a:ext cx="444848" cy="438124"/>
          </a:xfrm>
          <a:custGeom>
            <a:avLst/>
            <a:gdLst>
              <a:gd name="T0" fmla="*/ 1265 w 1720"/>
              <a:gd name="T1" fmla="*/ 0 h 1694"/>
              <a:gd name="T2" fmla="*/ 860 w 1720"/>
              <a:gd name="T3" fmla="*/ 996 h 1694"/>
              <a:gd name="T4" fmla="*/ 456 w 1720"/>
              <a:gd name="T5" fmla="*/ 0 h 1694"/>
              <a:gd name="T6" fmla="*/ 0 w 1720"/>
              <a:gd name="T7" fmla="*/ 0 h 1694"/>
              <a:gd name="T8" fmla="*/ 0 w 1720"/>
              <a:gd name="T9" fmla="*/ 1694 h 1694"/>
              <a:gd name="T10" fmla="*/ 303 w 1720"/>
              <a:gd name="T11" fmla="*/ 1694 h 1694"/>
              <a:gd name="T12" fmla="*/ 303 w 1720"/>
              <a:gd name="T13" fmla="*/ 428 h 1694"/>
              <a:gd name="T14" fmla="*/ 692 w 1720"/>
              <a:gd name="T15" fmla="*/ 1321 h 1694"/>
              <a:gd name="T16" fmla="*/ 709 w 1720"/>
              <a:gd name="T17" fmla="*/ 1321 h 1694"/>
              <a:gd name="T18" fmla="*/ 1012 w 1720"/>
              <a:gd name="T19" fmla="*/ 1321 h 1694"/>
              <a:gd name="T20" fmla="*/ 1029 w 1720"/>
              <a:gd name="T21" fmla="*/ 1321 h 1694"/>
              <a:gd name="T22" fmla="*/ 1416 w 1720"/>
              <a:gd name="T23" fmla="*/ 428 h 1694"/>
              <a:gd name="T24" fmla="*/ 1416 w 1720"/>
              <a:gd name="T25" fmla="*/ 1694 h 1694"/>
              <a:gd name="T26" fmla="*/ 1720 w 1720"/>
              <a:gd name="T27" fmla="*/ 1694 h 1694"/>
              <a:gd name="T28" fmla="*/ 1720 w 1720"/>
              <a:gd name="T29" fmla="*/ 0 h 1694"/>
              <a:gd name="T30" fmla="*/ 1265 w 1720"/>
              <a:gd name="T31" fmla="*/ 0 h 1694"/>
            </a:gdLst>
            <a:ahLst/>
            <a:cxnLst/>
            <a:rect l="0" t="0" r="r" b="b"/>
            <a:pathLst>
              <a:path w="1720" h="1694">
                <a:moveTo>
                  <a:pt x="1265" y="0"/>
                </a:moveTo>
                <a:lnTo>
                  <a:pt x="860" y="996"/>
                </a:lnTo>
                <a:lnTo>
                  <a:pt x="456" y="0"/>
                </a:lnTo>
                <a:lnTo>
                  <a:pt x="0" y="0"/>
                </a:lnTo>
                <a:lnTo>
                  <a:pt x="0" y="1694"/>
                </a:lnTo>
                <a:lnTo>
                  <a:pt x="303" y="1694"/>
                </a:lnTo>
                <a:lnTo>
                  <a:pt x="303" y="428"/>
                </a:lnTo>
                <a:lnTo>
                  <a:pt x="692" y="1321"/>
                </a:lnTo>
                <a:lnTo>
                  <a:pt x="709" y="1321"/>
                </a:lnTo>
                <a:lnTo>
                  <a:pt x="1012" y="1321"/>
                </a:lnTo>
                <a:lnTo>
                  <a:pt x="1029" y="1321"/>
                </a:lnTo>
                <a:lnTo>
                  <a:pt x="1416" y="428"/>
                </a:lnTo>
                <a:lnTo>
                  <a:pt x="1416" y="1694"/>
                </a:lnTo>
                <a:lnTo>
                  <a:pt x="1720" y="1694"/>
                </a:lnTo>
                <a:lnTo>
                  <a:pt x="1720" y="0"/>
                </a:lnTo>
                <a:lnTo>
                  <a:pt x="126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21" name="Freeform 12">
            <a:extLst>
              <a:ext uri="{FF2B5EF4-FFF2-40B4-BE49-F238E27FC236}">
                <a16:creationId xmlns:a16="http://schemas.microsoft.com/office/drawing/2014/main" id="{E4DD9B4A-92B0-0B9A-755B-A13B032A85A5}"/>
              </a:ext>
            </a:extLst>
          </p:cNvPr>
          <p:cNvSpPr>
            <a:spLocks noGrp="1"/>
          </p:cNvSpPr>
          <p:nvPr/>
        </p:nvSpPr>
        <p:spPr>
          <a:xfrm>
            <a:off x="330271" y="327819"/>
            <a:ext cx="287858" cy="438124"/>
          </a:xfrm>
          <a:custGeom>
            <a:avLst/>
            <a:gdLst>
              <a:gd name="T0" fmla="*/ 0 w 1113"/>
              <a:gd name="T1" fmla="*/ 0 h 1694"/>
              <a:gd name="T2" fmla="*/ 0 w 1113"/>
              <a:gd name="T3" fmla="*/ 297 h 1694"/>
              <a:gd name="T4" fmla="*/ 397 w 1113"/>
              <a:gd name="T5" fmla="*/ 297 h 1694"/>
              <a:gd name="T6" fmla="*/ 397 w 1113"/>
              <a:gd name="T7" fmla="*/ 1397 h 1694"/>
              <a:gd name="T8" fmla="*/ 0 w 1113"/>
              <a:gd name="T9" fmla="*/ 1397 h 1694"/>
              <a:gd name="T10" fmla="*/ 0 w 1113"/>
              <a:gd name="T11" fmla="*/ 1694 h 1694"/>
              <a:gd name="T12" fmla="*/ 1113 w 1113"/>
              <a:gd name="T13" fmla="*/ 1694 h 1694"/>
              <a:gd name="T14" fmla="*/ 1113 w 1113"/>
              <a:gd name="T15" fmla="*/ 1397 h 1694"/>
              <a:gd name="T16" fmla="*/ 717 w 1113"/>
              <a:gd name="T17" fmla="*/ 1397 h 1694"/>
              <a:gd name="T18" fmla="*/ 717 w 1113"/>
              <a:gd name="T19" fmla="*/ 297 h 1694"/>
              <a:gd name="T20" fmla="*/ 1113 w 1113"/>
              <a:gd name="T21" fmla="*/ 297 h 1694"/>
              <a:gd name="T22" fmla="*/ 1113 w 1113"/>
              <a:gd name="T23" fmla="*/ 0 h 1694"/>
              <a:gd name="T24" fmla="*/ 0 w 1113"/>
              <a:gd name="T25" fmla="*/ 0 h 1694"/>
            </a:gdLst>
            <a:ahLst/>
            <a:cxnLst/>
            <a:rect l="0" t="0" r="r" b="b"/>
            <a:pathLst>
              <a:path w="1113" h="1694">
                <a:moveTo>
                  <a:pt x="0" y="0"/>
                </a:moveTo>
                <a:lnTo>
                  <a:pt x="0" y="297"/>
                </a:lnTo>
                <a:lnTo>
                  <a:pt x="397" y="297"/>
                </a:lnTo>
                <a:lnTo>
                  <a:pt x="397" y="1397"/>
                </a:lnTo>
                <a:lnTo>
                  <a:pt x="0" y="1397"/>
                </a:lnTo>
                <a:lnTo>
                  <a:pt x="0" y="1694"/>
                </a:lnTo>
                <a:lnTo>
                  <a:pt x="1113" y="1694"/>
                </a:lnTo>
                <a:lnTo>
                  <a:pt x="1113" y="1397"/>
                </a:lnTo>
                <a:lnTo>
                  <a:pt x="717" y="1397"/>
                </a:lnTo>
                <a:lnTo>
                  <a:pt x="717" y="297"/>
                </a:lnTo>
                <a:lnTo>
                  <a:pt x="1113" y="297"/>
                </a:lnTo>
                <a:lnTo>
                  <a:pt x="1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 sz="90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DC194134-A515-0C24-CB74-92DACB0FDC9F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330271" y="5789336"/>
            <a:ext cx="5579198" cy="740845"/>
          </a:xfrm>
        </p:spPr>
        <p:txBody>
          <a:bodyPr anchor="b"/>
          <a:lstStyle>
            <a:lvl1pPr>
              <a:buNone/>
              <a:defRPr sz="2200" b="1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>
              <a:buNone/>
              <a:defRPr sz="2200">
                <a:solidFill>
                  <a:schemeClr val="accent1"/>
                </a:solidFill>
              </a:defRPr>
            </a:lvl2pPr>
            <a:lvl3pPr>
              <a:buNone/>
              <a:defRPr sz="2200">
                <a:solidFill>
                  <a:schemeClr val="accent1"/>
                </a:solidFill>
                <a:latin typeface="+mn-lt"/>
                <a:ea typeface="+mn-lt"/>
                <a:cs typeface="+mn-lt"/>
              </a:defRPr>
            </a:lvl3pPr>
            <a:lvl4pPr>
              <a:buNone/>
              <a:defRPr sz="2200">
                <a:solidFill>
                  <a:schemeClr val="accent1"/>
                </a:solidFill>
                <a:latin typeface="+mn-lt"/>
                <a:ea typeface="+mn-lt"/>
                <a:cs typeface="+mn-lt"/>
              </a:defRPr>
            </a:lvl4pPr>
            <a:lvl5pPr>
              <a:buNone/>
              <a:defRPr sz="2200">
                <a:solidFill>
                  <a:schemeClr val="accent1"/>
                </a:solidFill>
                <a:latin typeface="+mn-lt"/>
                <a:ea typeface="+mn-lt"/>
                <a:cs typeface="+mn-lt"/>
              </a:defRPr>
            </a:lvl5pPr>
            <a:lvl6pPr>
              <a:buNone/>
              <a:defRPr>
                <a:latin typeface="+mn-lt"/>
                <a:ea typeface="+mn-lt"/>
                <a:cs typeface="+mn-lt"/>
              </a:defRPr>
            </a:lvl6pPr>
          </a:lstStyle>
          <a:p>
            <a:pPr lvl="0">
              <a:buNone/>
            </a:pPr>
            <a: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36668-9440-2FC4-1A20-CEA2160E1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A156BD-F388-30EA-2720-04061953B80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GB"/>
              <a:t>29/10/2026</a:t>
            </a:r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FDBFEE-0509-16B7-5DAE-5E0DB02DD78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Data Science and Machine Learning for Geoscientists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AB126A-2C1E-4241-BBEB-C3AA6FE622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BA53E11-492D-48B3-9F9B-09541CA2A39A}" type="slidenum">
              <a:t>‹#›</a:t>
            </a:fld>
            <a:endParaRPr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2358139-EACE-E729-C3E3-AD890A6D0F80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36668-9440-2FC4-1A20-CEA2160E1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A156BD-F388-30EA-2720-04061953B80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GB"/>
              <a:t>29/10/2026</a:t>
            </a:r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FDBFEE-0509-16B7-5DAE-5E0DB02DD78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Data Science and Machine Learning for Geoscientists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AB126A-2C1E-4241-BBEB-C3AA6FE622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BA53E11-492D-48B3-9F9B-09541CA2A39A}" type="slidenum">
              <a:t>‹#›</a:t>
            </a:fld>
            <a:endParaRPr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2358139-EACE-E729-C3E3-AD890A6D0F80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36668-9440-2FC4-1A20-CEA2160E1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A156BD-F388-30EA-2720-04061953B80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GB"/>
              <a:t>29/10/2026</a:t>
            </a:r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FDBFEE-0509-16B7-5DAE-5E0DB02DD78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Data Science and Machine Learning for Geoscientists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AB126A-2C1E-4241-BBEB-C3AA6FE622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BA53E11-492D-48B3-9F9B-09541CA2A39A}" type="slidenum">
              <a:t>‹#›</a:t>
            </a:fld>
            <a:endParaRPr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2358139-EACE-E729-C3E3-AD890A6D0F80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B01DE9-7247-71C2-3301-8F43BD94700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GB"/>
              <a:t>29/10/2026</a:t>
            </a:r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F1F649-B08E-D628-15EF-6CAEE9855C9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Data Science and Machine Learning for Geoscientists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0EDFB5-B3BA-ADA8-4600-FCDAFA1A852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BA53E11-492D-48B3-9F9B-09541CA2A39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B01DE9-7247-71C2-3301-8F43BD94700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GB"/>
              <a:t>29/10/2026</a:t>
            </a:r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F1F649-B08E-D628-15EF-6CAEE9855C9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Data Science and Machine Learning for Geoscientists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0EDFB5-B3BA-ADA8-4600-FCDAFA1A852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BA53E11-492D-48B3-9F9B-09541CA2A39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B01DE9-7247-71C2-3301-8F43BD94700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GB"/>
              <a:t>29/10/2026</a:t>
            </a:r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F1F649-B08E-D628-15EF-6CAEE9855C9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Data Science and Machine Learning for Geoscientists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0EDFB5-B3BA-ADA8-4600-FCDAFA1A852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BA53E11-492D-48B3-9F9B-09541CA2A39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97179-BCED-5A09-97D5-5D8DE0347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E9AEF-EFC5-6013-B26E-A587B58F6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</p:txBody>
      </p:sp>
      <p:cxnSp>
        <p:nvCxnSpPr>
          <p:cNvPr id="8" name="Google Shape;21;p4">
            <a:extLst>
              <a:ext uri="{FF2B5EF4-FFF2-40B4-BE49-F238E27FC236}">
                <a16:creationId xmlns:a16="http://schemas.microsoft.com/office/drawing/2014/main" id="{D7C51197-3218-42F3-8094-87E233A3A56E}"/>
              </a:ext>
            </a:extLst>
          </p:cNvPr>
          <p:cNvCxnSpPr/>
          <p:nvPr/>
        </p:nvCxnSpPr>
        <p:spPr>
          <a:xfrm>
            <a:off x="0" y="746760"/>
            <a:ext cx="12192000" cy="0"/>
          </a:xfrm>
          <a:prstGeom prst="straightConnector1">
            <a:avLst/>
          </a:prstGeom>
          <a:ln w="9525" cap="flat">
            <a:solidFill>
              <a:srgbClr val="326C98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0F4440-CEDC-0D92-E0D5-5C1E3B59B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  <a:prstGeom prst="rect">
            <a:avLst/>
          </a:prstGeom>
        </p:spPr>
        <p:txBody>
          <a:bodyPr vert="horz" lIns="0" tIns="0" rIns="0" bIns="0" anchor="t">
            <a:no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CA021F-8558-9528-DA3D-486CCDBEB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6232" y="1394619"/>
            <a:ext cx="11541025" cy="4866481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1A8F0-AC4B-E4A0-94D0-99C4BFD973A7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10641349" y="6393702"/>
            <a:ext cx="1233647" cy="137270"/>
          </a:xfrm>
          <a:prstGeom prst="rect">
            <a:avLst/>
          </a:prstGeom>
        </p:spPr>
        <p:txBody>
          <a:bodyPr vert="horz" lIns="0" tIns="0" rIns="0" bIns="0" anchor="b">
            <a:noAutofit/>
          </a:bodyPr>
          <a:lstStyle>
            <a:lvl1pPr algn="r">
              <a:buNone/>
              <a:defRPr sz="850">
                <a:solidFill>
                  <a:schemeClr val="accent1"/>
                </a:solidFill>
              </a:defRPr>
            </a:lvl1pPr>
          </a:lstStyle>
          <a:p>
            <a:r>
              <a:rPr lang="en-GB"/>
              <a:t>29/10/2026</a:t>
            </a:r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C0FC7A-298A-77A0-6596-56B0B3FD8C37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965261" y="6393702"/>
            <a:ext cx="3423452" cy="137272"/>
          </a:xfrm>
          <a:prstGeom prst="rect">
            <a:avLst/>
          </a:prstGeom>
        </p:spPr>
        <p:txBody>
          <a:bodyPr vert="horz" lIns="0" tIns="0" rIns="0" bIns="0" anchor="b">
            <a:noAutofit/>
          </a:bodyPr>
          <a:lstStyle>
            <a:lvl1pPr algn="l">
              <a:buNone/>
              <a:defRPr sz="850">
                <a:solidFill>
                  <a:schemeClr val="accent1"/>
                </a:solidFill>
              </a:defRPr>
            </a:lvl1pPr>
          </a:lstStyle>
          <a:p>
            <a:r>
              <a:t>Data Science and Machine Learning for Geoscientists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17C40-7EB7-0CFD-6F6C-54AE57DE17D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5936755" y="6393702"/>
            <a:ext cx="318491" cy="137272"/>
          </a:xfrm>
          <a:prstGeom prst="rect">
            <a:avLst/>
          </a:prstGeom>
        </p:spPr>
        <p:txBody>
          <a:bodyPr vert="horz" lIns="0" tIns="0" rIns="0" bIns="0" anchor="b">
            <a:noAutofit/>
          </a:bodyPr>
          <a:lstStyle>
            <a:lvl1pPr algn="ctr">
              <a:buNone/>
              <a:defRPr sz="850" b="1">
                <a:solidFill>
                  <a:schemeClr val="accent1"/>
                </a:solidFill>
              </a:defRPr>
            </a:lvl1pPr>
          </a:lstStyle>
          <a:p>
            <a:fld id="{CBA53E11-492D-48B3-9F9B-09541CA2A39A}" type="slidenum">
              <a:t>‹#›</a:t>
            </a:fld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96CDD9-97E9-735B-8549-0F3AE3CCAC58}"/>
              </a:ext>
            </a:extLst>
          </p:cNvPr>
          <p:cNvSpPr>
            <a:spLocks noGrp="1"/>
          </p:cNvSpPr>
          <p:nvPr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buNone/>
            </a:pPr>
            <a:r>
              <a:rPr sz="850" b="0">
                <a:solidFill>
                  <a:schemeClr val="accent1"/>
                </a:solidFill>
                <a:latin typeface="+mj-lt"/>
                <a:ea typeface="+mj-lt"/>
                <a:cs typeface="+mj-lt"/>
              </a:rPr>
              <a:t>Imperial College London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  <p:sldLayoutId id="2147483703" r:id="rId55"/>
    <p:sldLayoutId id="2147483704" r:id="rId56"/>
    <p:sldLayoutId id="2147483705" r:id="rId57"/>
    <p:sldLayoutId id="2147483706" r:id="rId58"/>
    <p:sldLayoutId id="2147483707" r:id="rId59"/>
    <p:sldLayoutId id="2147483708" r:id="rId60"/>
    <p:sldLayoutId id="2147483709" r:id="rId61"/>
    <p:sldLayoutId id="2147483710" r:id="rId62"/>
    <p:sldLayoutId id="2147483711" r:id="rId63"/>
    <p:sldLayoutId id="2147483712" r:id="rId64"/>
  </p:sldLayoutIdLst>
  <p:hf hdr="0"/>
  <p:txStyles>
    <p:titleStyle>
      <a:lvl1pPr algn="l" defTabSz="685765">
        <a:lnSpc>
          <a:spcPct val="90000"/>
        </a:lnSpc>
        <a:spcBef>
          <a:spcPct val="0"/>
        </a:spcBef>
        <a:buNone/>
        <a:defRPr sz="2600" b="1" kern="1200">
          <a:solidFill>
            <a:schemeClr val="accent1"/>
          </a:solidFill>
          <a:latin typeface="+mj-lt"/>
          <a:ea typeface="+mj-lt"/>
          <a:cs typeface="+mj-lt"/>
        </a:defRPr>
      </a:lvl1pPr>
    </p:titleStyle>
    <p:bodyStyle>
      <a:lvl1pPr marL="0" indent="0" algn="l" defTabSz="685765">
        <a:lnSpc>
          <a:spcPct val="105000"/>
        </a:lnSpc>
        <a:spcBef>
          <a:spcPts val="0"/>
        </a:spcBef>
        <a:buFont typeface="Arial"/>
        <a:buNone/>
        <a:defRPr sz="2000" kern="1200">
          <a:solidFill>
            <a:schemeClr val="tx1"/>
          </a:solidFill>
          <a:latin typeface="+mn-lt"/>
          <a:ea typeface="+mn-lt"/>
          <a:cs typeface="+mn-lt"/>
        </a:defRPr>
      </a:lvl1pPr>
      <a:lvl2pPr marL="0" indent="0" algn="l" defTabSz="685765">
        <a:lnSpc>
          <a:spcPct val="105000"/>
        </a:lnSpc>
        <a:spcBef>
          <a:spcPts val="0"/>
        </a:spcBef>
        <a:buFont typeface="Arial"/>
        <a:buNone/>
        <a:defRPr sz="2000" b="0" kern="1200">
          <a:solidFill>
            <a:schemeClr val="tx1"/>
          </a:solidFill>
          <a:latin typeface="+mj-lt"/>
          <a:ea typeface="+mj-lt"/>
          <a:cs typeface="+mj-lt"/>
        </a:defRPr>
      </a:lvl2pPr>
      <a:lvl3pPr marL="161991" indent="-161991" algn="l" defTabSz="685765">
        <a:lnSpc>
          <a:spcPct val="105000"/>
        </a:lnSpc>
        <a:spcBef>
          <a:spcPts val="0"/>
        </a:spcBef>
        <a:buClr>
          <a:schemeClr val="accent1"/>
        </a:buClr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323984" indent="-161991" algn="l" defTabSz="685765">
        <a:lnSpc>
          <a:spcPct val="105000"/>
        </a:lnSpc>
        <a:spcBef>
          <a:spcPts val="0"/>
        </a:spcBef>
        <a:buClr>
          <a:schemeClr val="accent1"/>
        </a:buClr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485975" indent="-161991" algn="l" defTabSz="685765">
        <a:lnSpc>
          <a:spcPct val="105000"/>
        </a:lnSpc>
        <a:spcBef>
          <a:spcPts val="0"/>
        </a:spcBef>
        <a:buClr>
          <a:schemeClr val="accent1"/>
        </a:buClr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1885853" indent="-171441" algn="l" defTabSz="685765">
        <a:lnSpc>
          <a:spcPct val="90000"/>
        </a:lnSpc>
        <a:spcBef>
          <a:spcPts val="375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6pPr>
      <a:lvl7pPr marL="2228736" indent="-171441" algn="l" defTabSz="685765">
        <a:lnSpc>
          <a:spcPct val="90000"/>
        </a:lnSpc>
        <a:spcBef>
          <a:spcPts val="375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7pPr>
      <a:lvl8pPr marL="2571618" indent="-171441" algn="l" defTabSz="685765">
        <a:lnSpc>
          <a:spcPct val="90000"/>
        </a:lnSpc>
        <a:spcBef>
          <a:spcPts val="375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8pPr>
      <a:lvl9pPr marL="2914501" indent="-171441" algn="l" defTabSz="685765">
        <a:lnSpc>
          <a:spcPct val="90000"/>
        </a:lnSpc>
        <a:spcBef>
          <a:spcPts val="375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685765">
        <a:buNone/>
        <a:defRPr sz="1600" kern="1200">
          <a:solidFill>
            <a:schemeClr val="tx1"/>
          </a:solidFill>
          <a:latin typeface="+mn-lt"/>
          <a:ea typeface="+mn-lt"/>
          <a:cs typeface="+mn-lt"/>
        </a:defRPr>
      </a:lvl1pPr>
      <a:lvl2pPr marL="342882" algn="l" defTabSz="685765">
        <a:buNone/>
        <a:defRPr sz="1600" kern="1200">
          <a:solidFill>
            <a:schemeClr val="tx1"/>
          </a:solidFill>
          <a:latin typeface="+mn-lt"/>
          <a:ea typeface="+mn-lt"/>
          <a:cs typeface="+mn-lt"/>
        </a:defRPr>
      </a:lvl2pPr>
      <a:lvl3pPr marL="685765" algn="l" defTabSz="685765">
        <a:buNone/>
        <a:defRPr sz="1600" kern="1200">
          <a:solidFill>
            <a:schemeClr val="tx1"/>
          </a:solidFill>
          <a:latin typeface="+mn-lt"/>
          <a:ea typeface="+mn-lt"/>
          <a:cs typeface="+mn-lt"/>
        </a:defRPr>
      </a:lvl3pPr>
      <a:lvl4pPr marL="1028647" algn="l" defTabSz="685765">
        <a:buNone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marL="1371530" algn="l" defTabSz="685765">
        <a:buNone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marL="1714412" algn="l" defTabSz="685765">
        <a:buNone/>
        <a:defRPr sz="1600" kern="1200">
          <a:solidFill>
            <a:schemeClr val="tx1"/>
          </a:solidFill>
          <a:latin typeface="+mn-lt"/>
          <a:ea typeface="+mn-lt"/>
          <a:cs typeface="+mn-lt"/>
        </a:defRPr>
      </a:lvl6pPr>
      <a:lvl7pPr marL="2057295" algn="l" defTabSz="685765">
        <a:buNone/>
        <a:defRPr sz="1600" kern="1200">
          <a:solidFill>
            <a:schemeClr val="tx1"/>
          </a:solidFill>
          <a:latin typeface="+mn-lt"/>
          <a:ea typeface="+mn-lt"/>
          <a:cs typeface="+mn-lt"/>
        </a:defRPr>
      </a:lvl7pPr>
      <a:lvl8pPr marL="2400177" algn="l" defTabSz="685765">
        <a:buNone/>
        <a:defRPr sz="1600" kern="1200">
          <a:solidFill>
            <a:schemeClr val="tx1"/>
          </a:solidFill>
          <a:latin typeface="+mn-lt"/>
          <a:ea typeface="+mn-lt"/>
          <a:cs typeface="+mn-lt"/>
        </a:defRPr>
      </a:lvl8pPr>
      <a:lvl9pPr marL="2743060" algn="l" defTabSz="685765">
        <a:buNone/>
        <a:defRPr sz="16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  <p15:guide id="3" pos="206" userDrawn="1">
          <p15:clr>
            <a:srgbClr val="F26B43"/>
          </p15:clr>
        </p15:guide>
        <p15:guide id="4" pos="7475" userDrawn="1">
          <p15:clr>
            <a:srgbClr val="F26B43"/>
          </p15:clr>
        </p15:guide>
        <p15:guide id="5" orient="horz" pos="207" userDrawn="1">
          <p15:clr>
            <a:srgbClr val="F26B43"/>
          </p15:clr>
        </p15:guide>
        <p15:guide id="6" orient="horz" pos="4114" userDrawn="1">
          <p15:clr>
            <a:srgbClr val="F26B43"/>
          </p15:clr>
        </p15:guide>
        <p15:guide id="7" orient="horz" pos="3944" userDrawn="1">
          <p15:clr>
            <a:srgbClr val="F26B43"/>
          </p15:clr>
        </p15:guide>
        <p15:guide id="8" orient="horz" pos="879" userDrawn="1">
          <p15:clr>
            <a:srgbClr val="F26B43"/>
          </p15:clr>
        </p15:guide>
        <p15:guide id="9" pos="3723" userDrawn="1">
          <p15:clr>
            <a:srgbClr val="F26B43"/>
          </p15:clr>
        </p15:guide>
        <p15:guide id="10" pos="395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4.xml"/><Relationship Id="rId4" Type="http://schemas.openxmlformats.org/officeDocument/2006/relationships/hyperlink" Target="mailto:Sabolpou@ic.ac.uk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xZ_z8KWkhXE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rzFX5NWojp0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SzZ6GpcfoQY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esmckinney.com/book/data-cleaning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esmckinney.com/book/data-cleaning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esmckinney.com/book/data-cleaning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generated/sklearn.model_selection.train_test_split.html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esmckinney.com/book/data-cleaning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generated/sklearn.impute.SimpleImputer.html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generated/sklearn.impute.SimpleImputer.html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impute.html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generated/sklearn.impute.SimpleImputer.html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generated/sklearn.preprocessing.StandardScaler.html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generated/sklearn.preprocessing.MinMaxScaler.html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generated/sklearn.pipeline.Pipeline.html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qBigTkBLU6g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8.xml"/><Relationship Id="rId6" Type="http://schemas.openxmlformats.org/officeDocument/2006/relationships/hyperlink" Target="https://www.youtube.com/watch?v=xZ_z8KWkhXE" TargetMode="External"/><Relationship Id="rId5" Type="http://schemas.openxmlformats.org/officeDocument/2006/relationships/hyperlink" Target="https://www.youtube.com/watch?v=SzZ6GpcfoQY" TargetMode="External"/><Relationship Id="rId4" Type="http://schemas.openxmlformats.org/officeDocument/2006/relationships/hyperlink" Target="https://www.youtube.com/watch?v=fHLhBnmwUM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96FF70DA-9C1D-906A-F501-B8806AEEB58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B84688-5D56-4D2E-8D76-7529EAA696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1"/>
          <a:stretch>
            <a:fillRect/>
          </a:stretch>
        </p:blipFill>
        <p:spPr>
          <a:xfrm>
            <a:off x="0" y="6923"/>
            <a:ext cx="12188932" cy="6857990"/>
          </a:xfrm>
          <a:prstGeom prst="rect">
            <a:avLst/>
          </a:prstGeom>
          <a:ln>
            <a:noFill/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7C8ACDD-E905-4C13-90C5-0A907D54EC84}"/>
              </a:ext>
            </a:extLst>
          </p:cNvPr>
          <p:cNvSpPr>
            <a:spLocks noGrp="1"/>
          </p:cNvSpPr>
          <p:nvPr/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C8EB6E-F71F-D6E7-43D2-A46404047D39}"/>
              </a:ext>
            </a:extLst>
          </p:cNvPr>
          <p:cNvSpPr>
            <a:spLocks noGrp="1"/>
          </p:cNvSpPr>
          <p:nvPr/>
        </p:nvSpPr>
        <p:spPr>
          <a:xfrm rot="10800000" flipV="1">
            <a:off x="1524" y="0"/>
            <a:ext cx="12188952" cy="3652125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FB365D9-D8D8-23D6-5A49-95D28491DE67}"/>
              </a:ext>
            </a:extLst>
          </p:cNvPr>
          <p:cNvSpPr>
            <a:spLocks noGrp="1"/>
          </p:cNvSpPr>
          <p:nvPr/>
        </p:nvSpPr>
        <p:spPr>
          <a:xfrm>
            <a:off x="517870" y="978408"/>
            <a:ext cx="8686796" cy="2334247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defTabSz="685765">
              <a:lnSpc>
                <a:spcPct val="90000"/>
              </a:lnSpc>
              <a:spcBef>
                <a:spcPct val="0"/>
              </a:spcBef>
              <a:buNone/>
              <a:defRPr sz="6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rPr sz="5000">
                <a:solidFill>
                  <a:srgbClr val="FFFFFF"/>
                </a:solidFill>
              </a:rPr>
              <a:t>Data Science and Machine Learning for Geoscientists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3541D250-4331-F541-E8E4-F7B7A86A0EA0}"/>
              </a:ext>
            </a:extLst>
          </p:cNvPr>
          <p:cNvSpPr>
            <a:spLocks noGrp="1"/>
          </p:cNvSpPr>
          <p:nvPr/>
        </p:nvSpPr>
        <p:spPr>
          <a:xfrm>
            <a:off x="517870" y="3064365"/>
            <a:ext cx="9823560" cy="2096133"/>
          </a:xfrm>
          <a:prstGeom prst="rect">
            <a:avLst/>
          </a:prstGeom>
          <a:noFill/>
          <a:ln>
            <a:noFill/>
          </a:ln>
        </p:spPr>
        <p:txBody>
          <a:bodyPr anchor="t">
            <a:normAutofit/>
          </a:bodyPr>
          <a:lstStyle>
            <a:lvl1pPr marL="0" indent="0" algn="l" defTabSz="685765">
              <a:lnSpc>
                <a:spcPct val="105000"/>
              </a:lnSpc>
              <a:spcBef>
                <a:spcPts val="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l" defTabSz="685765">
              <a:lnSpc>
                <a:spcPct val="105000"/>
              </a:lnSpc>
              <a:spcBef>
                <a:spcPts val="0"/>
              </a:spcBef>
              <a:buFont typeface="Arial"/>
              <a:buNone/>
              <a:defRPr sz="2000" b="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161991" indent="-161991" algn="l" defTabSz="685765">
              <a:lnSpc>
                <a:spcPct val="105000"/>
              </a:lnSpc>
              <a:spcBef>
                <a:spcPts val="0"/>
              </a:spcBef>
              <a:buClr>
                <a:schemeClr val="accent1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323984" indent="-161991" algn="l" defTabSz="685765">
              <a:lnSpc>
                <a:spcPct val="105000"/>
              </a:lnSpc>
              <a:spcBef>
                <a:spcPts val="0"/>
              </a:spcBef>
              <a:buClr>
                <a:schemeClr val="accent1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485975" indent="-161991" algn="l" defTabSz="685765">
              <a:lnSpc>
                <a:spcPct val="105000"/>
              </a:lnSpc>
              <a:spcBef>
                <a:spcPts val="0"/>
              </a:spcBef>
              <a:buClr>
                <a:schemeClr val="accent1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853" indent="-171441" algn="l" defTabSz="685765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736" indent="-171441" algn="l" defTabSz="685765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618" indent="-171441" algn="l" defTabSz="685765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501" indent="-171441" algn="l" defTabSz="685765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sz="2800">
                <a:solidFill>
                  <a:schemeClr val="bg1"/>
                </a:solidFill>
              </a:rPr>
              <a:t>Lecture 4: Data preprocessing with scikit-learn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FA27CA-C53D-F995-EF32-EAB043D6EE6F}"/>
              </a:ext>
            </a:extLst>
          </p:cNvPr>
          <p:cNvSpPr>
            <a:spLocks noGrp="1"/>
          </p:cNvSpPr>
          <p:nvPr/>
        </p:nvSpPr>
        <p:spPr>
          <a:xfrm>
            <a:off x="7800858" y="6327857"/>
            <a:ext cx="4376519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none">
            <a:spAutoFit/>
          </a:bodyPr>
          <a:lstStyle/>
          <a:p>
            <a:r>
              <a:rPr sz="2800" b="1">
                <a:solidFill>
                  <a:schemeClr val="accent1"/>
                </a:solidFill>
              </a:rPr>
              <a:t>Imperial College London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D9E4EE-64F4-EEA5-39DF-0540061A6CDC}"/>
              </a:ext>
            </a:extLst>
          </p:cNvPr>
          <p:cNvSpPr>
            <a:spLocks noGrp="1"/>
          </p:cNvSpPr>
          <p:nvPr/>
        </p:nvSpPr>
        <p:spPr>
          <a:xfrm>
            <a:off x="433370" y="5744814"/>
            <a:ext cx="353376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chemeClr val="bg1"/>
                </a:solidFill>
              </a:rPr>
              <a:t>Samaneh Abolpour Mofrad</a:t>
            </a:r>
          </a:p>
          <a:p>
            <a:r>
              <a:rPr sz="1800">
                <a:solidFill>
                  <a:schemeClr val="bg1"/>
                </a:solidFill>
                <a:hlinkClick r:id="rId4"/>
              </a:rPr>
              <a:t>Sabolpou@ic.ac.uk</a:t>
            </a:r>
            <a:endParaRPr sz="1800">
              <a:solidFill>
                <a:schemeClr val="bg1"/>
              </a:solidFill>
            </a:endParaRPr>
          </a:p>
        </p:txBody>
      </p:sp>
      <p:sp useBgFill="1">
        <p:nvSpPr>
          <p:cNvPr id="2" name="Rectangle 1">
            <a:extLst>
              <a:ext uri="{FF2B5EF4-FFF2-40B4-BE49-F238E27FC236}">
                <a16:creationId xmlns:a16="http://schemas.microsoft.com/office/drawing/2014/main" id="{C8232456-8D34-5A2F-5DBF-6706812E86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 descr="A colorful swirls of paint&#10;&#10;AI-generated content may be incorrect.">
            <a:extLst>
              <a:ext uri="{FF2B5EF4-FFF2-40B4-BE49-F238E27FC236}">
                <a16:creationId xmlns:a16="http://schemas.microsoft.com/office/drawing/2014/main" id="{8116020A-58DC-136C-3CFA-90B7357D87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"/>
          <a:stretch>
            <a:fillRect/>
          </a:stretch>
        </p:blipFill>
        <p:spPr>
          <a:xfrm>
            <a:off x="0" y="6923"/>
            <a:ext cx="12188932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1F859E9-76D3-D5B1-4891-4DE6A21D90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637F6A-59C1-2C07-7905-FBAA7E15AE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1524" y="0"/>
            <a:ext cx="12188952" cy="3652125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4D82F98-535E-0D43-FEAA-F98238FA6151}"/>
              </a:ext>
            </a:extLst>
          </p:cNvPr>
          <p:cNvSpPr txBox="1">
            <a:spLocks/>
          </p:cNvSpPr>
          <p:nvPr/>
        </p:nvSpPr>
        <p:spPr>
          <a:xfrm>
            <a:off x="517870" y="978408"/>
            <a:ext cx="8686796" cy="2334247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685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000" dirty="0">
                <a:solidFill>
                  <a:srgbClr val="FFFFFF"/>
                </a:solidFill>
              </a:rPr>
              <a:t>Data Science and Machine Learning for Geoscientists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675E5AF6-F7F9-4656-0A94-EACD579E0F93}"/>
              </a:ext>
            </a:extLst>
          </p:cNvPr>
          <p:cNvSpPr txBox="1">
            <a:spLocks/>
          </p:cNvSpPr>
          <p:nvPr/>
        </p:nvSpPr>
        <p:spPr>
          <a:xfrm>
            <a:off x="517870" y="3064365"/>
            <a:ext cx="9823560" cy="2096133"/>
          </a:xfrm>
          <a:prstGeom prst="rect">
            <a:avLst/>
          </a:prstGeom>
          <a:noFill/>
          <a:ln>
            <a:noFill/>
          </a:ln>
        </p:spPr>
        <p:txBody>
          <a:bodyPr anchor="t">
            <a:normAutofit/>
          </a:bodyPr>
          <a:lstStyle>
            <a:lvl1pPr marL="0" indent="0" algn="l" defTabSz="685765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685765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61991" indent="-161991" algn="l" defTabSz="685765" rtl="0" eaLnBrk="1" latinLnBrk="0" hangingPunct="1">
              <a:lnSpc>
                <a:spcPct val="105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3984" indent="-161991" algn="l" defTabSz="685765" rtl="0" eaLnBrk="1" latinLnBrk="0" hangingPunct="1">
              <a:lnSpc>
                <a:spcPct val="105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85975" indent="-161991" algn="l" defTabSz="685765" rtl="0" eaLnBrk="1" latinLnBrk="0" hangingPunct="1">
              <a:lnSpc>
                <a:spcPct val="105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853" indent="-171441" algn="l" defTabSz="685765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36" indent="-171441" algn="l" defTabSz="685765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18" indent="-171441" algn="l" defTabSz="685765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01" indent="-171441" algn="l" defTabSz="685765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800" dirty="0">
                <a:solidFill>
                  <a:schemeClr val="bg1"/>
                </a:solidFill>
              </a:rPr>
              <a:t>Lecture 4: Data Preprocessing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831AAA-4F3F-457F-1B3D-F5B5078F3DF1}"/>
              </a:ext>
            </a:extLst>
          </p:cNvPr>
          <p:cNvSpPr txBox="1"/>
          <p:nvPr/>
        </p:nvSpPr>
        <p:spPr>
          <a:xfrm>
            <a:off x="7800858" y="6327857"/>
            <a:ext cx="4376519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1"/>
                </a:solidFill>
              </a:rPr>
              <a:t>Imperial College London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B0B93EA-FE40-EAE2-E39C-30BEFD27CCD5}"/>
              </a:ext>
            </a:extLst>
          </p:cNvPr>
          <p:cNvSpPr txBox="1"/>
          <p:nvPr/>
        </p:nvSpPr>
        <p:spPr>
          <a:xfrm>
            <a:off x="433370" y="5744814"/>
            <a:ext cx="35337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Samaneh Abolpour Mofrad</a:t>
            </a:r>
          </a:p>
          <a:p>
            <a:r>
              <a:rPr lang="en-US" sz="1800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Sabolpou@ic.ac.uk</a:t>
            </a:r>
            <a:endParaRPr lang="en-US" sz="1800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29</a:t>
            </a:r>
            <a:r>
              <a:rPr lang="en-US" sz="1800" dirty="0">
                <a:solidFill>
                  <a:schemeClr val="bg1"/>
                </a:solidFill>
              </a:rPr>
              <a:t> October 2026</a:t>
            </a:r>
          </a:p>
        </p:txBody>
      </p:sp>
    </p:spTree>
    <p:extLst>
      <p:ext uri="{BB962C8B-B14F-4D97-AF65-F5344CB8AC3E}">
        <p14:creationId xmlns:p14="http://schemas.microsoft.com/office/powerpoint/2010/main" val="2572556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C327F-C43E-498E-79AB-E438B29E8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>
                <a:solidFill>
                  <a:srgbClr val="0000FF"/>
                </a:solidFill>
              </a:rPr>
              <a:t>Today’s lecture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C02F6DE-1883-E21A-446C-C50A30258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 algn="l" defTabSz="685765" rtl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Recap from last week</a:t>
            </a:r>
          </a:p>
          <a:p>
            <a:pPr marL="342900" indent="-342900" algn="l" defTabSz="685765" rtl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dirty="0"/>
              <a:t>Data preparation for machine learning </a:t>
            </a:r>
          </a:p>
          <a:p>
            <a:pPr marL="504891" lvl="2" indent="-34290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Identify duplicates and handling missing measurements</a:t>
            </a:r>
          </a:p>
          <a:p>
            <a:pPr marL="504891" lvl="2" indent="-34290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Explain fit(), transform() and the role of a test set.</a:t>
            </a:r>
          </a:p>
          <a:p>
            <a:pPr marL="504891" lvl="2" indent="-34290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Get familiar with scikit-learn</a:t>
            </a:r>
          </a:p>
          <a:p>
            <a:pPr marL="504891" lvl="2" indent="-34290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Use imputers and scalers in a scikit-learn Pipeline.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FA349C-C969-F18C-9778-9F6A5491597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GB"/>
              <a:t>29/10/2026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7D2B81-F975-EC0E-B4B5-7B3F1C988E7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GB"/>
              <a:t>Data Science and Machine Learning for Geoscientists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5AA120-850E-F0BB-B347-FB65FDA733E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2</a:t>
            </a:fld>
            <a:endParaRPr lang="en-GB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AFEF589A-CE85-BA62-7CE9-64E6ED7A8B0E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pPr rtl="0"/>
            <a:r>
              <a:rPr lang="en-GB" sz="2800" dirty="0">
                <a:solidFill>
                  <a:srgbClr val="8064FF"/>
                </a:solidFill>
              </a:rPr>
              <a:t>Data preparation for </a:t>
            </a:r>
            <a:r>
              <a:rPr lang="en-GB" sz="2800" noProof="1">
                <a:solidFill>
                  <a:srgbClr val="8064FF"/>
                </a:solidFill>
              </a:rPr>
              <a:t>machine learning</a:t>
            </a:r>
            <a:endParaRPr lang="en-GB" dirty="0"/>
          </a:p>
          <a:p>
            <a:pPr marL="0" indent="0" algn="l" defTabSz="685765" rtl="0">
              <a:lnSpc>
                <a:spcPct val="90000"/>
              </a:lnSpc>
              <a:spcBef>
                <a:spcPts val="0"/>
              </a:spcBef>
              <a:buFont typeface="Arial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83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4644E-F1DA-D71B-AEA7-FA8812663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>
                <a:solidFill>
                  <a:srgbClr val="0000FF"/>
                </a:solidFill>
              </a:rPr>
              <a:t>Lecture 3 recap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27C8E-0246-2B50-CB56-AF96A42854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801" y="1394619"/>
            <a:ext cx="7054714" cy="4866481"/>
          </a:xfrm>
        </p:spPr>
        <p:txBody>
          <a:bodyPr/>
          <a:lstStyle/>
          <a:p>
            <a:pPr rtl="0"/>
            <a:r>
              <a:rPr lang="en-GB" dirty="0"/>
              <a:t>Plot a histogram showing the frequency of earthquakes with a magnitude greater than 6. Use red for the </a:t>
            </a:r>
            <a:r>
              <a:rPr lang="en-GB" dirty="0" err="1"/>
              <a:t>color</a:t>
            </a:r>
            <a:r>
              <a:rPr lang="en-GB" dirty="0"/>
              <a:t> of the bins. Limit your plot to 20 bins.</a:t>
            </a:r>
          </a:p>
          <a:p>
            <a:pPr rtl="0"/>
            <a:endParaRPr lang="en-GB" dirty="0"/>
          </a:p>
          <a:p>
            <a:pPr rtl="0"/>
            <a:endParaRPr lang="en-GB" dirty="0"/>
          </a:p>
          <a:p>
            <a:pPr rtl="0"/>
            <a:endParaRPr lang="en-GB" dirty="0"/>
          </a:p>
          <a:p>
            <a:pPr rtl="0"/>
            <a:endParaRPr lang="en-GB" dirty="0"/>
          </a:p>
          <a:p>
            <a:pPr rtl="0"/>
            <a:r>
              <a:rPr lang="en-GB" dirty="0"/>
              <a:t>How many earthquakes are between 6 and 6.2?</a:t>
            </a:r>
          </a:p>
          <a:p>
            <a:pPr rtl="0"/>
            <a:endParaRPr lang="en-GB" dirty="0"/>
          </a:p>
          <a:p>
            <a:pPr rtl="0"/>
            <a:endParaRPr lang="en-GB" dirty="0"/>
          </a:p>
          <a:p>
            <a:pPr rtl="0"/>
            <a:endParaRPr lang="en-GB" dirty="0"/>
          </a:p>
          <a:p>
            <a:pPr rtl="0"/>
            <a:endParaRPr lang="en-GB" dirty="0"/>
          </a:p>
          <a:p>
            <a:pPr rtl="0"/>
            <a:endParaRPr lang="en-GB" dirty="0"/>
          </a:p>
          <a:p>
            <a:pPr marL="0" indent="0" algn="l" defTabSz="685765" rtl="0">
              <a:lnSpc>
                <a:spcPct val="105000"/>
              </a:lnSpc>
              <a:spcBef>
                <a:spcPts val="0"/>
              </a:spcBef>
              <a:buFont typeface="Arial"/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8D7D00-1550-265D-2D30-32BACBFDA9F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GB"/>
              <a:t>29/10/2026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0D146D-5C64-AF9D-19FC-C79B528B567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GB"/>
              <a:t>Data Science and Machine Learning for Geoscientists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DE004A-8C99-24C0-46A8-0A36C90B90A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3</a:t>
            </a:fld>
            <a:endParaRPr lang="en-GB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4283434F-D798-ACD7-0029-4AAE5F7E0442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pPr rtl="0"/>
            <a:r>
              <a:rPr lang="en-GB" sz="2800" dirty="0">
                <a:solidFill>
                  <a:srgbClr val="8064FF"/>
                </a:solidFill>
              </a:rPr>
              <a:t>Exercise 3: a histogram of larger earthquakes</a:t>
            </a:r>
            <a:endParaRPr lang="en-GB" dirty="0"/>
          </a:p>
          <a:p>
            <a:pPr marL="0" indent="0" algn="l" defTabSz="685765" rtl="0">
              <a:lnSpc>
                <a:spcPct val="90000"/>
              </a:lnSpc>
              <a:spcBef>
                <a:spcPts val="0"/>
              </a:spcBef>
              <a:buFont typeface="Arial"/>
              <a:buNone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4A3F4D-5E71-AF37-EAE6-744BEA4B7C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0399" y="1262017"/>
            <a:ext cx="4495800" cy="31405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A519834-D205-EEA0-88AC-F2A41A8C8A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077" y="4479551"/>
            <a:ext cx="6883400" cy="12319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0FF67F6-9573-C60A-2CD6-11E8F232AA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338" y="2713557"/>
            <a:ext cx="6886139" cy="71544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5F233C2-6617-161D-8322-25CEF63CA7ED}"/>
              </a:ext>
            </a:extLst>
          </p:cNvPr>
          <p:cNvSpPr txBox="1"/>
          <p:nvPr/>
        </p:nvSpPr>
        <p:spPr>
          <a:xfrm>
            <a:off x="8008564" y="4683832"/>
            <a:ext cx="32496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en-GB" dirty="0"/>
              <a:t>count from the displayed bins:</a:t>
            </a:r>
          </a:p>
          <a:p>
            <a:pPr rtl="0"/>
            <a:r>
              <a:rPr lang="en-US" dirty="0"/>
              <a:t>1+12+9 = 22</a:t>
            </a:r>
          </a:p>
        </p:txBody>
      </p:sp>
    </p:spTree>
    <p:extLst>
      <p:ext uri="{BB962C8B-B14F-4D97-AF65-F5344CB8AC3E}">
        <p14:creationId xmlns:p14="http://schemas.microsoft.com/office/powerpoint/2010/main" val="101646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C4F36668-9440-2FC4-1A20-CEA2160E1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none" lIns="0" tIns="0" rIns="0" bIns="0">
            <a:noAutofit/>
          </a:bodyPr>
          <a:lstStyle>
            <a:def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  <a:lvl1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1pPr>
            <a:lvl2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2pPr>
            <a:lvl3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3pPr>
            <a:lvl4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4pPr>
            <a:lvl5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5pPr>
            <a:lvl6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6pPr>
            <a:lvl7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7pPr>
            <a:lvl8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8pPr>
            <a:lvl9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2640" b="1">
                <a:solidFill>
                  <a:srgbClr val="0000FF"/>
                </a:solidFill>
                <a:latin typeface="Arial"/>
                <a:ea typeface="Arial"/>
                <a:cs typeface="Arial"/>
              </a:rPr>
              <a:t>Lecture 3 recap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42358139-EACE-E729-C3E3-AD890A6D0F80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 wrap="none" lIns="0" tIns="0" rIns="0" bIns="0">
            <a:noAutofit/>
          </a:bodyPr>
          <a:lstStyle>
            <a:defPPr>
              <a:defRPr sz="2400">
                <a:solidFill>
                  <a:srgbClr val="8064FF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  <a:lvl2pPr marL="342882" indent="0" algn="ctr">
              <a:buNone/>
              <a:defRPr sz="15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2pPr>
            <a:lvl3pPr marL="685765" indent="0" algn="ctr">
              <a:buNone/>
              <a:defRPr sz="135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3pPr>
            <a:lvl4pPr marL="1028647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4pPr>
            <a:lvl5pPr marL="1371530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5pPr>
            <a:lvl6pPr marL="1714412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6pPr>
            <a:lvl7pPr marL="2057295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7pPr>
            <a:lvl8pPr marL="2400177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8pPr>
            <a:lvl9pPr marL="2743060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>
                <a:solidFill>
                  <a:srgbClr val="8064FF"/>
                </a:solidFill>
                <a:latin typeface="Arial"/>
                <a:ea typeface="Arial"/>
                <a:cs typeface="Arial"/>
              </a:defRPr>
            </a:pPr>
            <a:r>
              <a:rPr lang="nb-NO" sz="2400" dirty="0">
                <a:solidFill>
                  <a:srgbClr val="8064FF"/>
                </a:solidFill>
                <a:latin typeface="Arial"/>
                <a:ea typeface="Arial"/>
                <a:cs typeface="Arial"/>
              </a:rPr>
              <a:t>F</a:t>
            </a:r>
            <a:r>
              <a:rPr sz="2400" dirty="0" err="1">
                <a:solidFill>
                  <a:srgbClr val="8064FF"/>
                </a:solidFill>
                <a:latin typeface="Arial"/>
                <a:ea typeface="Arial"/>
                <a:cs typeface="Arial"/>
              </a:rPr>
              <a:t>ixed</a:t>
            </a:r>
            <a:r>
              <a:rPr sz="2400" dirty="0">
                <a:solidFill>
                  <a:srgbClr val="8064FF"/>
                </a:solidFill>
                <a:latin typeface="Arial"/>
                <a:ea typeface="Arial"/>
                <a:cs typeface="Arial"/>
              </a:rPr>
              <a:t> interval needs an explicit counting rule</a:t>
            </a:r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3FDBFEE-0509-16B7-5DAE-5E0DB02DD78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Data Science and Machine Learning for Geoscientists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7EAB126A-2C1E-4241-BBEB-C3AA6FE622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FD6AB9A-5F9E-5F59-51AB-3C8734130965}" type="slidenum">
              <a:rPr/>
              <a:t>4</a:t>
            </a:fld>
            <a:endParaRPr/>
          </a:p>
        </p:txBody>
      </p:sp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BAA156BD-F388-30EA-2720-04061953B80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GB"/>
              <a:t>29/10/2026</a:t>
            </a:r>
            <a:endParaRPr/>
          </a:p>
        </p:txBody>
      </p:sp>
      <p:sp>
        <p:nvSpPr>
          <p:cNvPr id="7" name="content-6">
            <a:extLst>
              <a:ext uri="{FF2B5EF4-FFF2-40B4-BE49-F238E27FC236}">
                <a16:creationId xmlns:a16="http://schemas.microsoft.com/office/drawing/2014/main" id="{1E01F215-A51B-4D33-B703-437A329C0438}"/>
              </a:ext>
            </a:extLst>
          </p:cNvPr>
          <p:cNvSpPr>
            <a:spLocks noGrp="1"/>
          </p:cNvSpPr>
          <p:nvPr/>
        </p:nvSpPr>
        <p:spPr>
          <a:xfrm>
            <a:off x="476250" y="1638300"/>
            <a:ext cx="11239500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250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pPr>
            <a:r>
              <a:rPr sz="2250" b="1" dirty="0">
                <a:solidFill>
                  <a:srgbClr val="12314A"/>
                </a:solidFill>
                <a:latin typeface="Arial"/>
                <a:ea typeface="Arial"/>
                <a:cs typeface="Arial"/>
              </a:rPr>
              <a:t>Question: how many events have magnitude </a:t>
            </a:r>
            <a:r>
              <a:rPr lang="en-GB" sz="2250" b="1" noProof="1">
                <a:solidFill>
                  <a:srgbClr val="12314A"/>
                </a:solidFill>
                <a:latin typeface="Arial"/>
                <a:ea typeface="Arial"/>
                <a:cs typeface="Arial"/>
              </a:rPr>
              <a:t>between</a:t>
            </a:r>
            <a:r>
              <a:rPr lang="nb-NO" sz="2250" b="1" dirty="0">
                <a:solidFill>
                  <a:srgbClr val="12314A"/>
                </a:solidFill>
                <a:latin typeface="Arial"/>
                <a:ea typeface="Arial"/>
                <a:cs typeface="Arial"/>
              </a:rPr>
              <a:t> 6 and</a:t>
            </a:r>
            <a:r>
              <a:rPr sz="2250" b="1" dirty="0">
                <a:solidFill>
                  <a:srgbClr val="12314A"/>
                </a:solidFill>
                <a:latin typeface="Arial"/>
                <a:ea typeface="Arial"/>
                <a:cs typeface="Arial"/>
              </a:rPr>
              <a:t> 6.2?</a:t>
            </a:r>
          </a:p>
        </p:txBody>
      </p:sp>
      <p:sp>
        <p:nvSpPr>
          <p:cNvPr id="8" name="content-7">
            <a:extLst>
              <a:ext uri="{FF2B5EF4-FFF2-40B4-BE49-F238E27FC236}">
                <a16:creationId xmlns:a16="http://schemas.microsoft.com/office/drawing/2014/main" id="{055254D3-7335-48AC-93E1-24ED70CEC6D2}"/>
              </a:ext>
            </a:extLst>
          </p:cNvPr>
          <p:cNvSpPr>
            <a:spLocks noGrp="1"/>
          </p:cNvSpPr>
          <p:nvPr/>
        </p:nvSpPr>
        <p:spPr>
          <a:xfrm>
            <a:off x="476250" y="2571750"/>
            <a:ext cx="11239500" cy="152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10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defPPr>
            <a:lvl1pPr>
              <a:defRPr sz="210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lvl1pPr>
            <a:lvl2pPr>
              <a:defRPr sz="210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lvl2pPr>
            <a:lvl3pPr>
              <a:defRPr sz="210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lvl3pPr>
            <a:lvl4pPr>
              <a:defRPr sz="210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lvl4pPr>
            <a:lvl5pPr>
              <a:defRPr sz="210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lvl5pPr>
            <a:lvl6pPr>
              <a:defRPr sz="210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lvl6pPr>
            <a:lvl7pPr>
              <a:defRPr sz="210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lvl7pPr>
            <a:lvl8pPr>
              <a:defRPr sz="210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lvl8pPr>
            <a:lvl9pPr>
              <a:defRPr sz="210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lvl9pPr>
          </a:lstStyle>
          <a:p>
            <a:r>
              <a:rPr lang="en-GB" dirty="0"/>
              <a:t>mask = (</a:t>
            </a:r>
            <a:r>
              <a:rPr lang="en-GB" dirty="0" err="1"/>
              <a:t>caliquakes_df</a:t>
            </a:r>
            <a:r>
              <a:rPr lang="en-GB" dirty="0"/>
              <a:t>["mag"] &gt; 6.0) &amp; (</a:t>
            </a:r>
            <a:r>
              <a:rPr lang="en-GB" dirty="0" err="1"/>
              <a:t>caliquakes_df</a:t>
            </a:r>
            <a:r>
              <a:rPr lang="en-GB" dirty="0"/>
              <a:t>["mag"] &lt;</a:t>
            </a:r>
            <a:r>
              <a:rPr lang="en-GB" dirty="0">
                <a:solidFill>
                  <a:schemeClr val="accent4"/>
                </a:solidFill>
              </a:rPr>
              <a:t>=</a:t>
            </a:r>
            <a:r>
              <a:rPr lang="en-GB" dirty="0"/>
              <a:t> 6.2)</a:t>
            </a:r>
          </a:p>
          <a:p>
            <a:r>
              <a:rPr lang="en-GB" dirty="0"/>
              <a:t>count = </a:t>
            </a:r>
            <a:r>
              <a:rPr lang="en-GB" dirty="0" err="1"/>
              <a:t>mask.sum</a:t>
            </a:r>
            <a:r>
              <a:rPr lang="en-GB" dirty="0"/>
              <a:t>()</a:t>
            </a:r>
          </a:p>
          <a:p>
            <a:r>
              <a:rPr lang="en-GB" dirty="0"/>
              <a:t>print(count)</a:t>
            </a:r>
          </a:p>
          <a:p>
            <a:r>
              <a:rPr lang="en-GB" dirty="0"/>
              <a:t># 13</a:t>
            </a:r>
          </a:p>
          <a:p>
            <a:r>
              <a:rPr lang="en-GB" dirty="0"/>
              <a:t># </a:t>
            </a:r>
            <a:r>
              <a:rPr lang="en-GB" dirty="0">
                <a:solidFill>
                  <a:schemeClr val="accent4"/>
                </a:solidFill>
              </a:rPr>
              <a:t>22</a:t>
            </a:r>
          </a:p>
          <a:p>
            <a:endParaRPr lang="en-GB" dirty="0"/>
          </a:p>
          <a:p>
            <a:pPr rtl="0">
              <a:defRPr sz="210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endParaRPr lang="en-GB" dirty="0"/>
          </a:p>
          <a:p>
            <a:pPr>
              <a:defRPr sz="210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endParaRPr lang="en-GB" sz="2100" b="0" dirty="0">
              <a:solidFill>
                <a:srgbClr val="12314A"/>
              </a:solidFill>
              <a:latin typeface="Menlo"/>
              <a:ea typeface="Menlo"/>
              <a:cs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622026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4F36668-9440-2FC4-1A20-CEA2160E1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none" lIns="0" tIns="0" rIns="0" bIns="0">
            <a:noAutofit/>
          </a:bodyPr>
          <a:lstStyle>
            <a:def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  <a:lvl1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1pPr>
            <a:lvl2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2pPr>
            <a:lvl3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3pPr>
            <a:lvl4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4pPr>
            <a:lvl5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5pPr>
            <a:lvl6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6pPr>
            <a:lvl7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7pPr>
            <a:lvl8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8pPr>
            <a:lvl9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2640" b="1">
                <a:solidFill>
                  <a:srgbClr val="0000FF"/>
                </a:solidFill>
                <a:latin typeface="Arial"/>
                <a:ea typeface="Arial"/>
                <a:cs typeface="Arial"/>
              </a:rPr>
              <a:t>Lecture 3 recap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45539D9E-C834-F6C7-62D8-5FA780848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801" y="1394619"/>
            <a:ext cx="5506588" cy="4866481"/>
          </a:xfrm>
        </p:spPr>
        <p:txBody>
          <a:bodyPr/>
          <a:lstStyle/>
          <a:p>
            <a:r>
              <a:rPr lang="en-GB" dirty="0"/>
              <a:t>Create a new </a:t>
            </a:r>
            <a:r>
              <a:rPr lang="en-GB" dirty="0" err="1"/>
              <a:t>dataframe</a:t>
            </a:r>
            <a:r>
              <a:rPr lang="en-GB" dirty="0"/>
              <a:t> that is a subset of </a:t>
            </a:r>
            <a:r>
              <a:rPr lang="en-GB" dirty="0" err="1"/>
              <a:t>caliquakes_df</a:t>
            </a:r>
            <a:r>
              <a:rPr lang="en-GB" dirty="0"/>
              <a:t> and keeps only data with a magnitude &gt;= 4.8 and only contains these series: </a:t>
            </a:r>
            <a:r>
              <a:rPr lang="en-GB" i="1" dirty="0"/>
              <a:t>mag, sig, depth, </a:t>
            </a:r>
            <a:r>
              <a:rPr lang="en-GB" i="1" dirty="0" err="1"/>
              <a:t>dmin</a:t>
            </a:r>
            <a:r>
              <a:rPr lang="en-GB" i="1" dirty="0"/>
              <a:t>, rms, </a:t>
            </a:r>
            <a:r>
              <a:rPr lang="en-GB" i="1" dirty="0" err="1"/>
              <a:t>nst</a:t>
            </a:r>
            <a:endParaRPr lang="en-GB" i="1" dirty="0"/>
          </a:p>
          <a:p>
            <a:endParaRPr lang="en-GB" i="1" dirty="0"/>
          </a:p>
          <a:p>
            <a:pPr marL="342900" indent="-342900">
              <a:buFont typeface="Wingdings" pitchFamily="2" charset="2"/>
              <a:buChar char="Ø"/>
            </a:pPr>
            <a:r>
              <a:rPr lang="en-GB" dirty="0" err="1"/>
              <a:t>df.loc</a:t>
            </a:r>
            <a:r>
              <a:rPr lang="en-GB" dirty="0"/>
              <a:t>[rows, columns]</a:t>
            </a:r>
          </a:p>
          <a:p>
            <a:endParaRPr lang="en-US" dirty="0"/>
          </a:p>
        </p:txBody>
      </p:sp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BAA156BD-F388-30EA-2720-04061953B80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GB"/>
              <a:t>29/10/2026</a:t>
            </a:r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3FDBFEE-0509-16B7-5DAE-5E0DB02DD78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Data Science and Machine Learning for Geoscientists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7EAB126A-2C1E-4241-BBEB-C3AA6FE622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E5B3003-2C54-13C6-9832-7637201064DE}" type="slidenum">
              <a:rPr/>
              <a:t>5</a:t>
            </a:fld>
            <a:endParaRPr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42358139-EACE-E729-C3E3-AD890A6D0F80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 wrap="none" lIns="0" tIns="0" rIns="0" bIns="0">
            <a:noAutofit/>
          </a:bodyPr>
          <a:lstStyle>
            <a:defPPr>
              <a:defRPr sz="2400">
                <a:solidFill>
                  <a:srgbClr val="8064FF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  <a:lvl2pPr marL="342882" indent="0" algn="ctr">
              <a:buNone/>
              <a:defRPr sz="15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2pPr>
            <a:lvl3pPr marL="685765" indent="0" algn="ctr">
              <a:buNone/>
              <a:defRPr sz="135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3pPr>
            <a:lvl4pPr marL="1028647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4pPr>
            <a:lvl5pPr marL="1371530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5pPr>
            <a:lvl6pPr marL="1714412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6pPr>
            <a:lvl7pPr marL="2057295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7pPr>
            <a:lvl8pPr marL="2400177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8pPr>
            <a:lvl9pPr marL="2743060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>
                <a:solidFill>
                  <a:srgbClr val="8064FF"/>
                </a:solidFill>
                <a:latin typeface="Arial"/>
                <a:ea typeface="Arial"/>
                <a:cs typeface="Arial"/>
              </a:defRPr>
            </a:pPr>
            <a:r>
              <a:rPr sz="2400" dirty="0">
                <a:solidFill>
                  <a:srgbClr val="8064FF"/>
                </a:solidFill>
                <a:latin typeface="Arial"/>
                <a:ea typeface="Arial"/>
                <a:cs typeface="Arial"/>
              </a:rPr>
              <a:t>Exercises 4: correlation</a:t>
            </a:r>
            <a:endParaRPr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2C60E4C-6419-D31D-CEC3-70FF2E4248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0865" y="199553"/>
            <a:ext cx="5406147" cy="5944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185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D8A16-6720-0ADB-352D-619612AFB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en-GB" dirty="0"/>
              <a:t>How to read a </a:t>
            </a:r>
            <a:r>
              <a:rPr lang="en-GB" dirty="0" err="1"/>
              <a:t>pairplot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F7B21-0798-291C-550E-3570300C81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801" y="1394619"/>
            <a:ext cx="5222383" cy="4866481"/>
          </a:xfrm>
        </p:spPr>
        <p:txBody>
          <a:bodyPr/>
          <a:lstStyle/>
          <a:p>
            <a:pPr marL="342900" lvl="0" indent="-342900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Diagonal panels:</a:t>
            </a:r>
            <a:r>
              <a:rPr lang="en-US" altLang="en-US" dirty="0">
                <a:latin typeface="Arial" panose="020B0604020202020204" pitchFamily="34" charset="0"/>
              </a:rPr>
              <a:t> show the distribution of each individual variable.</a:t>
            </a:r>
          </a:p>
          <a:p>
            <a:pPr marL="342900" lvl="0" indent="-342900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Other panels:</a:t>
            </a:r>
            <a:r>
              <a:rPr lang="en-US" altLang="en-US" dirty="0">
                <a:latin typeface="Arial" panose="020B0604020202020204" pitchFamily="34" charset="0"/>
              </a:rPr>
              <a:t> show relationships between two variables. Each point represents an earthquake.</a:t>
            </a:r>
          </a:p>
          <a:p>
            <a:pPr marL="342900" indent="-342900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Look for center, spread, trends and clusters when comparing variables.</a:t>
            </a:r>
          </a:p>
          <a:p>
            <a:pPr rtl="0"/>
            <a:endParaRPr lang="en-US" dirty="0">
              <a:latin typeface="Arial" panose="020B0604020202020204" pitchFamily="34" charset="0"/>
            </a:endParaRPr>
          </a:p>
          <a:p>
            <a:pPr rtl="0"/>
            <a:endParaRPr lang="en-GB" dirty="0"/>
          </a:p>
          <a:p>
            <a:pPr rtl="0"/>
            <a:endParaRPr lang="en-GB" dirty="0"/>
          </a:p>
          <a:p>
            <a:pPr rtl="0"/>
            <a:endParaRPr lang="en-GB" dirty="0"/>
          </a:p>
          <a:p>
            <a:pPr rtl="0"/>
            <a:r>
              <a:rPr lang="en-GB" dirty="0"/>
              <a:t>A kernel density estimate (</a:t>
            </a:r>
            <a:r>
              <a:rPr lang="en-GB" dirty="0" err="1"/>
              <a:t>kde</a:t>
            </a:r>
            <a:r>
              <a:rPr lang="en-GB" dirty="0"/>
              <a:t>) estimates the distribution of one variable by smoothing observations</a:t>
            </a:r>
          </a:p>
          <a:p>
            <a:pPr rtl="0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AA4C1F-0ACD-961D-964C-46622341F89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GB"/>
              <a:t>29/10/2026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EFC588-9FEE-1BB7-5D3A-F65226E76D4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GB"/>
              <a:t>Data Science and Machine Learning for Geoscientists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BFCD75-7B42-45C3-3B3F-5DF0B59239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6</a:t>
            </a:fld>
            <a:endParaRPr lang="en-GB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9DCAE37E-6270-BF7C-6C80-18D36E88F350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1" y="620196"/>
            <a:ext cx="4855800" cy="371567"/>
          </a:xfrm>
        </p:spPr>
        <p:txBody>
          <a:bodyPr/>
          <a:lstStyle/>
          <a:p>
            <a:pPr marL="0" indent="0" algn="l" defTabSz="685765" rtl="0">
              <a:lnSpc>
                <a:spcPct val="90000"/>
              </a:lnSpc>
              <a:spcBef>
                <a:spcPts val="0"/>
              </a:spcBef>
              <a:buFont typeface="Arial"/>
              <a:buNone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5DA0C8-CCEC-9AB9-6B82-BE1A421A11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0499" y="327026"/>
            <a:ext cx="6235700" cy="6235700"/>
          </a:xfrm>
          <a:prstGeom prst="rect">
            <a:avLst/>
          </a:prstGeom>
        </p:spPr>
      </p:pic>
      <p:sp>
        <p:nvSpPr>
          <p:cNvPr id="9" name="content-5">
            <a:extLst>
              <a:ext uri="{FF2B5EF4-FFF2-40B4-BE49-F238E27FC236}">
                <a16:creationId xmlns:a16="http://schemas.microsoft.com/office/drawing/2014/main" id="{D31477E1-F8CD-205F-CDF1-9DC69BD44472}"/>
              </a:ext>
            </a:extLst>
          </p:cNvPr>
          <p:cNvSpPr>
            <a:spLocks noGrp="1"/>
          </p:cNvSpPr>
          <p:nvPr/>
        </p:nvSpPr>
        <p:spPr>
          <a:xfrm>
            <a:off x="476250" y="6010275"/>
            <a:ext cx="5071934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007E87"/>
                </a:solidFill>
                <a:latin typeface="Arial"/>
                <a:ea typeface="Arial"/>
                <a:cs typeface="Arial"/>
                <a:hlinkClick r:id="rId3"/>
              </a:rPr>
              <a:t>StatQuest: Pearson’s correlation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6574FD-7DFB-A500-47FE-08C85F7438D6}"/>
              </a:ext>
            </a:extLst>
          </p:cNvPr>
          <p:cNvSpPr txBox="1"/>
          <p:nvPr/>
        </p:nvSpPr>
        <p:spPr>
          <a:xfrm>
            <a:off x="0" y="3827859"/>
            <a:ext cx="60995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enlo" panose="020B0609030804020204" pitchFamily="49" charset="0"/>
              </a:rPr>
              <a:t>sns.pairplot</a:t>
            </a:r>
            <a:r>
              <a:rPr lang="en-GB" b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b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enlo" panose="020B0609030804020204" pitchFamily="49" charset="0"/>
              </a:rPr>
              <a:t>df</a:t>
            </a:r>
            <a:r>
              <a:rPr lang="en-GB" b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enlo" panose="020B0609030804020204" pitchFamily="49" charset="0"/>
              </a:rPr>
              <a:t>[['mag', 'sig’, 'depth’, 		'</a:t>
            </a:r>
            <a:r>
              <a:rPr lang="en-GB" b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enlo" panose="020B0609030804020204" pitchFamily="49" charset="0"/>
              </a:rPr>
              <a:t>dmin</a:t>
            </a:r>
            <a:r>
              <a:rPr lang="en-GB" b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enlo" panose="020B0609030804020204" pitchFamily="49" charset="0"/>
              </a:rPr>
              <a:t>’]],</a:t>
            </a:r>
          </a:p>
          <a:p>
            <a:pPr>
              <a:buNone/>
            </a:pPr>
            <a:r>
              <a:rPr lang="en-GB" b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enlo" panose="020B0609030804020204" pitchFamily="49" charset="0"/>
              </a:rPr>
              <a:t>		 </a:t>
            </a:r>
            <a:r>
              <a:rPr lang="en-GB" b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enlo" panose="020B0609030804020204" pitchFamily="49" charset="0"/>
              </a:rPr>
              <a:t>diag_kind</a:t>
            </a:r>
            <a:r>
              <a:rPr lang="en-GB" b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enlo" panose="020B0609030804020204" pitchFamily="49" charset="0"/>
              </a:rPr>
              <a:t>='</a:t>
            </a:r>
            <a:r>
              <a:rPr lang="en-GB" b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enlo" panose="020B0609030804020204" pitchFamily="49" charset="0"/>
              </a:rPr>
              <a:t>kde</a:t>
            </a:r>
            <a:r>
              <a:rPr lang="en-GB" b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enlo" panose="020B0609030804020204" pitchFamily="49" charset="0"/>
              </a:rPr>
              <a:t>');</a:t>
            </a:r>
          </a:p>
        </p:txBody>
      </p:sp>
    </p:spTree>
    <p:extLst>
      <p:ext uri="{BB962C8B-B14F-4D97-AF65-F5344CB8AC3E}">
        <p14:creationId xmlns:p14="http://schemas.microsoft.com/office/powerpoint/2010/main" val="3093822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C4F36668-9440-2FC4-1A20-CEA2160E1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none" lIns="0" tIns="0" rIns="0" bIns="0">
            <a:noAutofit/>
          </a:bodyPr>
          <a:lstStyle>
            <a:def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  <a:lvl1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1pPr>
            <a:lvl2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2pPr>
            <a:lvl3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3pPr>
            <a:lvl4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4pPr>
            <a:lvl5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5pPr>
            <a:lvl6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6pPr>
            <a:lvl7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7pPr>
            <a:lvl8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8pPr>
            <a:lvl9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2640" b="1">
                <a:solidFill>
                  <a:srgbClr val="0000FF"/>
                </a:solidFill>
                <a:latin typeface="Arial"/>
                <a:ea typeface="Arial"/>
                <a:cs typeface="Arial"/>
              </a:rPr>
              <a:t>The normal distribution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41F6D3D1-B112-AE1C-C97B-91A9BCC396D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255247" y="1809750"/>
            <a:ext cx="5611316" cy="4583952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lang="en-GB" sz="1950" dirty="0"/>
              <a:t>In this standard normal example, the mean is 0 and the standard deviation is 1. </a:t>
            </a:r>
          </a:p>
          <a:p>
            <a:pPr marL="285750" indent="-285750">
              <a:buFont typeface="Arial" panose="020B0604020202020204" pitchFamily="34" charset="0"/>
              <a:buChar char="•"/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lang="en-GB" sz="1800" dirty="0">
                <a:ea typeface="Arial"/>
                <a:cs typeface="Arial"/>
              </a:rPr>
              <a:t>Most values lie near the centre, fewer lie towards the extremes.</a:t>
            </a:r>
          </a:p>
          <a:p>
            <a:pPr marL="285750" indent="-285750">
              <a:buFont typeface="Arial" panose="020B0604020202020204" pitchFamily="34" charset="0"/>
              <a:buChar char="•"/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lang="en-GB" sz="1800" dirty="0">
                <a:ea typeface="Arial"/>
                <a:cs typeface="Arial"/>
              </a:rPr>
              <a:t>Mean = median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GB" sz="1800" dirty="0"/>
              <a:t>The y-axis is density; probability corresponds to an area over an interval, not the curve height at one point.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GB" sz="1800" dirty="0"/>
              <a:t>Symmetry alone is not proof of normality. A normal distribution has a specific bell shape with a single peak.</a:t>
            </a:r>
          </a:p>
          <a:p>
            <a:pPr rtl="0"/>
            <a:endParaRPr lang="en-US" altLang="en-US" sz="1800" dirty="0"/>
          </a:p>
        </p:txBody>
      </p:sp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BAA156BD-F388-30EA-2720-04061953B80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t>29/10/2026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3FDBFEE-0509-16B7-5DAE-5E0DB02DD78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Data Science and Machine Learning for Geoscientists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7EAB126A-2C1E-4241-BBEB-C3AA6FE622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3D7D1C8-AE23-AA48-DF65-C742588DBE47}" type="slidenum">
              <a:rPr/>
              <a:t>7</a:t>
            </a:fld>
            <a:endParaRPr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42358139-EACE-E729-C3E3-AD890A6D0F80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 wrap="none" lIns="0" tIns="0" rIns="0" bIns="0">
            <a:noAutofit/>
          </a:bodyPr>
          <a:lstStyle>
            <a:defPPr>
              <a:defRPr sz="2400">
                <a:solidFill>
                  <a:srgbClr val="8064FF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  <a:lvl2pPr marL="342882" indent="0" algn="ctr">
              <a:buNone/>
              <a:defRPr sz="15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2pPr>
            <a:lvl3pPr marL="685765" indent="0" algn="ctr">
              <a:buNone/>
              <a:defRPr sz="135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3pPr>
            <a:lvl4pPr marL="1028647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4pPr>
            <a:lvl5pPr marL="1371530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5pPr>
            <a:lvl6pPr marL="1714412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6pPr>
            <a:lvl7pPr marL="2057295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7pPr>
            <a:lvl8pPr marL="2400177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8pPr>
            <a:lvl9pPr marL="2743060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>
                <a:solidFill>
                  <a:srgbClr val="8064FF"/>
                </a:solidFill>
                <a:latin typeface="Arial"/>
                <a:ea typeface="Arial"/>
                <a:cs typeface="Arial"/>
              </a:defRPr>
            </a:pPr>
            <a:r>
              <a:rPr sz="2400" dirty="0">
                <a:solidFill>
                  <a:srgbClr val="8064FF"/>
                </a:solidFill>
                <a:latin typeface="Arial"/>
                <a:ea typeface="Arial"/>
                <a:cs typeface="Arial"/>
              </a:rPr>
              <a:t>A symmetric bell-shaped distribution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28E01-329E-4D7B-9D9F-8C5418B018C6}"/>
              </a:ext>
            </a:extLst>
          </p:cNvPr>
          <p:cNvSpPr>
            <a:spLocks noGrp="1"/>
          </p:cNvSpPr>
          <p:nvPr/>
        </p:nvSpPr>
        <p:spPr>
          <a:xfrm>
            <a:off x="439737" y="5859760"/>
            <a:ext cx="5611316" cy="3048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75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pPr>
            <a:r>
              <a:rPr sz="1600" b="0" dirty="0">
                <a:solidFill>
                  <a:srgbClr val="007E87"/>
                </a:solidFill>
                <a:latin typeface="Arial"/>
                <a:ea typeface="Arial"/>
                <a:cs typeface="Arial"/>
                <a:hlinkClick r:id="rId3"/>
              </a:rPr>
              <a:t>Watch StatQuest: The Normal Distribution</a:t>
            </a:r>
          </a:p>
        </p:txBody>
      </p:sp>
      <p:pic>
        <p:nvPicPr>
          <p:cNvPr id="17" name="Picture 16" descr="A graph of normal distribution&#10;&#10;AI-generated content may be incorrect.">
            <a:extLst>
              <a:ext uri="{FF2B5EF4-FFF2-40B4-BE49-F238E27FC236}">
                <a16:creationId xmlns:a16="http://schemas.microsoft.com/office/drawing/2014/main" id="{4E066AEB-B01A-BF79-37EB-0384FE25E7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240" y="1809750"/>
            <a:ext cx="5771515" cy="302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762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C4F36668-9440-2FC4-1A20-CEA2160E1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none" lIns="0" tIns="0" rIns="0" bIns="0">
            <a:noAutofit/>
          </a:bodyPr>
          <a:lstStyle>
            <a:def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  <a:lvl1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1pPr>
            <a:lvl2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2pPr>
            <a:lvl3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3pPr>
            <a:lvl4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4pPr>
            <a:lvl5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5pPr>
            <a:lvl6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6pPr>
            <a:lvl7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7pPr>
            <a:lvl8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8pPr>
            <a:lvl9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2640" b="1">
                <a:solidFill>
                  <a:srgbClr val="0000FF"/>
                </a:solidFill>
                <a:latin typeface="Arial"/>
                <a:ea typeface="Arial"/>
                <a:cs typeface="Arial"/>
              </a:rPr>
              <a:t>Mean and median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42358139-EACE-E729-C3E3-AD890A6D0F80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 wrap="none" lIns="0" tIns="0" rIns="0" bIns="0">
            <a:noAutofit/>
          </a:bodyPr>
          <a:lstStyle>
            <a:defPPr>
              <a:defRPr sz="2400">
                <a:solidFill>
                  <a:srgbClr val="8064FF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  <a:lvl2pPr marL="342882" indent="0" algn="ctr">
              <a:buNone/>
              <a:defRPr sz="15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2pPr>
            <a:lvl3pPr marL="685765" indent="0" algn="ctr">
              <a:buNone/>
              <a:defRPr sz="135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3pPr>
            <a:lvl4pPr marL="1028647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4pPr>
            <a:lvl5pPr marL="1371530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5pPr>
            <a:lvl6pPr marL="1714412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6pPr>
            <a:lvl7pPr marL="2057295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7pPr>
            <a:lvl8pPr marL="2400177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8pPr>
            <a:lvl9pPr marL="2743060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>
                <a:solidFill>
                  <a:srgbClr val="8064FF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8064FF"/>
                </a:solidFill>
                <a:latin typeface="Arial"/>
                <a:ea typeface="Arial"/>
                <a:cs typeface="Arial"/>
              </a:rPr>
              <a:t>A small porosity example</a:t>
            </a:r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3FDBFEE-0509-16B7-5DAE-5E0DB02DD78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Data Science and Machine Learning for Geoscientists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7EAB126A-2C1E-4241-BBEB-C3AA6FE622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A83FA91-883A-0168-8075-96CEB9DCA3C2}" type="slidenum">
              <a:rPr/>
              <a:t>8</a:t>
            </a:fld>
            <a:endParaRPr/>
          </a:p>
        </p:txBody>
      </p:sp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BAA156BD-F388-30EA-2720-04061953B80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GB"/>
              <a:t>29/10/2026</a:t>
            </a:r>
            <a:endParaRPr/>
          </a:p>
        </p:txBody>
      </p:sp>
      <p:sp>
        <p:nvSpPr>
          <p:cNvPr id="6" name="content-5">
            <a:extLst>
              <a:ext uri="{FF2B5EF4-FFF2-40B4-BE49-F238E27FC236}">
                <a16:creationId xmlns:a16="http://schemas.microsoft.com/office/drawing/2014/main" id="{672F7C12-CDD6-479F-A6EC-D203BE4FBD41}"/>
              </a:ext>
            </a:extLst>
          </p:cNvPr>
          <p:cNvSpPr>
            <a:spLocks noGrp="1"/>
          </p:cNvSpPr>
          <p:nvPr/>
        </p:nvSpPr>
        <p:spPr>
          <a:xfrm>
            <a:off x="476250" y="6010275"/>
            <a:ext cx="11144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E87"/>
                </a:solidFill>
                <a:latin typeface="Arial"/>
                <a:ea typeface="Arial"/>
                <a:cs typeface="Arial"/>
                <a:hlinkClick r:id="rId3"/>
              </a:rPr>
              <a:t>StatQuest: Mean, variance and standard deviation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229E863-135C-44D1-AA83-36782F46A0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90262679"/>
              </p:ext>
            </p:extLst>
          </p:nvPr>
        </p:nvGraphicFramePr>
        <p:xfrm>
          <a:off x="476250" y="2644982"/>
          <a:ext cx="11239500" cy="2095500"/>
        </p:xfrm>
        <a:graphic>
          <a:graphicData uri="http://schemas.openxmlformats.org/drawingml/2006/table">
            <a:tbl>
              <a:tblPr/>
              <a:tblGrid>
                <a:gridCol w="723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8500">
                <a:tc>
                  <a:txBody>
                    <a:bodyPr/>
                    <a:lstStyle/>
                    <a:p>
                      <a:r>
                        <a:rPr sz="21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Illustrative porosity values (vol%)</a:t>
                      </a: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>
                      <a:solidFill>
                        <a:srgbClr val="D6E1E6"/>
                      </a:solidFill>
                      <a:prstDash val="soli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1231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Summary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>
                      <a:solidFill>
                        <a:srgbClr val="D6E1E6"/>
                      </a:solidFill>
                      <a:prstDash val="soli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1231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sz="2100" b="0" dirty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40, 45, 50, 55, 80</a:t>
                      </a: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Mean = 54 vol%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Sorted middle value: 50</a:t>
                      </a: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 dirty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Median = 50 vol%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content-6">
            <a:extLst>
              <a:ext uri="{FF2B5EF4-FFF2-40B4-BE49-F238E27FC236}">
                <a16:creationId xmlns:a16="http://schemas.microsoft.com/office/drawing/2014/main" id="{C724A0C4-2357-4FC0-9F84-30A489A35569}"/>
              </a:ext>
            </a:extLst>
          </p:cNvPr>
          <p:cNvSpPr>
            <a:spLocks noGrp="1"/>
          </p:cNvSpPr>
          <p:nvPr/>
        </p:nvSpPr>
        <p:spPr>
          <a:xfrm>
            <a:off x="476250" y="5122841"/>
            <a:ext cx="112395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175" b="0" dirty="0">
                <a:solidFill>
                  <a:srgbClr val="243746"/>
                </a:solidFill>
                <a:latin typeface="Arial"/>
                <a:ea typeface="Arial"/>
                <a:cs typeface="Arial"/>
              </a:rPr>
              <a:t>The mean uses every value. The median locates the middle.</a:t>
            </a:r>
            <a:endParaRPr lang="nb-NO" sz="2175" b="0" dirty="0">
              <a:solidFill>
                <a:srgbClr val="2437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68E3FB-3933-852A-8EF7-C36D7F3F40B8}"/>
              </a:ext>
            </a:extLst>
          </p:cNvPr>
          <p:cNvSpPr txBox="1"/>
          <p:nvPr/>
        </p:nvSpPr>
        <p:spPr>
          <a:xfrm>
            <a:off x="519282" y="1483956"/>
            <a:ext cx="1075473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b="1" dirty="0"/>
              <a:t>Mean:</a:t>
            </a:r>
            <a:r>
              <a:rPr lang="en-US" altLang="en-US" sz="1800" dirty="0"/>
              <a:t> Sum of all values divided by the number of values. </a:t>
            </a:r>
          </a:p>
          <a:p>
            <a:pPr marL="285750" indent="-285750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b="1" dirty="0"/>
              <a:t>Median:</a:t>
            </a:r>
            <a:r>
              <a:rPr lang="en-US" altLang="en-US" sz="1800" dirty="0"/>
              <a:t> </a:t>
            </a:r>
            <a:r>
              <a:rPr lang="en-GB" sz="1800" dirty="0"/>
              <a:t>is the exact middle value when the data points are ordered from smallest to largest. For </a:t>
            </a:r>
            <a:r>
              <a:rPr lang="en-US" altLang="en-US" sz="1800" dirty="0"/>
              <a:t>an even set, the median is the average of the two middle numbers.</a:t>
            </a:r>
          </a:p>
        </p:txBody>
      </p:sp>
    </p:spTree>
    <p:extLst>
      <p:ext uri="{BB962C8B-B14F-4D97-AF65-F5344CB8AC3E}">
        <p14:creationId xmlns:p14="http://schemas.microsoft.com/office/powerpoint/2010/main" val="18934816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4F36668-9440-2FC4-1A20-CEA2160E1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none" lIns="0" tIns="0" rIns="0" bIns="0">
            <a:noAutofit/>
          </a:bodyPr>
          <a:lstStyle>
            <a:def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  <a:lvl1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1pPr>
            <a:lvl2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2pPr>
            <a:lvl3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3pPr>
            <a:lvl4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4pPr>
            <a:lvl5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5pPr>
            <a:lvl6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6pPr>
            <a:lvl7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7pPr>
            <a:lvl8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8pPr>
            <a:lvl9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2640" b="1">
                <a:solidFill>
                  <a:srgbClr val="0000FF"/>
                </a:solidFill>
                <a:latin typeface="Arial"/>
                <a:ea typeface="Arial"/>
                <a:cs typeface="Arial"/>
              </a:rPr>
              <a:t>Skewness</a:t>
            </a:r>
          </a:p>
        </p:txBody>
      </p:sp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BAA156BD-F388-30EA-2720-04061953B80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t>29/10/2026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3FDBFEE-0509-16B7-5DAE-5E0DB02DD78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Data Science and Machine Learning for Geoscientists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7EAB126A-2C1E-4241-BBEB-C3AA6FE622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A58DA2A-B818-18A9-29C1-B697728D5BCE}" type="slidenum">
              <a:rPr/>
              <a:t>9</a:t>
            </a:fld>
            <a:endParaRPr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42358139-EACE-E729-C3E3-AD890A6D0F80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 wrap="none" lIns="0" tIns="0" rIns="0" bIns="0">
            <a:noAutofit/>
          </a:bodyPr>
          <a:lstStyle>
            <a:defPPr>
              <a:defRPr sz="2400">
                <a:solidFill>
                  <a:srgbClr val="8064FF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  <a:lvl2pPr marL="342882" indent="0" algn="ctr">
              <a:buNone/>
              <a:defRPr sz="15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2pPr>
            <a:lvl3pPr marL="685765" indent="0" algn="ctr">
              <a:buNone/>
              <a:defRPr sz="135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3pPr>
            <a:lvl4pPr marL="1028647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4pPr>
            <a:lvl5pPr marL="1371530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5pPr>
            <a:lvl6pPr marL="1714412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6pPr>
            <a:lvl7pPr marL="2057295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7pPr>
            <a:lvl8pPr marL="2400177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8pPr>
            <a:lvl9pPr marL="2743060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>
                <a:solidFill>
                  <a:srgbClr val="8064FF"/>
                </a:solidFill>
                <a:latin typeface="Arial"/>
                <a:ea typeface="Arial"/>
                <a:cs typeface="Arial"/>
              </a:defRPr>
            </a:pPr>
            <a:r>
              <a:rPr sz="2400" dirty="0">
                <a:solidFill>
                  <a:srgbClr val="8064FF"/>
                </a:solidFill>
                <a:latin typeface="Arial"/>
                <a:ea typeface="Arial"/>
                <a:cs typeface="Arial"/>
              </a:rPr>
              <a:t>The tail gives the direction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294EF6-783A-439D-AEE7-A62DC9FC9C59}"/>
              </a:ext>
            </a:extLst>
          </p:cNvPr>
          <p:cNvSpPr>
            <a:spLocks noGrp="1"/>
          </p:cNvSpPr>
          <p:nvPr/>
        </p:nvSpPr>
        <p:spPr>
          <a:xfrm>
            <a:off x="247650" y="4464932"/>
            <a:ext cx="3848100" cy="7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75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pPr>
            <a:r>
              <a:rPr sz="1875" b="0" dirty="0">
                <a:solidFill>
                  <a:srgbClr val="12314A"/>
                </a:solidFill>
                <a:latin typeface="Arial"/>
                <a:ea typeface="Arial"/>
                <a:cs typeface="Arial"/>
              </a:rPr>
              <a:t>Longer tail towards</a:t>
            </a:r>
            <a:r>
              <a:rPr lang="nb-NO" sz="1875" b="0" dirty="0">
                <a:solidFill>
                  <a:srgbClr val="12314A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>
                <a:solidFill>
                  <a:srgbClr val="12314A"/>
                </a:solidFill>
                <a:latin typeface="Arial"/>
                <a:ea typeface="Arial"/>
                <a:cs typeface="Arial"/>
              </a:rPr>
              <a:t>smaller values</a:t>
            </a:r>
            <a:endParaRPr lang="nb-NO" sz="1875" b="0" dirty="0">
              <a:solidFill>
                <a:srgbClr val="12314A"/>
              </a:solidFill>
              <a:latin typeface="Arial"/>
              <a:ea typeface="Arial"/>
              <a:cs typeface="Arial"/>
            </a:endParaRPr>
          </a:p>
          <a:p>
            <a:pPr>
              <a:defRPr sz="1875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pPr>
            <a:endParaRPr lang="en-GB" b="0" dirty="0"/>
          </a:p>
          <a:p>
            <a:pPr>
              <a:defRPr sz="1875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pPr>
            <a:r>
              <a:rPr lang="en-GB" b="0" dirty="0"/>
              <a:t>Mean &lt; median &lt; mode</a:t>
            </a:r>
            <a:endParaRPr sz="1875" b="0" dirty="0">
              <a:solidFill>
                <a:srgbClr val="12314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6EBA0C-3294-40B7-8BA7-BB9E0E2F24A8}"/>
              </a:ext>
            </a:extLst>
          </p:cNvPr>
          <p:cNvSpPr>
            <a:spLocks noGrp="1"/>
          </p:cNvSpPr>
          <p:nvPr/>
        </p:nvSpPr>
        <p:spPr>
          <a:xfrm>
            <a:off x="4249271" y="4464932"/>
            <a:ext cx="3770779" cy="7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75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pPr>
            <a:r>
              <a:rPr sz="1875" b="0" dirty="0">
                <a:solidFill>
                  <a:srgbClr val="12314A"/>
                </a:solidFill>
                <a:latin typeface="Arial"/>
                <a:ea typeface="Arial"/>
                <a:cs typeface="Arial"/>
              </a:rPr>
              <a:t>The two sides</a:t>
            </a:r>
            <a:r>
              <a:rPr lang="nb-NO" sz="1875" b="0" dirty="0">
                <a:solidFill>
                  <a:srgbClr val="12314A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>
                <a:solidFill>
                  <a:srgbClr val="12314A"/>
                </a:solidFill>
                <a:latin typeface="Arial"/>
                <a:ea typeface="Arial"/>
                <a:cs typeface="Arial"/>
              </a:rPr>
              <a:t>mirror one another</a:t>
            </a:r>
            <a:endParaRPr lang="nb-NO" sz="1875" b="0" dirty="0">
              <a:solidFill>
                <a:srgbClr val="12314A"/>
              </a:solidFill>
              <a:latin typeface="Arial"/>
              <a:ea typeface="Arial"/>
              <a:cs typeface="Arial"/>
            </a:endParaRPr>
          </a:p>
          <a:p>
            <a:pPr>
              <a:defRPr sz="1875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pPr>
            <a:endParaRPr lang="en-GB" b="0" dirty="0"/>
          </a:p>
          <a:p>
            <a:pPr>
              <a:defRPr sz="1875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pPr>
            <a:r>
              <a:rPr lang="en-GB" b="0" dirty="0"/>
              <a:t>Mean = median = mode = 5</a:t>
            </a:r>
            <a:endParaRPr sz="1875" b="0" dirty="0">
              <a:solidFill>
                <a:srgbClr val="12314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94BCD2F-5552-4482-A5C3-ECE87BACC9CE}"/>
              </a:ext>
            </a:extLst>
          </p:cNvPr>
          <p:cNvSpPr>
            <a:spLocks noGrp="1"/>
          </p:cNvSpPr>
          <p:nvPr/>
        </p:nvSpPr>
        <p:spPr>
          <a:xfrm>
            <a:off x="8467725" y="4464932"/>
            <a:ext cx="3476625" cy="7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75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pPr>
            <a:r>
              <a:rPr sz="1875" b="0" dirty="0">
                <a:solidFill>
                  <a:srgbClr val="12314A"/>
                </a:solidFill>
                <a:latin typeface="Arial"/>
                <a:ea typeface="Arial"/>
                <a:cs typeface="Arial"/>
              </a:rPr>
              <a:t>Longer tail towards</a:t>
            </a:r>
            <a:r>
              <a:rPr lang="nb-NO" sz="1875" b="0" dirty="0">
                <a:solidFill>
                  <a:srgbClr val="12314A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>
                <a:solidFill>
                  <a:srgbClr val="12314A"/>
                </a:solidFill>
                <a:latin typeface="Arial"/>
                <a:ea typeface="Arial"/>
                <a:cs typeface="Arial"/>
              </a:rPr>
              <a:t>larger values</a:t>
            </a:r>
            <a:endParaRPr lang="nb-NO" sz="1875" b="0" dirty="0">
              <a:solidFill>
                <a:srgbClr val="12314A"/>
              </a:solidFill>
              <a:latin typeface="Arial"/>
              <a:ea typeface="Arial"/>
              <a:cs typeface="Arial"/>
            </a:endParaRPr>
          </a:p>
          <a:p>
            <a:pPr>
              <a:defRPr sz="1875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pPr>
            <a:endParaRPr lang="en-GB" b="0" dirty="0"/>
          </a:p>
          <a:p>
            <a:pPr>
              <a:defRPr sz="1875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pPr>
            <a:r>
              <a:rPr lang="en-GB" b="0" dirty="0"/>
              <a:t>Mode &lt; median &lt; mean</a:t>
            </a:r>
            <a:endParaRPr sz="1875" b="0" dirty="0">
              <a:solidFill>
                <a:srgbClr val="12314A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7" name="Picture 16" descr="A graph of a function&#10;&#10;AI-generated content may be incorrect.">
            <a:extLst>
              <a:ext uri="{FF2B5EF4-FFF2-40B4-BE49-F238E27FC236}">
                <a16:creationId xmlns:a16="http://schemas.microsoft.com/office/drawing/2014/main" id="{13D41BCD-0474-9F40-3B26-2776AFEFA6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719" y="1347362"/>
            <a:ext cx="11262561" cy="2806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5180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C4F36668-9440-2FC4-1A20-CEA2160E1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none" lIns="0" tIns="0" rIns="0" bIns="0">
            <a:noAutofit/>
          </a:bodyPr>
          <a:lstStyle>
            <a:def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  <a:lvl1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1pPr>
            <a:lvl2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2pPr>
            <a:lvl3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3pPr>
            <a:lvl4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4pPr>
            <a:lvl5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5pPr>
            <a:lvl6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6pPr>
            <a:lvl7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7pPr>
            <a:lvl8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8pPr>
            <a:lvl9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2640" b="1">
                <a:solidFill>
                  <a:srgbClr val="0000FF"/>
                </a:solidFill>
                <a:latin typeface="Arial"/>
                <a:ea typeface="Arial"/>
                <a:cs typeface="Arial"/>
              </a:rPr>
              <a:t>Earthquake distributions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8038541E-1CBA-B0AE-880C-7CCC58EAF8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3415" y="1078633"/>
            <a:ext cx="4911581" cy="4866481"/>
          </a:xfrm>
        </p:spPr>
        <p:txBody>
          <a:bodyPr/>
          <a:lstStyle/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GB" dirty="0"/>
              <a:t>Many selected earthquakes lie near the lower threshold and relatively few have large magnitudes. 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GB" dirty="0"/>
              <a:t>The longer tail to high values is right skewness.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GB" dirty="0"/>
              <a:t>The median gives a useful central comparison because large values influence the mean. 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BAA156BD-F388-30EA-2720-04061953B80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t>29/10/2026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3FDBFEE-0509-16B7-5DAE-5E0DB02DD78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Data Science and Machine Learning for Geoscientists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7EAB126A-2C1E-4241-BBEB-C3AA6FE622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88657AE-30A1-5A7A-6A7F-315D84436430}" type="slidenum">
              <a:rPr/>
              <a:t>10</a:t>
            </a:fld>
            <a:endParaRPr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42358139-EACE-E729-C3E3-AD890A6D0F80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 wrap="none" lIns="0" tIns="0" rIns="0" bIns="0">
            <a:noAutofit/>
          </a:bodyPr>
          <a:lstStyle>
            <a:defPPr>
              <a:defRPr sz="2400">
                <a:solidFill>
                  <a:srgbClr val="8064FF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  <a:lvl2pPr marL="342882" indent="0" algn="ctr">
              <a:buNone/>
              <a:defRPr sz="15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2pPr>
            <a:lvl3pPr marL="685765" indent="0" algn="ctr">
              <a:buNone/>
              <a:defRPr sz="135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3pPr>
            <a:lvl4pPr marL="1028647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4pPr>
            <a:lvl5pPr marL="1371530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5pPr>
            <a:lvl6pPr marL="1714412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6pPr>
            <a:lvl7pPr marL="2057295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7pPr>
            <a:lvl8pPr marL="2400177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8pPr>
            <a:lvl9pPr marL="2743060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>
                <a:solidFill>
                  <a:srgbClr val="8064FF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8064FF"/>
                </a:solidFill>
                <a:latin typeface="Arial"/>
                <a:ea typeface="Arial"/>
                <a:cs typeface="Arial"/>
              </a:rPr>
              <a:t>Interpreting the diagonal panels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D61BD88-A776-4EF7-BF8B-23787E303C40}"/>
              </a:ext>
            </a:extLst>
          </p:cNvPr>
          <p:cNvSpPr>
            <a:spLocks noGrp="1"/>
          </p:cNvSpPr>
          <p:nvPr/>
        </p:nvSpPr>
        <p:spPr>
          <a:xfrm>
            <a:off x="652897" y="4922133"/>
            <a:ext cx="61912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725" b="0">
                <a:solidFill>
                  <a:srgbClr val="CB6A0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CB6A0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CB6A0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CB6A0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CB6A0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CB6A0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CB6A0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CB6A0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CB6A0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CB6A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25" b="0">
                <a:solidFill>
                  <a:srgbClr val="CB6A00"/>
                </a:solidFill>
                <a:latin typeface="Arial"/>
                <a:ea typeface="Arial"/>
                <a:cs typeface="Arial"/>
              </a:defRPr>
            </a:pPr>
            <a:r>
              <a:rPr sz="1725" b="0" dirty="0">
                <a:solidFill>
                  <a:srgbClr val="CB6A00"/>
                </a:solidFill>
                <a:latin typeface="Arial"/>
                <a:ea typeface="Arial"/>
                <a:cs typeface="Arial"/>
              </a:rPr>
              <a:t>Orange line: selection threshold</a:t>
            </a:r>
            <a:r>
              <a:rPr lang="nb-NO" sz="1725" b="0" dirty="0">
                <a:solidFill>
                  <a:srgbClr val="CB6A00"/>
                </a:solidFill>
                <a:latin typeface="Arial"/>
                <a:ea typeface="Arial"/>
                <a:cs typeface="Arial"/>
              </a:rPr>
              <a:t> = 4.8</a:t>
            </a:r>
            <a:endParaRPr sz="1725" b="0" dirty="0">
              <a:solidFill>
                <a:srgbClr val="CB6A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" name="Picture 7" descr="A graph showing the number of earthquakes&#10;&#10;AI-generated content may be incorrect.">
            <a:extLst>
              <a:ext uri="{FF2B5EF4-FFF2-40B4-BE49-F238E27FC236}">
                <a16:creationId xmlns:a16="http://schemas.microsoft.com/office/drawing/2014/main" id="{DE0699D6-24D0-08AB-D3EF-EC0F49FFB3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678" y="1280548"/>
            <a:ext cx="6299200" cy="33528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FC9A3D7-803F-1C44-77D9-F58A9E358016}"/>
              </a:ext>
            </a:extLst>
          </p:cNvPr>
          <p:cNvSpPr txBox="1"/>
          <p:nvPr/>
        </p:nvSpPr>
        <p:spPr>
          <a:xfrm>
            <a:off x="863829" y="5467544"/>
            <a:ext cx="3213319" cy="380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75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pPr>
            <a:r>
              <a:rPr lang="en-GB" b="0" dirty="0"/>
              <a:t>Mode &lt; median &lt; mean</a:t>
            </a:r>
            <a:endParaRPr lang="en-GB" sz="1800" b="0" dirty="0">
              <a:solidFill>
                <a:srgbClr val="12314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676DD3-182F-FE44-0287-15F30A85DB02}"/>
              </a:ext>
            </a:extLst>
          </p:cNvPr>
          <p:cNvSpPr txBox="1"/>
          <p:nvPr/>
        </p:nvSpPr>
        <p:spPr>
          <a:xfrm>
            <a:off x="5064925" y="5178633"/>
            <a:ext cx="60998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KDE can extend below the selection threshold because of smoothing; that does not mean the selected dataset contains observations below 4.8.</a:t>
            </a:r>
          </a:p>
        </p:txBody>
      </p:sp>
    </p:spTree>
    <p:extLst>
      <p:ext uri="{BB962C8B-B14F-4D97-AF65-F5344CB8AC3E}">
        <p14:creationId xmlns:p14="http://schemas.microsoft.com/office/powerpoint/2010/main" val="420603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6917A-4063-C76A-C9E1-E9BF9BC3D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Relationships between earthquake measurements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38722-7C86-EE71-9249-5A057411F18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GB"/>
              <a:t>29/10/2026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583449-6A51-189A-E56B-B0D495F61A6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GB"/>
              <a:t>Data Science and Machine Learning for Geoscientists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D311A-2BDC-582A-FFBF-E86E96A72A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11</a:t>
            </a:fld>
            <a:endParaRPr lang="en-GB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ED02A5D0-2DA5-C228-7FF3-5110780FD9AE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038B1EB-97D0-A5C5-A29F-2A251DBE72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2009653"/>
              </p:ext>
            </p:extLst>
          </p:nvPr>
        </p:nvGraphicFramePr>
        <p:xfrm>
          <a:off x="250133" y="2263997"/>
          <a:ext cx="9431749" cy="3159950"/>
        </p:xfrm>
        <a:graphic>
          <a:graphicData uri="http://schemas.openxmlformats.org/drawingml/2006/table">
            <a:tbl>
              <a:tblPr/>
              <a:tblGrid>
                <a:gridCol w="3181556">
                  <a:extLst>
                    <a:ext uri="{9D8B030D-6E8A-4147-A177-3AD203B41FA5}">
                      <a16:colId xmlns:a16="http://schemas.microsoft.com/office/drawing/2014/main" val="2040823416"/>
                    </a:ext>
                  </a:extLst>
                </a:gridCol>
                <a:gridCol w="6250193">
                  <a:extLst>
                    <a:ext uri="{9D8B030D-6E8A-4147-A177-3AD203B41FA5}">
                      <a16:colId xmlns:a16="http://schemas.microsoft.com/office/drawing/2014/main" val="1991234524"/>
                    </a:ext>
                  </a:extLst>
                </a:gridCol>
              </a:tblGrid>
              <a:tr h="3880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Pair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What to explain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966686"/>
                  </a:ext>
                </a:extLst>
              </a:tr>
              <a:tr h="9964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Magnitude and significance</a:t>
                      </a:r>
                      <a:endParaRPr lang="en-GB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Larger earthquakes generally have higher significance scores, but earthquakes of the same magnitude can have different scores.</a:t>
                      </a:r>
                      <a:endParaRPr lang="en-GB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8971564"/>
                  </a:ext>
                </a:extLst>
              </a:tr>
              <a:tr h="9524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Magnitude and depth</a:t>
                      </a:r>
                      <a:endParaRPr lang="en-GB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Most earthquakes in this subset occur at shallow depths. There is no clear upward or downward trend: larger earthquakes are not consistently deeper or shallower.</a:t>
                      </a:r>
                      <a:endParaRPr lang="en-GB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6730749"/>
                  </a:ext>
                </a:extLst>
              </a:tr>
              <a:tr h="6702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Magnitude and </a:t>
                      </a:r>
                      <a:r>
                        <a:rPr lang="en-GB" sz="1600" b="1" dirty="0" err="1"/>
                        <a:t>dmin</a:t>
                      </a:r>
                      <a:endParaRPr lang="en-GB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Most earthquakes have small distances to the nearest recording station. There is no clear overall trend between magnitude and this distance.</a:t>
                      </a:r>
                      <a:endParaRPr lang="en-GB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5520188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FFAE5939-C91E-C53F-BCA0-158712D07C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4521" y="0"/>
            <a:ext cx="20035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5939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 descr="Multiple Linear Sklearn Regression Tutorial Multivariate Linear Regression  Deep Learning Multiple Regression">
            <a:extLst>
              <a:ext uri="{FF2B5EF4-FFF2-40B4-BE49-F238E27FC236}">
                <a16:creationId xmlns:a16="http://schemas.microsoft.com/office/drawing/2014/main" id="{99F9443B-1C26-445A-F584-65B75F8818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65814" y="2973005"/>
            <a:ext cx="3893508" cy="2920131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88C1666A-9996-1EFF-BCA4-CA5A463D8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en-US" dirty="0"/>
              <a:t>Introducing scikit-learn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2787BF8-450B-DDC5-5245-4476B074D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801" y="1394619"/>
            <a:ext cx="8183498" cy="4866481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Scikit-learn is a Python library for data preprocessing and machine learning.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Today, we will use it to:</a:t>
            </a:r>
          </a:p>
          <a:p>
            <a:pPr marL="504891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Split data into training and test sets.</a:t>
            </a:r>
          </a:p>
          <a:p>
            <a:pPr marL="504891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Fill missing measurements using values learned from training data.</a:t>
            </a:r>
          </a:p>
          <a:p>
            <a:pPr marL="504891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Scale numerical variables.</a:t>
            </a:r>
          </a:p>
          <a:p>
            <a:pPr marL="504891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Combine preparation steps into a reusable pipeline.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Later, we will use it to build and evaluate predictive models.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5059CE-D492-F896-6D2E-45FC029CFFD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GB"/>
              <a:t>29/10/2026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FCC7ED-B1B5-228C-2F8B-109D2733765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GB"/>
              <a:t>Data Science and Machine Learning for Geoscientists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106EBE-BAC4-44DB-6059-648823A2479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12</a:t>
            </a:fld>
            <a:endParaRPr lang="en-GB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A84E5F8B-4302-4986-5A7C-1575483368D2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pPr rtl="0"/>
            <a:r>
              <a:rPr lang="en-GB" dirty="0"/>
              <a:t>Our next tool for preparing data</a:t>
            </a:r>
            <a:endParaRPr lang="en-US" dirty="0"/>
          </a:p>
        </p:txBody>
      </p:sp>
      <p:pic>
        <p:nvPicPr>
          <p:cNvPr id="4098" name="Picture 2" descr="scikit-learn - Wikipedia">
            <a:extLst>
              <a:ext uri="{FF2B5EF4-FFF2-40B4-BE49-F238E27FC236}">
                <a16:creationId xmlns:a16="http://schemas.microsoft.com/office/drawing/2014/main" id="{F62D1CC7-15EB-183C-942D-0B9AABAAAB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3429" y="119630"/>
            <a:ext cx="2542770" cy="1372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84450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C4F36668-9440-2FC4-1A20-CEA2160E1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none" lIns="0" tIns="0" rIns="0" bIns="0">
            <a:noAutofit/>
          </a:bodyPr>
          <a:lstStyle>
            <a:def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  <a:lvl1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1pPr>
            <a:lvl2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2pPr>
            <a:lvl3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3pPr>
            <a:lvl4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4pPr>
            <a:lvl5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5pPr>
            <a:lvl6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6pPr>
            <a:lvl7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7pPr>
            <a:lvl8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8pPr>
            <a:lvl9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lang="en-GB" sz="2600" dirty="0"/>
              <a:t>How our Python tools work together</a:t>
            </a:r>
            <a:endParaRPr sz="2600" b="1" dirty="0">
              <a:solidFill>
                <a:srgbClr val="0000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42358139-EACE-E729-C3E3-AD890A6D0F80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 wrap="none" lIns="0" tIns="0" rIns="0" bIns="0">
            <a:noAutofit/>
          </a:bodyPr>
          <a:lstStyle>
            <a:defPPr>
              <a:defRPr sz="2400">
                <a:solidFill>
                  <a:srgbClr val="8064FF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  <a:lvl2pPr marL="342882" indent="0" algn="ctr">
              <a:buNone/>
              <a:defRPr sz="15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2pPr>
            <a:lvl3pPr marL="685765" indent="0" algn="ctr">
              <a:buNone/>
              <a:defRPr sz="135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3pPr>
            <a:lvl4pPr marL="1028647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4pPr>
            <a:lvl5pPr marL="1371530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5pPr>
            <a:lvl6pPr marL="1714412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6pPr>
            <a:lvl7pPr marL="2057295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7pPr>
            <a:lvl8pPr marL="2400177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8pPr>
            <a:lvl9pPr marL="2743060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l" defTabSz="685765" rtl="0">
              <a:lnSpc>
                <a:spcPct val="90000"/>
              </a:lnSpc>
              <a:spcBef>
                <a:spcPts val="0"/>
              </a:spcBef>
              <a:buFont typeface="Arial"/>
              <a:buNone/>
              <a:defRPr sz="2400">
                <a:solidFill>
                  <a:srgbClr val="8064FF"/>
                </a:solidFill>
                <a:latin typeface="Arial"/>
                <a:ea typeface="Arial"/>
                <a:cs typeface="Arial"/>
              </a:defRPr>
            </a:pPr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3FDBFEE-0509-16B7-5DAE-5E0DB02DD78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Data Science and Machine Learning for Geoscientists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7EAB126A-2C1E-4241-BBEB-C3AA6FE622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C630A04-5A25-9E0C-9436-126091DB86B3}" type="slidenum">
              <a:rPr/>
              <a:t>13</a:t>
            </a:fld>
            <a:endParaRPr/>
          </a:p>
        </p:txBody>
      </p:sp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BAA156BD-F388-30EA-2720-04061953B80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GB"/>
              <a:t>29/10/2026</a:t>
            </a:r>
            <a:endParaRPr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5D13514-C01C-4087-95B0-BF4B067E680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18634222"/>
              </p:ext>
            </p:extLst>
          </p:nvPr>
        </p:nvGraphicFramePr>
        <p:xfrm>
          <a:off x="476250" y="1619250"/>
          <a:ext cx="11239500" cy="3048000"/>
        </p:xfrm>
        <a:graphic>
          <a:graphicData uri="http://schemas.openxmlformats.org/drawingml/2006/table">
            <a:tbl>
              <a:tblPr/>
              <a:tblGrid>
                <a:gridCol w="31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9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r>
                        <a:rPr sz="2000" b="1" dirty="0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  <a:t>Library</a:t>
                      </a: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>
                      <a:solidFill>
                        <a:srgbClr val="D6E1E6"/>
                      </a:solidFill>
                      <a:prstDash val="soli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1231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 dirty="0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  <a:t>Role in workflow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>
                      <a:solidFill>
                        <a:srgbClr val="D6E1E6"/>
                      </a:solidFill>
                      <a:prstDash val="soli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1231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nb-NO" sz="20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  <a:r>
                        <a:rPr sz="20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andas</a:t>
                      </a:r>
                      <a:endParaRPr sz="20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Load, inspect and clean data tables</a:t>
                      </a:r>
                      <a:endParaRPr sz="20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NumPy</a:t>
                      </a: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Work with numerical arrays</a:t>
                      </a:r>
                      <a:endParaRPr sz="20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Matplotlib / Seaborn</a:t>
                      </a: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Visualise distributions and relationships</a:t>
                      </a:r>
                      <a:endParaRPr sz="20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20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scikit-learn</a:t>
                      </a: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Fit and apply reusable preprocessing steps</a:t>
                      </a:r>
                      <a:endParaRPr sz="20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046F9C5B-C576-4A0C-AE8B-D4ECD3D36264}"/>
              </a:ext>
            </a:extLst>
          </p:cNvPr>
          <p:cNvSpPr txBox="1"/>
          <p:nvPr/>
        </p:nvSpPr>
        <p:spPr>
          <a:xfrm>
            <a:off x="476250" y="5238750"/>
            <a:ext cx="9054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defTabSz="914353" rtl="0">
              <a:buNone/>
            </a:pPr>
            <a:r>
              <a:rPr lang="en-GB" dirty="0"/>
              <a:t>We will use these tools together to prepare sediment-core measurements.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85203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C4F36668-9440-2FC4-1A20-CEA2160E1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none" lIns="0" tIns="0" rIns="0" bIns="0">
            <a:noAutofit/>
          </a:bodyPr>
          <a:lstStyle>
            <a:def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  <a:lvl1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1pPr>
            <a:lvl2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2pPr>
            <a:lvl3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3pPr>
            <a:lvl4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4pPr>
            <a:lvl5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5pPr>
            <a:lvl6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6pPr>
            <a:lvl7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7pPr>
            <a:lvl8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8pPr>
            <a:lvl9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2640" b="1">
                <a:solidFill>
                  <a:srgbClr val="0000FF"/>
                </a:solidFill>
                <a:latin typeface="Arial"/>
                <a:ea typeface="Arial"/>
                <a:cs typeface="Arial"/>
              </a:rPr>
              <a:t>The core dataset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42358139-EACE-E729-C3E3-AD890A6D0F80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 wrap="none" lIns="0" tIns="0" rIns="0" bIns="0">
            <a:noAutofit/>
          </a:bodyPr>
          <a:lstStyle>
            <a:defPPr>
              <a:defRPr sz="2400">
                <a:solidFill>
                  <a:srgbClr val="8064FF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  <a:lvl2pPr marL="342882" indent="0" algn="ctr">
              <a:buNone/>
              <a:defRPr sz="15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2pPr>
            <a:lvl3pPr marL="685765" indent="0" algn="ctr">
              <a:buNone/>
              <a:defRPr sz="135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3pPr>
            <a:lvl4pPr marL="1028647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4pPr>
            <a:lvl5pPr marL="1371530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5pPr>
            <a:lvl6pPr marL="1714412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6pPr>
            <a:lvl7pPr marL="2057295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7pPr>
            <a:lvl8pPr marL="2400177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8pPr>
            <a:lvl9pPr marL="2743060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>
                <a:solidFill>
                  <a:srgbClr val="8064FF"/>
                </a:solidFill>
                <a:latin typeface="Arial"/>
                <a:ea typeface="Arial"/>
                <a:cs typeface="Arial"/>
              </a:defRPr>
            </a:pPr>
            <a:r>
              <a:rPr lang="nb-NO" sz="2400" dirty="0">
                <a:solidFill>
                  <a:srgbClr val="8064FF"/>
                </a:solidFill>
                <a:latin typeface="Arial"/>
                <a:ea typeface="Arial"/>
                <a:cs typeface="Arial"/>
              </a:rPr>
              <a:t>Data</a:t>
            </a:r>
            <a:r>
              <a:rPr sz="2400" dirty="0">
                <a:solidFill>
                  <a:srgbClr val="8064FF"/>
                </a:solidFill>
                <a:latin typeface="Arial"/>
                <a:ea typeface="Arial"/>
                <a:cs typeface="Arial"/>
              </a:rPr>
              <a:t> collected along drilled sediment cores</a:t>
            </a:r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3FDBFEE-0509-16B7-5DAE-5E0DB02DD78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Data Science and Machine Learning for Geoscientists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7EAB126A-2C1E-4241-BBEB-C3AA6FE622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3D7D1C8-AE23-AA48-DF65-C742588DBE47}" type="slidenum">
              <a:rPr/>
              <a:t>14</a:t>
            </a:fld>
            <a:endParaRPr/>
          </a:p>
        </p:txBody>
      </p:sp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BAA156BD-F388-30EA-2720-04061953B80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GB"/>
              <a:t>29/10/2026</a:t>
            </a:r>
            <a:endParaRPr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7121440-1B7C-4079-92D5-930DF118131F}"/>
              </a:ext>
            </a:extLst>
          </p:cNvPr>
          <p:cNvGraphicFramePr/>
          <p:nvPr/>
        </p:nvGraphicFramePr>
        <p:xfrm>
          <a:off x="476250" y="1524000"/>
          <a:ext cx="11239500" cy="3476628"/>
        </p:xfrm>
        <a:graphic>
          <a:graphicData uri="http://schemas.openxmlformats.org/drawingml/2006/table">
            <a:tbl>
              <a:tblPr/>
              <a:tblGrid>
                <a:gridCol w="447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2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438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Column</a:t>
                      </a: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>
                      <a:solidFill>
                        <a:srgbClr val="D6E1E6"/>
                      </a:solidFill>
                      <a:prstDash val="soli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1231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Interpretation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>
                      <a:solidFill>
                        <a:srgbClr val="D6E1E6"/>
                      </a:solidFill>
                      <a:prstDash val="soli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1231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label</a:t>
                      </a: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Sample identifier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Depth CSF-A (m)</a:t>
                      </a: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Core depth in metres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Porosity (vol%)</a:t>
                      </a: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Pore volume percentage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NGR total counts (cps)</a:t>
                      </a: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Natural gamma count rate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Reflectance L*, a*, b*</a:t>
                      </a: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Lightness and colour coordinates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134A2D82-CBF5-B850-33CC-046F7FE20737}"/>
              </a:ext>
            </a:extLst>
          </p:cNvPr>
          <p:cNvSpPr txBox="1"/>
          <p:nvPr/>
        </p:nvSpPr>
        <p:spPr>
          <a:xfrm>
            <a:off x="476250" y="5327833"/>
            <a:ext cx="81127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defTabSz="914353" rtl="0">
              <a:buNone/>
            </a:pPr>
            <a:r>
              <a:rPr lang="en-GB" dirty="0"/>
              <a:t>Each row represents a sample with associated measurements.</a:t>
            </a:r>
          </a:p>
          <a:p>
            <a:pPr marL="0" algn="l" defTabSz="914353" rtl="0">
              <a:buNone/>
            </a:pPr>
            <a:r>
              <a:rPr lang="en-GB" dirty="0"/>
              <a:t>cps: counts per second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66782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C4F36668-9440-2FC4-1A20-CEA2160E1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none" lIns="0" tIns="0" rIns="0" bIns="0">
            <a:noAutofit/>
          </a:bodyPr>
          <a:lstStyle>
            <a:def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  <a:lvl1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1pPr>
            <a:lvl2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2pPr>
            <a:lvl3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3pPr>
            <a:lvl4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4pPr>
            <a:lvl5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5pPr>
            <a:lvl6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6pPr>
            <a:lvl7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7pPr>
            <a:lvl8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8pPr>
            <a:lvl9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2640" b="1">
                <a:solidFill>
                  <a:srgbClr val="0000FF"/>
                </a:solidFill>
                <a:latin typeface="Arial"/>
                <a:ea typeface="Arial"/>
                <a:cs typeface="Arial"/>
              </a:rPr>
              <a:t>Duplicates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6991F966-6716-CEF7-C073-4EC174F4FA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993" y="1234902"/>
            <a:ext cx="11540763" cy="895511"/>
          </a:xfrm>
        </p:spPr>
        <p:txBody>
          <a:bodyPr/>
          <a:lstStyle/>
          <a:p>
            <a:pPr rtl="0"/>
            <a:r>
              <a:rPr lang="en-GB" dirty="0"/>
              <a:t>The pandas .</a:t>
            </a:r>
            <a:r>
              <a:rPr lang="en-GB" u="sng" dirty="0"/>
              <a:t>duplicated()</a:t>
            </a:r>
            <a:r>
              <a:rPr lang="en-GB" dirty="0"/>
              <a:t> method, by default, checks whether a row has the </a:t>
            </a:r>
            <a:r>
              <a:rPr lang="en-GB" b="1" dirty="0"/>
              <a:t>same values in every column</a:t>
            </a:r>
            <a:r>
              <a:rPr lang="en-GB" dirty="0"/>
              <a:t> as an earlier row. The output is </a:t>
            </a:r>
            <a:r>
              <a:rPr lang="en-GB" i="1" dirty="0"/>
              <a:t>True</a:t>
            </a:r>
            <a:r>
              <a:rPr lang="en-GB" dirty="0"/>
              <a:t> or </a:t>
            </a:r>
            <a:r>
              <a:rPr lang="en-GB" i="1" dirty="0"/>
              <a:t>False</a:t>
            </a:r>
            <a:r>
              <a:rPr lang="en-GB" dirty="0"/>
              <a:t>.</a:t>
            </a:r>
          </a:p>
          <a:p>
            <a:pPr rtl="0"/>
            <a:endParaRPr lang="en-US" dirty="0"/>
          </a:p>
        </p:txBody>
      </p:sp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BAA156BD-F388-30EA-2720-04061953B80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GB"/>
              <a:t>29/10/2026</a:t>
            </a:r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3FDBFEE-0509-16B7-5DAE-5E0DB02DD78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Data Science and Machine Learning for Geoscientists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7EAB126A-2C1E-4241-BBEB-C3AA6FE622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88657AE-30A1-5A7A-6A7F-315D84436430}" type="slidenum">
              <a:rPr/>
              <a:t>15</a:t>
            </a:fld>
            <a:endParaRPr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42358139-EACE-E729-C3E3-AD890A6D0F80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 wrap="none" lIns="0" tIns="0" rIns="0" bIns="0">
            <a:noAutofit/>
          </a:bodyPr>
          <a:lstStyle>
            <a:defPPr>
              <a:defRPr sz="2400">
                <a:solidFill>
                  <a:srgbClr val="8064FF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  <a:lvl2pPr marL="342882" indent="0" algn="ctr">
              <a:buNone/>
              <a:defRPr sz="15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2pPr>
            <a:lvl3pPr marL="685765" indent="0" algn="ctr">
              <a:buNone/>
              <a:defRPr sz="135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3pPr>
            <a:lvl4pPr marL="1028647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4pPr>
            <a:lvl5pPr marL="1371530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5pPr>
            <a:lvl6pPr marL="1714412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6pPr>
            <a:lvl7pPr marL="2057295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7pPr>
            <a:lvl8pPr marL="2400177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8pPr>
            <a:lvl9pPr marL="2743060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>
                <a:solidFill>
                  <a:srgbClr val="8064FF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8064FF"/>
                </a:solidFill>
                <a:latin typeface="Arial"/>
                <a:ea typeface="Arial"/>
                <a:cs typeface="Arial"/>
              </a:rPr>
              <a:t>Repeated records can distort summaries and evaluation</a:t>
            </a:r>
            <a:endParaRPr/>
          </a:p>
        </p:txBody>
      </p:sp>
      <p:sp>
        <p:nvSpPr>
          <p:cNvPr id="6" name="content-5">
            <a:extLst>
              <a:ext uri="{FF2B5EF4-FFF2-40B4-BE49-F238E27FC236}">
                <a16:creationId xmlns:a16="http://schemas.microsoft.com/office/drawing/2014/main" id="{19535B96-3A76-45A3-94C7-7F2A0A6A72D7}"/>
              </a:ext>
            </a:extLst>
          </p:cNvPr>
          <p:cNvSpPr>
            <a:spLocks noGrp="1"/>
          </p:cNvSpPr>
          <p:nvPr/>
        </p:nvSpPr>
        <p:spPr>
          <a:xfrm>
            <a:off x="476250" y="6010275"/>
            <a:ext cx="11144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E87"/>
                </a:solidFill>
                <a:latin typeface="Arial"/>
                <a:ea typeface="Arial"/>
                <a:cs typeface="Arial"/>
                <a:hlinkClick r:id="rId3"/>
              </a:rPr>
              <a:t>McKinney, 3rd ed., §§7.1–7.2</a:t>
            </a:r>
          </a:p>
        </p:txBody>
      </p:sp>
      <p:sp>
        <p:nvSpPr>
          <p:cNvPr id="7" name="content-6">
            <a:extLst>
              <a:ext uri="{FF2B5EF4-FFF2-40B4-BE49-F238E27FC236}">
                <a16:creationId xmlns:a16="http://schemas.microsoft.com/office/drawing/2014/main" id="{12D7CDFF-E0A9-45C0-AF83-96E7DEB926DB}"/>
              </a:ext>
            </a:extLst>
          </p:cNvPr>
          <p:cNvSpPr>
            <a:spLocks noGrp="1"/>
          </p:cNvSpPr>
          <p:nvPr/>
        </p:nvSpPr>
        <p:spPr>
          <a:xfrm>
            <a:off x="325437" y="2130413"/>
            <a:ext cx="11239500" cy="21082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17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defPPr>
            <a:lvl1pPr>
              <a:defRPr sz="217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lvl1pPr>
            <a:lvl2pPr>
              <a:defRPr sz="217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lvl2pPr>
            <a:lvl3pPr>
              <a:defRPr sz="217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lvl3pPr>
            <a:lvl4pPr>
              <a:defRPr sz="217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lvl4pPr>
            <a:lvl5pPr>
              <a:defRPr sz="217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lvl5pPr>
            <a:lvl6pPr>
              <a:defRPr sz="217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lvl6pPr>
            <a:lvl7pPr>
              <a:defRPr sz="217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lvl7pPr>
            <a:lvl8pPr>
              <a:defRPr sz="217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lvl8pPr>
            <a:lvl9pPr>
              <a:defRPr sz="217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lvl9pPr>
          </a:lstStyle>
          <a:p>
            <a:pPr>
              <a:defRPr sz="217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sz="1800" b="0" dirty="0" err="1">
                <a:solidFill>
                  <a:schemeClr val="tx1"/>
                </a:solidFill>
                <a:latin typeface="Menlo"/>
                <a:ea typeface="Menlo"/>
                <a:cs typeface="Menlo"/>
              </a:rPr>
              <a:t>data.duplicated</a:t>
            </a:r>
            <a:r>
              <a:rPr sz="1800" b="0" dirty="0">
                <a:solidFill>
                  <a:schemeClr val="tx1"/>
                </a:solidFill>
                <a:latin typeface="Menlo"/>
                <a:ea typeface="Menlo"/>
                <a:cs typeface="Menlo"/>
              </a:rPr>
              <a:t>().sum()</a:t>
            </a:r>
            <a:r>
              <a:rPr lang="nb-NO" sz="1800" b="0" dirty="0">
                <a:solidFill>
                  <a:schemeClr val="tx1"/>
                </a:solidFill>
                <a:latin typeface="Menlo"/>
                <a:ea typeface="Menlo"/>
                <a:cs typeface="Menlo"/>
              </a:rPr>
              <a:t> </a:t>
            </a:r>
            <a:endParaRPr sz="1800" b="0" dirty="0">
              <a:solidFill>
                <a:schemeClr val="tx1"/>
              </a:solidFill>
              <a:latin typeface="Menlo"/>
              <a:ea typeface="Menlo"/>
              <a:cs typeface="Menlo"/>
            </a:endParaRPr>
          </a:p>
          <a:p>
            <a:pPr>
              <a:defRPr sz="217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sz="1800" b="0" dirty="0">
                <a:solidFill>
                  <a:schemeClr val="tx1"/>
                </a:solidFill>
                <a:latin typeface="Menlo"/>
                <a:ea typeface="Menlo"/>
                <a:cs typeface="Menlo"/>
              </a:rPr>
              <a:t>data = </a:t>
            </a:r>
            <a:r>
              <a:rPr sz="1800" b="0" dirty="0" err="1">
                <a:solidFill>
                  <a:schemeClr val="tx1"/>
                </a:solidFill>
                <a:latin typeface="Menlo"/>
                <a:ea typeface="Menlo"/>
                <a:cs typeface="Menlo"/>
              </a:rPr>
              <a:t>data.drop_duplicates</a:t>
            </a:r>
            <a:r>
              <a:rPr sz="1800" b="0" dirty="0">
                <a:solidFill>
                  <a:schemeClr val="tx1"/>
                </a:solidFill>
                <a:latin typeface="Menlo"/>
                <a:ea typeface="Menlo"/>
                <a:cs typeface="Menlo"/>
              </a:rPr>
              <a:t>().copy()</a:t>
            </a:r>
            <a:endParaRPr lang="nb-NO" sz="1800" b="0" dirty="0">
              <a:solidFill>
                <a:schemeClr val="tx1"/>
              </a:solidFill>
              <a:latin typeface="Menlo"/>
              <a:ea typeface="Menlo"/>
              <a:cs typeface="Menlo"/>
            </a:endParaRPr>
          </a:p>
          <a:p>
            <a:pPr>
              <a:defRPr sz="217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endParaRPr lang="en-GB" sz="1800" dirty="0">
              <a:solidFill>
                <a:schemeClr val="tx1"/>
              </a:solidFill>
            </a:endParaRPr>
          </a:p>
          <a:p>
            <a:pPr>
              <a:defRPr sz="217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lang="en-GB" sz="1800" dirty="0" err="1">
                <a:solidFill>
                  <a:schemeClr val="tx1"/>
                </a:solidFill>
              </a:rPr>
              <a:t>data.duplicated</a:t>
            </a:r>
            <a:r>
              <a:rPr lang="en-GB" sz="1800" dirty="0">
                <a:solidFill>
                  <a:schemeClr val="tx1"/>
                </a:solidFill>
              </a:rPr>
              <a:t>(subset=None, keep='first’)</a:t>
            </a:r>
          </a:p>
          <a:p>
            <a:pPr rtl="0">
              <a:defRPr sz="217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lang="en-GB" sz="1800" dirty="0" err="1">
                <a:solidFill>
                  <a:schemeClr val="tx1"/>
                </a:solidFill>
              </a:rPr>
              <a:t>data.duplicated</a:t>
            </a:r>
            <a:r>
              <a:rPr lang="en-GB" sz="1800" dirty="0">
                <a:solidFill>
                  <a:schemeClr val="tx1"/>
                </a:solidFill>
              </a:rPr>
              <a:t>(subset=['label’, 'Depth CSF-A (m)’]).sum()</a:t>
            </a:r>
          </a:p>
          <a:p>
            <a:pPr rtl="0">
              <a:defRPr sz="217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endParaRPr lang="en-GB" sz="1800" dirty="0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65ECD2-5810-5EDB-8138-D40F7E61F1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8713" y="3651761"/>
            <a:ext cx="6475207" cy="2543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0090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2D776-D05C-7BCD-6D42-4F3C1F026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C6A2F78-F38F-7B40-1352-9810EF671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none" lIns="0" tIns="0" rIns="0" bIns="0">
            <a:noAutofit/>
          </a:bodyPr>
          <a:lstStyle>
            <a:def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  <a:lvl1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1pPr>
            <a:lvl2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2pPr>
            <a:lvl3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3pPr>
            <a:lvl4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4pPr>
            <a:lvl5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5pPr>
            <a:lvl6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6pPr>
            <a:lvl7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7pPr>
            <a:lvl8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8pPr>
            <a:lvl9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2640" b="1">
                <a:solidFill>
                  <a:srgbClr val="0000FF"/>
                </a:solidFill>
                <a:latin typeface="Arial"/>
                <a:ea typeface="Arial"/>
                <a:cs typeface="Arial"/>
              </a:rPr>
              <a:t>Missing, invalid or unusual?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CAF289E-F4CC-1FC9-586C-34C1D65F2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800" y="1285702"/>
            <a:ext cx="11540763" cy="412665"/>
          </a:xfrm>
        </p:spPr>
        <p:txBody>
          <a:bodyPr/>
          <a:lstStyle/>
          <a:p>
            <a:pPr rtl="0"/>
            <a:r>
              <a:rPr lang="en-GB" dirty="0"/>
              <a:t>Check whether measurements fall within physically meaningful ranges.</a:t>
            </a:r>
            <a:r>
              <a:rPr lang="en-US" dirty="0"/>
              <a:t> For example:</a:t>
            </a:r>
          </a:p>
          <a:p>
            <a:pPr marL="0" indent="0" algn="l" defTabSz="685765" rtl="0">
              <a:lnSpc>
                <a:spcPct val="105000"/>
              </a:lnSpc>
              <a:spcBef>
                <a:spcPts val="0"/>
              </a:spcBef>
              <a:buFont typeface="Arial"/>
              <a:buNone/>
            </a:pPr>
            <a:endParaRPr lang="en-US" dirty="0"/>
          </a:p>
        </p:txBody>
      </p:sp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6F81077B-3EB4-9B70-97D1-DE132F9D3EF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GB"/>
              <a:t>29/10/2026</a:t>
            </a:r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337F7106-455E-8627-9017-BFA31EF531B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Data Science and Machine Learning for Geoscientists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9CE5F9C6-6834-4302-0A40-BB5DE83A5AF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B7BEEEC-A170-5376-2B6E-CB54687B0CB1}" type="slidenum">
              <a:rPr/>
              <a:t>16</a:t>
            </a:fld>
            <a:endParaRPr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DAB272B5-7457-5515-15CC-AFFD7B96E0A7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 wrap="none" lIns="0" tIns="0" rIns="0" bIns="0">
            <a:noAutofit/>
          </a:bodyPr>
          <a:lstStyle>
            <a:defPPr>
              <a:defRPr sz="2400">
                <a:solidFill>
                  <a:srgbClr val="8064FF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  <a:lvl2pPr marL="342882" indent="0" algn="ctr">
              <a:buNone/>
              <a:defRPr sz="15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2pPr>
            <a:lvl3pPr marL="685765" indent="0" algn="ctr">
              <a:buNone/>
              <a:defRPr sz="135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3pPr>
            <a:lvl4pPr marL="1028647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4pPr>
            <a:lvl5pPr marL="1371530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5pPr>
            <a:lvl6pPr marL="1714412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6pPr>
            <a:lvl7pPr marL="2057295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7pPr>
            <a:lvl8pPr marL="2400177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8pPr>
            <a:lvl9pPr marL="2743060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>
                <a:solidFill>
                  <a:srgbClr val="8064FF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8064FF"/>
                </a:solidFill>
                <a:latin typeface="Arial"/>
                <a:ea typeface="Arial"/>
                <a:cs typeface="Arial"/>
              </a:rPr>
              <a:t>Different cases require different decisions</a:t>
            </a:r>
            <a:endParaRPr/>
          </a:p>
        </p:txBody>
      </p:sp>
      <p:sp>
        <p:nvSpPr>
          <p:cNvPr id="6" name="content-5">
            <a:extLst>
              <a:ext uri="{FF2B5EF4-FFF2-40B4-BE49-F238E27FC236}">
                <a16:creationId xmlns:a16="http://schemas.microsoft.com/office/drawing/2014/main" id="{8BA33FA9-E4D7-8443-5AE3-665B23BAB803}"/>
              </a:ext>
            </a:extLst>
          </p:cNvPr>
          <p:cNvSpPr>
            <a:spLocks noGrp="1"/>
          </p:cNvSpPr>
          <p:nvPr/>
        </p:nvSpPr>
        <p:spPr>
          <a:xfrm>
            <a:off x="476250" y="6010275"/>
            <a:ext cx="11144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E87"/>
                </a:solidFill>
                <a:latin typeface="Arial"/>
                <a:ea typeface="Arial"/>
                <a:cs typeface="Arial"/>
                <a:hlinkClick r:id="rId3"/>
              </a:rPr>
              <a:t>McKinney, 3rd ed., §§7.1–7.2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BCFE4A8-5779-D25F-87C8-C16083F65B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49017756"/>
              </p:ext>
            </p:extLst>
          </p:nvPr>
        </p:nvGraphicFramePr>
        <p:xfrm>
          <a:off x="476250" y="1785769"/>
          <a:ext cx="11239500" cy="3985155"/>
        </p:xfrm>
        <a:graphic>
          <a:graphicData uri="http://schemas.openxmlformats.org/drawingml/2006/table">
            <a:tbl>
              <a:tblPr/>
              <a:tblGrid>
                <a:gridCol w="438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7272"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  <a:t>Observation</a:t>
                      </a: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>
                      <a:solidFill>
                        <a:srgbClr val="D6E1E6"/>
                      </a:solidFill>
                      <a:prstDash val="soli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1231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  <a:t>What to do first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>
                      <a:solidFill>
                        <a:srgbClr val="D6E1E6"/>
                      </a:solidFill>
                      <a:prstDash val="soli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1231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18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Porosity = −10.2 vol%</a:t>
                      </a: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sz="18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Check the record against physical limits</a:t>
                      </a:r>
                      <a:endParaRPr lang="nb-NO" sz="1800" b="0" dirty="0">
                        <a:solidFill>
                          <a:schemeClr val="bg2">
                            <a:lumMod val="25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5750" marR="0" lvl="0" indent="-285750" algn="l" defTabSz="685765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8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Negative porosity is physically invalid. 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18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NGR = −9999 cps</a:t>
                      </a: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sz="18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Check whether this is a missing-value code</a:t>
                      </a:r>
                      <a:endParaRPr lang="nb-NO" sz="1800" b="0" dirty="0">
                        <a:solidFill>
                          <a:schemeClr val="bg2">
                            <a:lumMod val="25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GB" sz="18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Metadata should confirm this in a real project. </a:t>
                      </a:r>
                      <a:endParaRPr sz="1800" b="0" dirty="0">
                        <a:solidFill>
                          <a:schemeClr val="bg2">
                            <a:lumMod val="25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1863"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Reflectance a* &lt; 0</a:t>
                      </a: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sz="18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Check the meaning and valid range of this variable</a:t>
                      </a:r>
                      <a:endParaRPr lang="nb-NO" sz="1800" b="0" dirty="0">
                        <a:solidFill>
                          <a:schemeClr val="bg2">
                            <a:lumMod val="25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GB" sz="18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Negative a* and b* values can be legitimate </a:t>
                      </a:r>
                      <a:endParaRPr sz="1800" b="0" dirty="0">
                        <a:solidFill>
                          <a:schemeClr val="bg2">
                            <a:lumMod val="25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7272"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An unusually high, plausible value</a:t>
                      </a: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sz="18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Inspect context before deciding to remove it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87785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C4F36668-9440-2FC4-1A20-CEA2160E1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none" lIns="0" tIns="0" rIns="0" bIns="0">
            <a:noAutofit/>
          </a:bodyPr>
          <a:lstStyle>
            <a:def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  <a:lvl1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1pPr>
            <a:lvl2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2pPr>
            <a:lvl3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3pPr>
            <a:lvl4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4pPr>
            <a:lvl5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5pPr>
            <a:lvl6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6pPr>
            <a:lvl7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7pPr>
            <a:lvl8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8pPr>
            <a:lvl9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lang="nb-NO" dirty="0"/>
              <a:t>C</a:t>
            </a:r>
            <a:r>
              <a:rPr sz="2640" b="1" dirty="0">
                <a:solidFill>
                  <a:srgbClr val="0000FF"/>
                </a:solidFill>
                <a:latin typeface="Arial"/>
                <a:ea typeface="Arial"/>
                <a:cs typeface="Arial"/>
              </a:rPr>
              <a:t>leaning </a:t>
            </a:r>
            <a:r>
              <a:rPr lang="nb-NO" dirty="0"/>
              <a:t>data</a:t>
            </a:r>
            <a:endParaRPr sz="2640" b="1" dirty="0">
              <a:solidFill>
                <a:srgbClr val="0000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ECF52A2-E1AE-6652-8FE2-593EA99D5F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800" y="4260102"/>
            <a:ext cx="11540763" cy="1398420"/>
          </a:xfrm>
        </p:spPr>
        <p:txBody>
          <a:bodyPr/>
          <a:lstStyle/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GB" dirty="0"/>
              <a:t>It removes the single negative porosity row 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GB" dirty="0"/>
              <a:t>We treat NGR -9999 as missing values and replaces them with </a:t>
            </a:r>
            <a:r>
              <a:rPr lang="en-GB" dirty="0" err="1"/>
              <a:t>NaN</a:t>
            </a:r>
            <a:r>
              <a:rPr lang="en-GB" dirty="0"/>
              <a:t>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GB" dirty="0"/>
              <a:t>We apply these fixed cleaning rules before splitting the data into training and test sets.</a:t>
            </a:r>
          </a:p>
          <a:p>
            <a:pPr rtl="0"/>
            <a:r>
              <a:rPr lang="en-GB" dirty="0"/>
              <a:t> </a:t>
            </a:r>
            <a:endParaRPr lang="en-US" dirty="0"/>
          </a:p>
        </p:txBody>
      </p:sp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BAA156BD-F388-30EA-2720-04061953B80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GB"/>
              <a:t>29/10/2026</a:t>
            </a:r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3FDBFEE-0509-16B7-5DAE-5E0DB02DD78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Data Science and Machine Learning for Geoscientists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7EAB126A-2C1E-4241-BBEB-C3AA6FE622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0394428-F1DC-E5F6-DB0C-7DE31F3D8A23}" type="slidenum">
              <a:rPr/>
              <a:t>17</a:t>
            </a:fld>
            <a:endParaRPr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42358139-EACE-E729-C3E3-AD890A6D0F80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 wrap="none" lIns="0" tIns="0" rIns="0" bIns="0">
            <a:noAutofit/>
          </a:bodyPr>
          <a:lstStyle>
            <a:defPPr>
              <a:defRPr sz="2400">
                <a:solidFill>
                  <a:srgbClr val="8064FF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  <a:lvl2pPr marL="342882" indent="0" algn="ctr">
              <a:buNone/>
              <a:defRPr sz="15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2pPr>
            <a:lvl3pPr marL="685765" indent="0" algn="ctr">
              <a:buNone/>
              <a:defRPr sz="135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3pPr>
            <a:lvl4pPr marL="1028647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4pPr>
            <a:lvl5pPr marL="1371530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5pPr>
            <a:lvl6pPr marL="1714412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6pPr>
            <a:lvl7pPr marL="2057295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7pPr>
            <a:lvl8pPr marL="2400177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8pPr>
            <a:lvl9pPr marL="2743060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>
                <a:solidFill>
                  <a:srgbClr val="8064FF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8064FF"/>
                </a:solidFill>
                <a:latin typeface="Arial"/>
                <a:ea typeface="Arial"/>
                <a:cs typeface="Arial"/>
              </a:rPr>
              <a:t>Make invalid-value decisions explicit</a:t>
            </a:r>
            <a:endParaRPr/>
          </a:p>
        </p:txBody>
      </p:sp>
      <p:sp>
        <p:nvSpPr>
          <p:cNvPr id="6" name="content-5">
            <a:extLst>
              <a:ext uri="{FF2B5EF4-FFF2-40B4-BE49-F238E27FC236}">
                <a16:creationId xmlns:a16="http://schemas.microsoft.com/office/drawing/2014/main" id="{646CF3B7-AA54-422F-A567-B896227B5465}"/>
              </a:ext>
            </a:extLst>
          </p:cNvPr>
          <p:cNvSpPr>
            <a:spLocks noGrp="1"/>
          </p:cNvSpPr>
          <p:nvPr/>
        </p:nvSpPr>
        <p:spPr>
          <a:xfrm>
            <a:off x="476250" y="6010275"/>
            <a:ext cx="11144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007E87"/>
                </a:solidFill>
                <a:latin typeface="Arial"/>
                <a:ea typeface="Arial"/>
                <a:cs typeface="Arial"/>
                <a:hlinkClick r:id="rId3"/>
              </a:rPr>
              <a:t>McKinney,7.1–7.2</a:t>
            </a:r>
          </a:p>
        </p:txBody>
      </p:sp>
      <p:sp>
        <p:nvSpPr>
          <p:cNvPr id="7" name="content-6">
            <a:extLst>
              <a:ext uri="{FF2B5EF4-FFF2-40B4-BE49-F238E27FC236}">
                <a16:creationId xmlns:a16="http://schemas.microsoft.com/office/drawing/2014/main" id="{0CBA5AC2-0655-43A8-A83B-D66D8C01D7C7}"/>
              </a:ext>
            </a:extLst>
          </p:cNvPr>
          <p:cNvSpPr>
            <a:spLocks noGrp="1"/>
          </p:cNvSpPr>
          <p:nvPr/>
        </p:nvSpPr>
        <p:spPr>
          <a:xfrm>
            <a:off x="476250" y="1714500"/>
            <a:ext cx="11239500" cy="2428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95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defPPr>
            <a:lvl1pPr>
              <a:defRPr sz="195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lvl1pPr>
            <a:lvl2pPr>
              <a:defRPr sz="195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lvl2pPr>
            <a:lvl3pPr>
              <a:defRPr sz="195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lvl3pPr>
            <a:lvl4pPr>
              <a:defRPr sz="195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lvl4pPr>
            <a:lvl5pPr>
              <a:defRPr sz="195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lvl5pPr>
            <a:lvl6pPr>
              <a:defRPr sz="195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lvl6pPr>
            <a:lvl7pPr>
              <a:defRPr sz="195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lvl7pPr>
            <a:lvl8pPr>
              <a:defRPr sz="195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lvl8pPr>
            <a:lvl9pPr>
              <a:defRPr sz="195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lvl9pPr>
          </a:lstStyle>
          <a:p>
            <a:pPr>
              <a:defRPr sz="195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sz="2000" b="0" dirty="0">
                <a:solidFill>
                  <a:srgbClr val="12314A"/>
                </a:solidFill>
                <a:latin typeface="Menlo"/>
                <a:ea typeface="Menlo"/>
                <a:cs typeface="Menlo"/>
              </a:rPr>
              <a:t>clean = </a:t>
            </a:r>
            <a:r>
              <a:rPr sz="2000" b="0" dirty="0" err="1">
                <a:solidFill>
                  <a:srgbClr val="12314A"/>
                </a:solidFill>
                <a:latin typeface="Menlo"/>
                <a:ea typeface="Menlo"/>
                <a:cs typeface="Menlo"/>
              </a:rPr>
              <a:t>data.loc</a:t>
            </a:r>
            <a:r>
              <a:rPr sz="2000" b="0" dirty="0">
                <a:solidFill>
                  <a:srgbClr val="12314A"/>
                </a:solidFill>
                <a:latin typeface="Menlo"/>
                <a:ea typeface="Menlo"/>
                <a:cs typeface="Menlo"/>
              </a:rPr>
              <a:t>[data["Porosity (vol%)"] &gt;= 0].copy()</a:t>
            </a:r>
          </a:p>
          <a:p>
            <a:endParaRPr sz="2000" b="0" dirty="0">
              <a:solidFill>
                <a:srgbClr val="12314A"/>
              </a:solidFill>
              <a:latin typeface="Menlo"/>
              <a:ea typeface="Menlo"/>
              <a:cs typeface="Menlo"/>
            </a:endParaRPr>
          </a:p>
          <a:p>
            <a:pPr>
              <a:defRPr sz="195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sz="2000" b="0" dirty="0">
                <a:solidFill>
                  <a:srgbClr val="12314A"/>
                </a:solidFill>
                <a:latin typeface="Menlo"/>
                <a:ea typeface="Menlo"/>
                <a:cs typeface="Menlo"/>
              </a:rPr>
              <a:t>clean["NGR total counts (cps)"] = (</a:t>
            </a:r>
          </a:p>
          <a:p>
            <a:pPr>
              <a:defRPr sz="195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sz="2000" b="0" dirty="0">
                <a:solidFill>
                  <a:srgbClr val="12314A"/>
                </a:solidFill>
                <a:latin typeface="Menlo"/>
                <a:ea typeface="Menlo"/>
                <a:cs typeface="Menlo"/>
              </a:rPr>
              <a:t>    clean["NGR total counts (cps)"].replace(-9999, </a:t>
            </a:r>
            <a:r>
              <a:rPr sz="2000" b="0" dirty="0" err="1">
                <a:solidFill>
                  <a:srgbClr val="12314A"/>
                </a:solidFill>
                <a:latin typeface="Menlo"/>
                <a:ea typeface="Menlo"/>
                <a:cs typeface="Menlo"/>
              </a:rPr>
              <a:t>np.nan</a:t>
            </a:r>
            <a:r>
              <a:rPr sz="2000" b="0" dirty="0">
                <a:solidFill>
                  <a:srgbClr val="12314A"/>
                </a:solidFill>
                <a:latin typeface="Menlo"/>
                <a:ea typeface="Menlo"/>
                <a:cs typeface="Menlo"/>
              </a:rPr>
              <a:t>)</a:t>
            </a:r>
          </a:p>
          <a:p>
            <a:pPr>
              <a:defRPr sz="195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sz="2000" b="0" dirty="0">
                <a:solidFill>
                  <a:srgbClr val="12314A"/>
                </a:solidFill>
                <a:latin typeface="Menlo"/>
                <a:ea typeface="Menlo"/>
                <a:cs typeface="Menl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119159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F9FC835-EF90-32CD-C784-7319F06D4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Preparing data for prediction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916E5-C732-6AAD-E3EF-E74A6DA52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We have removed duplicate records and handled invalid values. Some measurements are still missing.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Our goal is to predict </a:t>
            </a:r>
            <a:r>
              <a:rPr lang="en-GB" b="1" dirty="0"/>
              <a:t>marine sediment porosity</a:t>
            </a:r>
            <a:r>
              <a:rPr lang="en-GB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Inputs, X:</a:t>
            </a:r>
            <a:r>
              <a:rPr lang="en-GB" dirty="0"/>
              <a:t> natural gamma-ray and reflectance measurements.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Target, y:</a:t>
            </a:r>
            <a:r>
              <a:rPr lang="en-GB" dirty="0"/>
              <a:t> measured porosity.</a:t>
            </a:r>
          </a:p>
          <a:p>
            <a:endParaRPr lang="en-GB" dirty="0"/>
          </a:p>
          <a:p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To assess predictions fairly, we must keep some observations separate from those used for learning.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Before calculating </a:t>
            </a:r>
            <a:r>
              <a:rPr lang="en-GB" dirty="0"/>
              <a:t>replacement values for </a:t>
            </a:r>
            <a:r>
              <a:rPr lang="en-GB" b="1" dirty="0"/>
              <a:t>missing data, </a:t>
            </a:r>
            <a:r>
              <a:rPr lang="en-GB" dirty="0"/>
              <a:t>we split the data. We then learn those values from the training set only.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AB569-8B64-FA5F-6679-47D1EEBC3D0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GB"/>
              <a:t>29/10/2026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6A7CE2-5797-7566-3387-F28F1A6D416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GB"/>
              <a:t>Data Science and Machine Learning for Geoscientists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20E47-649E-5B76-43E2-7A2B287C49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18</a:t>
            </a:fld>
            <a:endParaRPr lang="en-GB"/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84767EDF-E15B-19D3-620E-3EC394BA2410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pPr rtl="0"/>
            <a:r>
              <a:rPr lang="en-GB" dirty="0"/>
              <a:t>Why do we split before filling the gaps?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56047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C4F36668-9440-2FC4-1A20-CEA2160E1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none" lIns="0" tIns="0" rIns="0" bIns="0">
            <a:noAutofit/>
          </a:bodyPr>
          <a:lstStyle>
            <a:def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  <a:lvl1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1pPr>
            <a:lvl2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2pPr>
            <a:lvl3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3pPr>
            <a:lvl4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4pPr>
            <a:lvl5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5pPr>
            <a:lvl6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6pPr>
            <a:lvl7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7pPr>
            <a:lvl8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8pPr>
            <a:lvl9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2640" b="1">
                <a:solidFill>
                  <a:srgbClr val="0000FF"/>
                </a:solidFill>
                <a:latin typeface="Arial"/>
                <a:ea typeface="Arial"/>
                <a:cs typeface="Arial"/>
              </a:rPr>
              <a:t>Training, validation and test sets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42358139-EACE-E729-C3E3-AD890A6D0F80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 wrap="none" lIns="0" tIns="0" rIns="0" bIns="0">
            <a:noAutofit/>
          </a:bodyPr>
          <a:lstStyle>
            <a:defPPr>
              <a:defRPr sz="2400">
                <a:solidFill>
                  <a:srgbClr val="8064FF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  <a:lvl2pPr marL="342882" indent="0" algn="ctr">
              <a:buNone/>
              <a:defRPr sz="15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2pPr>
            <a:lvl3pPr marL="685765" indent="0" algn="ctr">
              <a:buNone/>
              <a:defRPr sz="135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3pPr>
            <a:lvl4pPr marL="1028647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4pPr>
            <a:lvl5pPr marL="1371530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5pPr>
            <a:lvl6pPr marL="1714412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6pPr>
            <a:lvl7pPr marL="2057295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7pPr>
            <a:lvl8pPr marL="2400177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8pPr>
            <a:lvl9pPr marL="2743060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>
                <a:solidFill>
                  <a:srgbClr val="8064FF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8064FF"/>
                </a:solidFill>
                <a:latin typeface="Arial"/>
                <a:ea typeface="Arial"/>
                <a:cs typeface="Arial"/>
              </a:rPr>
              <a:t>Separate fitting, model selection and final evaluation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7EAB126A-2C1E-4241-BBEB-C3AA6FE622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1C6C81E-38B9-7560-621D-5A151A79DF9B}" type="slidenum">
              <a:rPr/>
              <a:t>19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FDBFEE-0509-16B7-5DAE-5E0DB02DD78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Data Science and Machine Learning for Geoscientists</a:t>
            </a:r>
          </a:p>
        </p:txBody>
      </p:sp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BAA156BD-F388-30EA-2720-04061953B80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t>29/10/2026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0019008-9F65-47C5-B5FC-66CAE9AF140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0189679"/>
              </p:ext>
            </p:extLst>
          </p:nvPr>
        </p:nvGraphicFramePr>
        <p:xfrm>
          <a:off x="476250" y="1488912"/>
          <a:ext cx="11239500" cy="3453204"/>
        </p:xfrm>
        <a:graphic>
          <a:graphicData uri="http://schemas.openxmlformats.org/drawingml/2006/table">
            <a:tbl>
              <a:tblPr/>
              <a:tblGrid>
                <a:gridCol w="3667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72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3301"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  <a:t>Subset</a:t>
                      </a: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>
                      <a:solidFill>
                        <a:srgbClr val="D6E1E6"/>
                      </a:solidFill>
                      <a:prstDash val="soli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1231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  <a:t>Purpose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>
                      <a:solidFill>
                        <a:srgbClr val="D6E1E6"/>
                      </a:solidFill>
                      <a:prstDash val="soli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1231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330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Training</a:t>
                      </a: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685765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8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What relationships can the model learn?</a:t>
                      </a:r>
                      <a:endParaRPr lang="nb-NO" sz="1800" b="0" dirty="0">
                        <a:solidFill>
                          <a:schemeClr val="bg2">
                            <a:lumMod val="25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sz="18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Fit preprocessing parameters and model parameters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330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Validation / development</a:t>
                      </a: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685765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8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Which model or settings should we choose?</a:t>
                      </a:r>
                      <a:endParaRPr lang="nb-NO" sz="1800" b="0" dirty="0">
                        <a:solidFill>
                          <a:schemeClr val="bg2">
                            <a:lumMod val="25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sz="18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Compare alternatives and select the workflow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3301"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Test</a:t>
                      </a: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685765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8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How well does our model predict unseen observations?</a:t>
                      </a:r>
                      <a:endParaRPr lang="nb-NO" sz="1800" b="0" dirty="0">
                        <a:solidFill>
                          <a:schemeClr val="bg2">
                            <a:lumMod val="25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sz="18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Estimate performance after fixing the workflow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80B86A9-390F-0577-5E4B-F2C9D9912E10}"/>
              </a:ext>
            </a:extLst>
          </p:cNvPr>
          <p:cNvSpPr txBox="1"/>
          <p:nvPr/>
        </p:nvSpPr>
        <p:spPr>
          <a:xfrm>
            <a:off x="567160" y="5591473"/>
            <a:ext cx="104750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Today we demonstrate training and test sets; validation becomes important when we compare models or settings.</a:t>
            </a:r>
          </a:p>
        </p:txBody>
      </p:sp>
    </p:spTree>
    <p:extLst>
      <p:ext uri="{BB962C8B-B14F-4D97-AF65-F5344CB8AC3E}">
        <p14:creationId xmlns:p14="http://schemas.microsoft.com/office/powerpoint/2010/main" val="13344814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997AA-ECD2-FBAA-AF04-4E63CD668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defTabSz="685765" rtl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Data leakage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63139-3023-EAEB-B346-19F15A3F0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/>
            <a:r>
              <a:rPr lang="en-GB" dirty="0"/>
              <a:t>Data leakage happens when information that should be unavailable during learning influences the model or its preparation. This can make performance appear better than it will be on new data.</a:t>
            </a:r>
          </a:p>
          <a:p>
            <a:pPr rtl="0"/>
            <a:endParaRPr lang="en-GB" dirty="0"/>
          </a:p>
          <a:p>
            <a:pPr rtl="0"/>
            <a:endParaRPr lang="en-GB" dirty="0"/>
          </a:p>
          <a:p>
            <a:pPr rtl="0"/>
            <a:endParaRPr lang="en-GB" dirty="0"/>
          </a:p>
          <a:p>
            <a:pPr rtl="0"/>
            <a:endParaRPr lang="en-GB" dirty="0"/>
          </a:p>
          <a:p>
            <a:pPr rtl="0"/>
            <a:endParaRPr lang="en-GB" dirty="0"/>
          </a:p>
          <a:p>
            <a:pPr rtl="0"/>
            <a:endParaRPr lang="en-GB" dirty="0"/>
          </a:p>
          <a:p>
            <a:pPr rtl="0"/>
            <a:endParaRPr lang="en-GB" dirty="0"/>
          </a:p>
          <a:p>
            <a:pPr rtl="0"/>
            <a:endParaRPr lang="en-GB" dirty="0"/>
          </a:p>
          <a:p>
            <a:pPr marL="342900" indent="-342900" rtl="0">
              <a:buFont typeface="Wingdings" pitchFamily="2" charset="2"/>
              <a:buChar char="Ø"/>
            </a:pPr>
            <a:r>
              <a:rPr lang="en-GB" dirty="0"/>
              <a:t>Can we apply the training mean to fill missing values in the test set?</a:t>
            </a:r>
          </a:p>
          <a:p>
            <a:pPr marL="342900" indent="-342900" rtl="0">
              <a:buFont typeface="Wingdings" pitchFamily="2" charset="2"/>
              <a:buChar char="Ø"/>
            </a:pPr>
            <a:endParaRPr lang="en-GB" dirty="0"/>
          </a:p>
          <a:p>
            <a:pPr marL="342900" indent="-342900" rtl="0">
              <a:buFont typeface="Wingdings" pitchFamily="2" charset="2"/>
              <a:buChar char="ü"/>
            </a:pPr>
            <a:r>
              <a:rPr lang="en-GB" dirty="0">
                <a:solidFill>
                  <a:schemeClr val="accent3"/>
                </a:solidFill>
              </a:rPr>
              <a:t>Fit the imputer on training data</a:t>
            </a:r>
          </a:p>
          <a:p>
            <a:pPr marL="342900" indent="-342900" rtl="0">
              <a:buFont typeface="Wingdings" pitchFamily="2" charset="2"/>
              <a:buChar char="ü"/>
            </a:pPr>
            <a:r>
              <a:rPr lang="en-GB" dirty="0">
                <a:solidFill>
                  <a:schemeClr val="accent3"/>
                </a:solidFill>
              </a:rPr>
              <a:t>Apply those fitted transformations to validation and test set</a:t>
            </a:r>
          </a:p>
          <a:p>
            <a:pPr marL="342900" indent="-342900" rtl="0">
              <a:buFont typeface="Wingdings" pitchFamily="2" charset="2"/>
              <a:buChar char="Ø"/>
            </a:pPr>
            <a:endParaRPr lang="en-GB" dirty="0"/>
          </a:p>
          <a:p>
            <a:pPr marL="342900" indent="-342900" rtl="0">
              <a:buFont typeface="Wingdings" pitchFamily="2" charset="2"/>
              <a:buChar char="Ø"/>
            </a:pPr>
            <a:endParaRPr lang="en-GB" dirty="0"/>
          </a:p>
          <a:p>
            <a:pPr marL="342900" indent="-342900" rtl="0">
              <a:buFont typeface="Wingdings" pitchFamily="2" charset="2"/>
              <a:buChar char="Ø"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437C47-80FE-3F6B-4CD8-BAC12726921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GB"/>
              <a:t>29/10/2026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B01C4-2D38-9304-B451-DF60EB0AD2C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GB"/>
              <a:t>Data Science and Machine Learning for Geoscientists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9F3BE-7350-6285-286B-7A45F7A74BF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20</a:t>
            </a:fld>
            <a:endParaRPr lang="en-GB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2A416043-A4B9-0D58-C8E5-A7FAFDB2E04B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pPr rtl="0"/>
            <a:r>
              <a:rPr lang="en-GB" dirty="0"/>
              <a:t>When evaluation data influence learning</a:t>
            </a:r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C34EE12-3871-946C-7B01-21082B33E9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6958835"/>
              </p:ext>
            </p:extLst>
          </p:nvPr>
        </p:nvGraphicFramePr>
        <p:xfrm>
          <a:off x="433218" y="2227713"/>
          <a:ext cx="11239500" cy="2258224"/>
        </p:xfrm>
        <a:graphic>
          <a:graphicData uri="http://schemas.openxmlformats.org/drawingml/2006/table">
            <a:tbl>
              <a:tblPr/>
              <a:tblGrid>
                <a:gridCol w="56125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269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4556">
                <a:tc>
                  <a:txBody>
                    <a:bodyPr/>
                    <a:lstStyle/>
                    <a:p>
                      <a:r>
                        <a:rPr lang="nb-NO" sz="1800" b="1" dirty="0" err="1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  <a:t>Example</a:t>
                      </a:r>
                      <a:endParaRPr sz="1800" b="1" dirty="0">
                        <a:solidFill>
                          <a:schemeClr val="bg1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>
                      <a:solidFill>
                        <a:srgbClr val="D6E1E6"/>
                      </a:solidFill>
                      <a:prstDash val="solid"/>
                    </a:lnT>
                    <a:lnB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1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1800" b="1" dirty="0" err="1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  <a:t>What</a:t>
                      </a:r>
                      <a:r>
                        <a:rPr lang="nb-NO" sz="1800" b="1" dirty="0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  <a:t> to do</a:t>
                      </a:r>
                      <a:endParaRPr sz="1800" b="1" dirty="0">
                        <a:solidFill>
                          <a:schemeClr val="bg1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>
                      <a:solidFill>
                        <a:srgbClr val="D6E1E6"/>
                      </a:solidFill>
                      <a:prstDash val="solid"/>
                    </a:lnT>
                    <a:lnB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1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45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Calculating a replacement mean from the whole dataset</a:t>
                      </a: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Calculate it using training data only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45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Fitting a scaler before splitting</a:t>
                      </a: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Fit on training data, then transform both sets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45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Repeatedly changing the model based on test results</a:t>
                      </a: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Use validation for those decisions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2444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C4F36668-9440-2FC4-1A20-CEA2160E1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none" lIns="0" tIns="0" rIns="0" bIns="0">
            <a:noAutofit/>
          </a:bodyPr>
          <a:lstStyle>
            <a:def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  <a:lvl1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1pPr>
            <a:lvl2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2pPr>
            <a:lvl3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3pPr>
            <a:lvl4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4pPr>
            <a:lvl5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5pPr>
            <a:lvl6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6pPr>
            <a:lvl7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7pPr>
            <a:lvl8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8pPr>
            <a:lvl9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lang="nb-NO" sz="2640" b="1" dirty="0">
                <a:solidFill>
                  <a:srgbClr val="0000FF"/>
                </a:solidFill>
                <a:latin typeface="Arial"/>
                <a:ea typeface="Arial"/>
                <a:cs typeface="Arial"/>
              </a:rPr>
              <a:t>Train-test </a:t>
            </a:r>
            <a:r>
              <a:rPr sz="2640" b="1" dirty="0">
                <a:solidFill>
                  <a:srgbClr val="0000FF"/>
                </a:solidFill>
                <a:latin typeface="Arial"/>
                <a:ea typeface="Arial"/>
                <a:cs typeface="Arial"/>
              </a:rPr>
              <a:t>split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42358139-EACE-E729-C3E3-AD890A6D0F80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 wrap="none" lIns="0" tIns="0" rIns="0" bIns="0">
            <a:noAutofit/>
          </a:bodyPr>
          <a:lstStyle>
            <a:defPPr>
              <a:defRPr sz="2400">
                <a:solidFill>
                  <a:srgbClr val="8064FF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  <a:lvl2pPr marL="342882" indent="0" algn="ctr">
              <a:buNone/>
              <a:defRPr sz="15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2pPr>
            <a:lvl3pPr marL="685765" indent="0" algn="ctr">
              <a:buNone/>
              <a:defRPr sz="135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3pPr>
            <a:lvl4pPr marL="1028647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4pPr>
            <a:lvl5pPr marL="1371530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5pPr>
            <a:lvl6pPr marL="1714412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6pPr>
            <a:lvl7pPr marL="2057295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7pPr>
            <a:lvl8pPr marL="2400177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8pPr>
            <a:lvl9pPr marL="2743060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l" defTabSz="685765" rtl="0">
              <a:lnSpc>
                <a:spcPct val="90000"/>
              </a:lnSpc>
              <a:spcBef>
                <a:spcPts val="0"/>
              </a:spcBef>
              <a:buFont typeface="Arial"/>
              <a:buNone/>
              <a:defRPr sz="2400">
                <a:solidFill>
                  <a:srgbClr val="8064FF"/>
                </a:solidFill>
                <a:latin typeface="Arial"/>
                <a:ea typeface="Arial"/>
                <a:cs typeface="Arial"/>
              </a:defRPr>
            </a:pPr>
            <a:r>
              <a:rPr lang="en-GB" noProof="1"/>
              <a:t>A reproducible split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3FDBFEE-0509-16B7-5DAE-5E0DB02DD78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Data Science and Machine Learning for Geoscientists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7EAB126A-2C1E-4241-BBEB-C3AA6FE622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DD23107-4986-8758-3A93-3D74F35908CC}" type="slidenum">
              <a:rPr/>
              <a:t>21</a:t>
            </a:fld>
            <a:endParaRPr/>
          </a:p>
        </p:txBody>
      </p:sp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BAA156BD-F388-30EA-2720-04061953B80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GB"/>
              <a:t>29/10/2026</a:t>
            </a:r>
            <a:endParaRPr/>
          </a:p>
        </p:txBody>
      </p:sp>
      <p:sp>
        <p:nvSpPr>
          <p:cNvPr id="6" name="content-5">
            <a:extLst>
              <a:ext uri="{FF2B5EF4-FFF2-40B4-BE49-F238E27FC236}">
                <a16:creationId xmlns:a16="http://schemas.microsoft.com/office/drawing/2014/main" id="{01CDACCE-C126-45B4-B894-7ED203D33A13}"/>
              </a:ext>
            </a:extLst>
          </p:cNvPr>
          <p:cNvSpPr>
            <a:spLocks noGrp="1"/>
          </p:cNvSpPr>
          <p:nvPr/>
        </p:nvSpPr>
        <p:spPr>
          <a:xfrm>
            <a:off x="476250" y="6010275"/>
            <a:ext cx="11144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E87"/>
                </a:solidFill>
                <a:latin typeface="Arial"/>
                <a:ea typeface="Arial"/>
                <a:cs typeface="Arial"/>
                <a:hlinkClick r:id="rId3"/>
              </a:rPr>
              <a:t>scikit-learn: train_test_split</a:t>
            </a:r>
          </a:p>
        </p:txBody>
      </p:sp>
      <p:sp>
        <p:nvSpPr>
          <p:cNvPr id="7" name="content-6">
            <a:extLst>
              <a:ext uri="{FF2B5EF4-FFF2-40B4-BE49-F238E27FC236}">
                <a16:creationId xmlns:a16="http://schemas.microsoft.com/office/drawing/2014/main" id="{8E397E0F-68FD-4775-8115-2CD2D8DDACB5}"/>
              </a:ext>
            </a:extLst>
          </p:cNvPr>
          <p:cNvSpPr>
            <a:spLocks noGrp="1"/>
          </p:cNvSpPr>
          <p:nvPr/>
        </p:nvSpPr>
        <p:spPr>
          <a:xfrm>
            <a:off x="476250" y="1638300"/>
            <a:ext cx="11239500" cy="3190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7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defPPr>
            <a:lvl1pPr>
              <a:defRPr sz="187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lvl1pPr>
            <a:lvl2pPr>
              <a:defRPr sz="187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lvl2pPr>
            <a:lvl3pPr>
              <a:defRPr sz="187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lvl3pPr>
            <a:lvl4pPr>
              <a:defRPr sz="187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lvl4pPr>
            <a:lvl5pPr>
              <a:defRPr sz="187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lvl5pPr>
            <a:lvl6pPr>
              <a:defRPr sz="187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lvl6pPr>
            <a:lvl7pPr>
              <a:defRPr sz="187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lvl7pPr>
            <a:lvl8pPr>
              <a:defRPr sz="187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lvl8pPr>
            <a:lvl9pPr>
              <a:defRPr sz="187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lvl9pPr>
          </a:lstStyle>
          <a:p>
            <a:pPr>
              <a:defRPr sz="187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sz="1875" b="0" dirty="0">
                <a:solidFill>
                  <a:srgbClr val="12314A"/>
                </a:solidFill>
                <a:latin typeface="Menlo"/>
                <a:ea typeface="Menlo"/>
                <a:cs typeface="Menlo"/>
              </a:rPr>
              <a:t>from </a:t>
            </a:r>
            <a:r>
              <a:rPr sz="1875" b="0" dirty="0" err="1">
                <a:solidFill>
                  <a:srgbClr val="12314A"/>
                </a:solidFill>
                <a:latin typeface="Menlo"/>
                <a:ea typeface="Menlo"/>
                <a:cs typeface="Menlo"/>
              </a:rPr>
              <a:t>sklearn.model_selection</a:t>
            </a:r>
            <a:r>
              <a:rPr sz="1875" b="0" dirty="0">
                <a:solidFill>
                  <a:srgbClr val="12314A"/>
                </a:solidFill>
                <a:latin typeface="Menlo"/>
                <a:ea typeface="Menlo"/>
                <a:cs typeface="Menlo"/>
              </a:rPr>
              <a:t> import </a:t>
            </a:r>
            <a:r>
              <a:rPr sz="1875" b="0" dirty="0" err="1">
                <a:solidFill>
                  <a:srgbClr val="12314A"/>
                </a:solidFill>
                <a:latin typeface="Menlo"/>
                <a:ea typeface="Menlo"/>
                <a:cs typeface="Menlo"/>
              </a:rPr>
              <a:t>train_test_split</a:t>
            </a:r>
            <a:endParaRPr sz="1875" b="0" dirty="0">
              <a:solidFill>
                <a:srgbClr val="12314A"/>
              </a:solidFill>
              <a:latin typeface="Menlo"/>
              <a:ea typeface="Menlo"/>
              <a:cs typeface="Menlo"/>
            </a:endParaRPr>
          </a:p>
          <a:p>
            <a:endParaRPr sz="1875" b="0" dirty="0">
              <a:solidFill>
                <a:srgbClr val="12314A"/>
              </a:solidFill>
              <a:latin typeface="Menlo"/>
              <a:ea typeface="Menlo"/>
              <a:cs typeface="Menlo"/>
            </a:endParaRPr>
          </a:p>
          <a:p>
            <a:pPr>
              <a:defRPr sz="187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sz="1875" b="0" dirty="0" err="1">
                <a:solidFill>
                  <a:srgbClr val="12314A"/>
                </a:solidFill>
                <a:latin typeface="Menlo"/>
                <a:ea typeface="Menlo"/>
                <a:cs typeface="Menlo"/>
              </a:rPr>
              <a:t>train_set</a:t>
            </a:r>
            <a:r>
              <a:rPr sz="1875" b="0" dirty="0">
                <a:solidFill>
                  <a:srgbClr val="12314A"/>
                </a:solidFill>
                <a:latin typeface="Menlo"/>
                <a:ea typeface="Menlo"/>
                <a:cs typeface="Menlo"/>
              </a:rPr>
              <a:t>, </a:t>
            </a:r>
            <a:r>
              <a:rPr sz="1875" b="0" dirty="0" err="1">
                <a:solidFill>
                  <a:srgbClr val="12314A"/>
                </a:solidFill>
                <a:latin typeface="Menlo"/>
                <a:ea typeface="Menlo"/>
                <a:cs typeface="Menlo"/>
              </a:rPr>
              <a:t>test_set</a:t>
            </a:r>
            <a:r>
              <a:rPr sz="1875" b="0" dirty="0">
                <a:solidFill>
                  <a:srgbClr val="12314A"/>
                </a:solidFill>
                <a:latin typeface="Menlo"/>
                <a:ea typeface="Menlo"/>
                <a:cs typeface="Menlo"/>
              </a:rPr>
              <a:t> = </a:t>
            </a:r>
            <a:r>
              <a:rPr sz="1875" b="0" dirty="0" err="1">
                <a:solidFill>
                  <a:srgbClr val="12314A"/>
                </a:solidFill>
                <a:latin typeface="Menlo"/>
                <a:ea typeface="Menlo"/>
                <a:cs typeface="Menlo"/>
              </a:rPr>
              <a:t>train_test_split</a:t>
            </a:r>
            <a:r>
              <a:rPr sz="1875" b="0" dirty="0">
                <a:solidFill>
                  <a:srgbClr val="12314A"/>
                </a:solidFill>
                <a:latin typeface="Menlo"/>
                <a:ea typeface="Menlo"/>
                <a:cs typeface="Menlo"/>
              </a:rPr>
              <a:t>(</a:t>
            </a:r>
          </a:p>
          <a:p>
            <a:pPr>
              <a:defRPr sz="187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sz="1875" b="0" dirty="0">
                <a:solidFill>
                  <a:srgbClr val="12314A"/>
                </a:solidFill>
                <a:latin typeface="Menlo"/>
                <a:ea typeface="Menlo"/>
                <a:cs typeface="Menlo"/>
              </a:rPr>
              <a:t>    clean, </a:t>
            </a:r>
            <a:r>
              <a:rPr sz="1875" b="0" dirty="0" err="1">
                <a:solidFill>
                  <a:srgbClr val="12314A"/>
                </a:solidFill>
                <a:latin typeface="Menlo"/>
                <a:ea typeface="Menlo"/>
                <a:cs typeface="Menlo"/>
              </a:rPr>
              <a:t>train_size</a:t>
            </a:r>
            <a:r>
              <a:rPr sz="1875" b="0" dirty="0">
                <a:solidFill>
                  <a:srgbClr val="12314A"/>
                </a:solidFill>
                <a:latin typeface="Menlo"/>
                <a:ea typeface="Menlo"/>
                <a:cs typeface="Menlo"/>
              </a:rPr>
              <a:t>=0.7, </a:t>
            </a:r>
            <a:r>
              <a:rPr sz="1875" b="0" dirty="0" err="1">
                <a:solidFill>
                  <a:srgbClr val="12314A"/>
                </a:solidFill>
                <a:latin typeface="Menlo"/>
                <a:ea typeface="Menlo"/>
                <a:cs typeface="Menlo"/>
              </a:rPr>
              <a:t>random_state</a:t>
            </a:r>
            <a:r>
              <a:rPr sz="1875" b="0" dirty="0">
                <a:solidFill>
                  <a:srgbClr val="12314A"/>
                </a:solidFill>
                <a:latin typeface="Menlo"/>
                <a:ea typeface="Menlo"/>
                <a:cs typeface="Menlo"/>
              </a:rPr>
              <a:t>=30</a:t>
            </a:r>
          </a:p>
          <a:p>
            <a:pPr>
              <a:defRPr sz="187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sz="1875" b="0" dirty="0">
                <a:solidFill>
                  <a:srgbClr val="12314A"/>
                </a:solidFill>
                <a:latin typeface="Menlo"/>
                <a:ea typeface="Menlo"/>
                <a:cs typeface="Menlo"/>
              </a:rPr>
              <a:t>)</a:t>
            </a:r>
          </a:p>
          <a:p>
            <a:pPr>
              <a:defRPr sz="187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sz="1875" b="0" dirty="0" err="1">
                <a:solidFill>
                  <a:srgbClr val="12314A"/>
                </a:solidFill>
                <a:latin typeface="Menlo"/>
                <a:ea typeface="Menlo"/>
                <a:cs typeface="Menlo"/>
              </a:rPr>
              <a:t>num_cols</a:t>
            </a:r>
            <a:r>
              <a:rPr sz="1875" b="0" dirty="0">
                <a:solidFill>
                  <a:srgbClr val="12314A"/>
                </a:solidFill>
                <a:latin typeface="Menlo"/>
                <a:ea typeface="Menlo"/>
                <a:cs typeface="Menlo"/>
              </a:rPr>
              <a:t> = </a:t>
            </a:r>
            <a:r>
              <a:rPr sz="1875" b="0" dirty="0" err="1">
                <a:solidFill>
                  <a:srgbClr val="12314A"/>
                </a:solidFill>
                <a:latin typeface="Menlo"/>
                <a:ea typeface="Menlo"/>
                <a:cs typeface="Menlo"/>
              </a:rPr>
              <a:t>train_set.select_dtypes</a:t>
            </a:r>
            <a:r>
              <a:rPr sz="1875" b="0" dirty="0">
                <a:solidFill>
                  <a:srgbClr val="12314A"/>
                </a:solidFill>
                <a:latin typeface="Menlo"/>
                <a:ea typeface="Menlo"/>
                <a:cs typeface="Menlo"/>
              </a:rPr>
              <a:t>(include="number").columns</a:t>
            </a:r>
          </a:p>
          <a:p>
            <a:pPr>
              <a:defRPr sz="187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lang="en-GB" dirty="0"/>
              <a:t>t</a:t>
            </a:r>
            <a:r>
              <a:rPr sz="1875" b="0" dirty="0">
                <a:solidFill>
                  <a:srgbClr val="12314A"/>
                </a:solidFill>
                <a:latin typeface="Menlo"/>
                <a:ea typeface="Menlo"/>
                <a:cs typeface="Menlo"/>
              </a:rPr>
              <a:t>rain</a:t>
            </a:r>
            <a:r>
              <a:rPr lang="nb-NO" sz="1875" b="0" dirty="0">
                <a:solidFill>
                  <a:srgbClr val="12314A"/>
                </a:solidFill>
                <a:latin typeface="Menlo"/>
                <a:ea typeface="Menlo"/>
                <a:cs typeface="Menlo"/>
              </a:rPr>
              <a:t>_</a:t>
            </a:r>
            <a:r>
              <a:rPr sz="1875" b="0" dirty="0">
                <a:solidFill>
                  <a:srgbClr val="12314A"/>
                </a:solidFill>
                <a:latin typeface="Menlo"/>
                <a:ea typeface="Menlo"/>
                <a:cs typeface="Menlo"/>
              </a:rPr>
              <a:t> = </a:t>
            </a:r>
            <a:r>
              <a:rPr sz="1875" b="0" dirty="0" err="1">
                <a:solidFill>
                  <a:srgbClr val="12314A"/>
                </a:solidFill>
                <a:latin typeface="Menlo"/>
                <a:ea typeface="Menlo"/>
                <a:cs typeface="Menlo"/>
              </a:rPr>
              <a:t>train_set</a:t>
            </a:r>
            <a:r>
              <a:rPr sz="1875" b="0" dirty="0">
                <a:solidFill>
                  <a:srgbClr val="12314A"/>
                </a:solidFill>
                <a:latin typeface="Menlo"/>
                <a:ea typeface="Menlo"/>
                <a:cs typeface="Menlo"/>
              </a:rPr>
              <a:t>[</a:t>
            </a:r>
            <a:r>
              <a:rPr sz="1875" b="0" dirty="0" err="1">
                <a:solidFill>
                  <a:srgbClr val="12314A"/>
                </a:solidFill>
                <a:latin typeface="Menlo"/>
                <a:ea typeface="Menlo"/>
                <a:cs typeface="Menlo"/>
              </a:rPr>
              <a:t>num_cols</a:t>
            </a:r>
            <a:r>
              <a:rPr sz="1875" b="0" dirty="0">
                <a:solidFill>
                  <a:srgbClr val="12314A"/>
                </a:solidFill>
                <a:latin typeface="Menlo"/>
                <a:ea typeface="Menlo"/>
                <a:cs typeface="Menlo"/>
              </a:rPr>
              <a:t>].copy()</a:t>
            </a:r>
          </a:p>
          <a:p>
            <a:pPr>
              <a:defRPr sz="187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sz="1875" b="0" dirty="0">
                <a:solidFill>
                  <a:srgbClr val="12314A"/>
                </a:solidFill>
                <a:latin typeface="Menlo"/>
                <a:ea typeface="Menlo"/>
                <a:cs typeface="Menlo"/>
              </a:rPr>
              <a:t>test</a:t>
            </a:r>
            <a:r>
              <a:rPr lang="nb-NO" sz="1875" b="0" dirty="0">
                <a:solidFill>
                  <a:srgbClr val="12314A"/>
                </a:solidFill>
                <a:latin typeface="Menlo"/>
                <a:ea typeface="Menlo"/>
                <a:cs typeface="Menlo"/>
              </a:rPr>
              <a:t>_</a:t>
            </a:r>
            <a:r>
              <a:rPr sz="1875" b="0" dirty="0">
                <a:solidFill>
                  <a:srgbClr val="12314A"/>
                </a:solidFill>
                <a:latin typeface="Menlo"/>
                <a:ea typeface="Menlo"/>
                <a:cs typeface="Menlo"/>
              </a:rPr>
              <a:t> = </a:t>
            </a:r>
            <a:r>
              <a:rPr sz="1875" b="0" dirty="0" err="1">
                <a:solidFill>
                  <a:srgbClr val="12314A"/>
                </a:solidFill>
                <a:latin typeface="Menlo"/>
                <a:ea typeface="Menlo"/>
                <a:cs typeface="Menlo"/>
              </a:rPr>
              <a:t>test_set</a:t>
            </a:r>
            <a:r>
              <a:rPr sz="1875" b="0" dirty="0">
                <a:solidFill>
                  <a:srgbClr val="12314A"/>
                </a:solidFill>
                <a:latin typeface="Menlo"/>
                <a:ea typeface="Menlo"/>
                <a:cs typeface="Menlo"/>
              </a:rPr>
              <a:t>[</a:t>
            </a:r>
            <a:r>
              <a:rPr sz="1875" b="0" dirty="0" err="1">
                <a:solidFill>
                  <a:srgbClr val="12314A"/>
                </a:solidFill>
                <a:latin typeface="Menlo"/>
                <a:ea typeface="Menlo"/>
                <a:cs typeface="Menlo"/>
              </a:rPr>
              <a:t>num_cols</a:t>
            </a:r>
            <a:r>
              <a:rPr sz="1875" b="0" dirty="0">
                <a:solidFill>
                  <a:srgbClr val="12314A"/>
                </a:solidFill>
                <a:latin typeface="Menlo"/>
                <a:ea typeface="Menlo"/>
                <a:cs typeface="Menlo"/>
              </a:rPr>
              <a:t>].copy()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AAD713-F86A-187A-ACFB-2BB6DD45E951}"/>
              </a:ext>
            </a:extLst>
          </p:cNvPr>
          <p:cNvSpPr txBox="1"/>
          <p:nvPr/>
        </p:nvSpPr>
        <p:spPr>
          <a:xfrm>
            <a:off x="476250" y="4566917"/>
            <a:ext cx="973275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GB" sz="2000" dirty="0"/>
              <a:t>The train/test size is a choice depends on the dataset size,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GB" sz="2000" dirty="0"/>
              <a:t>Having enough observations for both learning and reliable evaluation, and the intended prediction task. </a:t>
            </a:r>
          </a:p>
        </p:txBody>
      </p:sp>
    </p:spTree>
    <p:extLst>
      <p:ext uri="{BB962C8B-B14F-4D97-AF65-F5344CB8AC3E}">
        <p14:creationId xmlns:p14="http://schemas.microsoft.com/office/powerpoint/2010/main" val="20123893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6CDA6-9E70-80F8-3628-ECA14331E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Exploring training data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BDA4E4-BB2E-5199-740F-9B79709C9C9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GB"/>
              <a:t>29/10/2026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AD6B6A-E5D3-83FC-DD0E-C0841E626C3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GB"/>
              <a:t>Data Science and Machine Learning for Geoscientists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25A151-7836-9B20-5E15-756C129E9EC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22</a:t>
            </a:fld>
            <a:endParaRPr lang="en-GB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FDB72A0E-4547-D5FB-1C19-E9F9F307768F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0E1186-6245-5435-F6D0-6482E7DC7436}"/>
              </a:ext>
            </a:extLst>
          </p:cNvPr>
          <p:cNvSpPr txBox="1"/>
          <p:nvPr/>
        </p:nvSpPr>
        <p:spPr>
          <a:xfrm>
            <a:off x="172995" y="1175930"/>
            <a:ext cx="4775489" cy="1291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GB" b="0" dirty="0">
                <a:effectLst/>
                <a:latin typeface="Menlo" panose="020B0609030804020204" pitchFamily="49" charset="0"/>
              </a:rPr>
              <a:t>import </a:t>
            </a:r>
            <a:r>
              <a:rPr lang="en-GB" b="0" dirty="0" err="1">
                <a:effectLst/>
                <a:latin typeface="Menlo" panose="020B0609030804020204" pitchFamily="49" charset="0"/>
              </a:rPr>
              <a:t>matplotlib.pyplot</a:t>
            </a:r>
            <a:r>
              <a:rPr lang="en-GB" b="0" dirty="0">
                <a:effectLst/>
                <a:latin typeface="Menlo" panose="020B0609030804020204" pitchFamily="49" charset="0"/>
              </a:rPr>
              <a:t> as </a:t>
            </a:r>
            <a:r>
              <a:rPr lang="en-GB" b="0" dirty="0" err="1">
                <a:effectLst/>
                <a:latin typeface="Menlo" panose="020B0609030804020204" pitchFamily="49" charset="0"/>
              </a:rPr>
              <a:t>plt</a:t>
            </a:r>
            <a:endParaRPr lang="en-GB" b="0" dirty="0"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GB" b="0" dirty="0" err="1">
                <a:effectLst/>
                <a:latin typeface="Menlo" panose="020B0609030804020204" pitchFamily="49" charset="0"/>
              </a:rPr>
              <a:t>train_set.hist</a:t>
            </a:r>
            <a:r>
              <a:rPr lang="en-GB" b="0" dirty="0">
                <a:effectLst/>
                <a:latin typeface="Menlo" panose="020B0609030804020204" pitchFamily="49" charset="0"/>
              </a:rPr>
              <a:t>(bins=50, </a:t>
            </a:r>
            <a:r>
              <a:rPr lang="en-GB" b="0" dirty="0" err="1">
                <a:effectLst/>
                <a:latin typeface="Menlo" panose="020B0609030804020204" pitchFamily="49" charset="0"/>
              </a:rPr>
              <a:t>figsize</a:t>
            </a:r>
            <a:r>
              <a:rPr lang="en-GB" b="0" dirty="0">
                <a:effectLst/>
                <a:latin typeface="Menlo" panose="020B0609030804020204" pitchFamily="49" charset="0"/>
              </a:rPr>
              <a:t>=(20,15));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8BDCEB-6D89-FB68-53EE-1AED9AA81BD3}"/>
              </a:ext>
            </a:extLst>
          </p:cNvPr>
          <p:cNvSpPr txBox="1"/>
          <p:nvPr/>
        </p:nvSpPr>
        <p:spPr>
          <a:xfrm>
            <a:off x="172995" y="4758740"/>
            <a:ext cx="448895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defTabSz="914353" rtl="0">
              <a:buNone/>
            </a:pPr>
            <a:r>
              <a:rPr lang="en-GB" dirty="0"/>
              <a:t>Where are most observations?</a:t>
            </a:r>
          </a:p>
          <a:p>
            <a:pPr marL="0" algn="l" defTabSz="914353" rtl="0">
              <a:buNone/>
            </a:pPr>
            <a:r>
              <a:rPr lang="en-GB" dirty="0"/>
              <a:t>Which way do the tails extend?</a:t>
            </a:r>
          </a:p>
          <a:p>
            <a:pPr marL="0" algn="l" defTabSz="914353" rtl="0">
              <a:buNone/>
            </a:pPr>
            <a:r>
              <a:rPr lang="en-GB" dirty="0"/>
              <a:t>Are there possible multiple peaks?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7B28FBA-4CBD-9D1A-504F-7AB4541CF1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4407" y="1117657"/>
            <a:ext cx="6691581" cy="507493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4989E84-DE9C-AAEB-9702-CBB50CADDB38}"/>
              </a:ext>
            </a:extLst>
          </p:cNvPr>
          <p:cNvSpPr txBox="1"/>
          <p:nvPr/>
        </p:nvSpPr>
        <p:spPr>
          <a:xfrm>
            <a:off x="172995" y="3012875"/>
            <a:ext cx="43900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defTabSz="914353" rtl="0">
              <a:buNone/>
            </a:pPr>
            <a:r>
              <a:rPr lang="en-GB" dirty="0"/>
              <a:t>Each histogram shows one variable. The horizontal axis shows its values, and the vertical axis counts the samples in each interval.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87984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7BA5C-88BD-6D58-6E0C-F7B681F33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5C36F00F-E80E-CE65-CCCA-5321EDFAF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Exploring training data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6FB650B-CB10-52F0-C0E1-05470C58C3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800" y="1394619"/>
            <a:ext cx="4493335" cy="4866481"/>
          </a:xfrm>
        </p:spPr>
        <p:txBody>
          <a:bodyPr/>
          <a:lstStyle/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GB" dirty="0"/>
              <a:t>Most samples come from shallow depths. The long tail towards greater depths makes the distribution right-skewed.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2108A-19CC-EC55-E9D4-32B70AEC3BF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GB"/>
              <a:t>29/10/2026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2F3681-45BA-54E9-355C-68143CFC664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GB"/>
              <a:t>Data Science and Machine Learning for Geoscientists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B0C5FA-8A70-7D91-0C14-FAFB8B64098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23</a:t>
            </a:fld>
            <a:endParaRPr lang="en-GB"/>
          </a:p>
        </p:txBody>
      </p:sp>
      <p:sp>
        <p:nvSpPr>
          <p:cNvPr id="13" name="Subtitle 12">
            <a:extLst>
              <a:ext uri="{FF2B5EF4-FFF2-40B4-BE49-F238E27FC236}">
                <a16:creationId xmlns:a16="http://schemas.microsoft.com/office/drawing/2014/main" id="{6FCA2BF4-723C-6AC7-2CBF-C24ABEAB1972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pPr rtl="0"/>
            <a:r>
              <a:rPr lang="en-GB" dirty="0"/>
              <a:t>Depth</a:t>
            </a:r>
          </a:p>
          <a:p>
            <a:pPr marL="0" indent="0" algn="l" defTabSz="685765" rtl="0">
              <a:lnSpc>
                <a:spcPct val="90000"/>
              </a:lnSpc>
              <a:spcBef>
                <a:spcPts val="0"/>
              </a:spcBef>
              <a:buFont typeface="Arial"/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204643-4E64-6148-986C-F4F17DF0D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4407" y="1117657"/>
            <a:ext cx="6691581" cy="5074934"/>
          </a:xfrm>
          <a:prstGeom prst="rect">
            <a:avLst/>
          </a:prstGeom>
        </p:spPr>
      </p:pic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13C6630-A914-6125-F6A7-940B23F09A00}"/>
              </a:ext>
            </a:extLst>
          </p:cNvPr>
          <p:cNvSpPr/>
          <p:nvPr/>
        </p:nvSpPr>
        <p:spPr>
          <a:xfrm>
            <a:off x="5084407" y="1124365"/>
            <a:ext cx="3318188" cy="1630376"/>
          </a:xfrm>
          <a:prstGeom prst="roundRect">
            <a:avLst/>
          </a:prstGeom>
          <a:noFill/>
          <a:effectLst>
            <a:outerShdw blurRad="50800" dist="38100" dir="10800000" algn="r" rotWithShape="0">
              <a:schemeClr val="accent4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353" rtl="0">
              <a:buNone/>
            </a:pPr>
            <a:endParaRPr 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817407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2A841-A7FB-B66C-6D7C-040BF5FF3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1CC004CA-880D-DD1A-CA97-70CCA0FF1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Exploring training data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5C079DA-1485-ECB1-D7DC-7477589AD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800" y="1394619"/>
            <a:ext cx="4493335" cy="4866481"/>
          </a:xfrm>
        </p:spPr>
        <p:txBody>
          <a:bodyPr/>
          <a:lstStyle/>
          <a:p>
            <a:pPr fontAlgn="ctr"/>
            <a:endParaRPr lang="en-GB" dirty="0"/>
          </a:p>
          <a:p>
            <a:pPr rtl="0"/>
            <a:r>
              <a:rPr lang="en-GB" dirty="0"/>
              <a:t>Most observations are around 40–80 vol%, with a longer tail towards lower values. Negative porosity is physically invalid; in our cleaning example, we remove the affected row.</a:t>
            </a:r>
          </a:p>
          <a:p>
            <a:pPr marL="0" indent="0" algn="l" defTabSz="685765" rtl="0">
              <a:lnSpc>
                <a:spcPct val="105000"/>
              </a:lnSpc>
              <a:spcBef>
                <a:spcPts val="0"/>
              </a:spcBef>
              <a:buFont typeface="Arial"/>
              <a:buNone/>
            </a:pP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E52BB2-B169-A7DB-06ED-E9F5C6B37D6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GB"/>
              <a:t>29/10/2026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E66AD6-2073-D7B8-F8C9-A6E82872D6B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GB"/>
              <a:t>Data Science and Machine Learning for Geoscientists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1C00F1-748A-6EBD-45A0-E956DE8D16A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24</a:t>
            </a:fld>
            <a:endParaRPr lang="en-GB"/>
          </a:p>
        </p:txBody>
      </p:sp>
      <p:sp>
        <p:nvSpPr>
          <p:cNvPr id="13" name="Subtitle 12">
            <a:extLst>
              <a:ext uri="{FF2B5EF4-FFF2-40B4-BE49-F238E27FC236}">
                <a16:creationId xmlns:a16="http://schemas.microsoft.com/office/drawing/2014/main" id="{5DBC718F-C147-4A43-2B9E-1DB274579CFD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pPr rtl="0"/>
            <a:r>
              <a:rPr lang="en-GB" b="1" dirty="0"/>
              <a:t>Porosity</a:t>
            </a:r>
          </a:p>
          <a:p>
            <a:pPr marL="0" indent="0" algn="l" defTabSz="685765" rtl="0">
              <a:lnSpc>
                <a:spcPct val="90000"/>
              </a:lnSpc>
              <a:spcBef>
                <a:spcPts val="0"/>
              </a:spcBef>
              <a:buFont typeface="Arial"/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F4DAF8-31A7-9596-C4B4-F50869F72F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4407" y="1117657"/>
            <a:ext cx="6691581" cy="5074934"/>
          </a:xfrm>
          <a:prstGeom prst="rect">
            <a:avLst/>
          </a:prstGeom>
        </p:spPr>
      </p:pic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7AE93A3-BDD0-5CE7-5205-1A2B14514ED2}"/>
              </a:ext>
            </a:extLst>
          </p:cNvPr>
          <p:cNvSpPr/>
          <p:nvPr/>
        </p:nvSpPr>
        <p:spPr>
          <a:xfrm>
            <a:off x="8423356" y="1124365"/>
            <a:ext cx="3318188" cy="1630376"/>
          </a:xfrm>
          <a:prstGeom prst="roundRect">
            <a:avLst/>
          </a:prstGeom>
          <a:noFill/>
          <a:effectLst>
            <a:outerShdw blurRad="50800" dist="38100" dir="10800000" algn="r" rotWithShape="0">
              <a:schemeClr val="accent4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353" rtl="0">
              <a:buNone/>
            </a:pPr>
            <a:endParaRPr 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301448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9BFC9-9B47-9994-2729-9EDB96C27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ABA5EDA4-9977-E9C1-2765-4B552C3A2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Exploring training data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4B6E0CF2-57B2-24F7-FA29-BB11BD814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800" y="1394619"/>
            <a:ext cx="4493335" cy="4866481"/>
          </a:xfrm>
        </p:spPr>
        <p:txBody>
          <a:bodyPr/>
          <a:lstStyle/>
          <a:p>
            <a:pPr fontAlgn="ctr"/>
            <a:endParaRPr lang="en-GB" dirty="0"/>
          </a:p>
          <a:p>
            <a:pPr fontAlgn="ctr"/>
            <a:r>
              <a:rPr lang="en-GB" dirty="0"/>
              <a:t>The main peak is around 20–25 cps. The longer tail towards higher values indicates right skewness.</a:t>
            </a:r>
          </a:p>
          <a:p>
            <a:pPr fontAlgn="ctr"/>
            <a:endParaRPr lang="en-GB" dirty="0"/>
          </a:p>
          <a:p>
            <a:pPr fontAlgn="ctr"/>
            <a:r>
              <a:rPr lang="en-GB" sz="1600" dirty="0"/>
              <a:t>The −9999 value is not visible in this figure</a:t>
            </a:r>
            <a:endParaRPr lang="en-US" sz="16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947CC6-B7E6-07F5-73BB-1C8B40E19E3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GB"/>
              <a:t>29/10/2026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5A1F03-ADEB-BC6A-1413-1C2500525BA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GB"/>
              <a:t>Data Science and Machine Learning for Geoscientists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DFCE2D-C476-8164-1A97-3F52FBA5EE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25</a:t>
            </a:fld>
            <a:endParaRPr lang="en-GB"/>
          </a:p>
        </p:txBody>
      </p:sp>
      <p:sp>
        <p:nvSpPr>
          <p:cNvPr id="13" name="Subtitle 12">
            <a:extLst>
              <a:ext uri="{FF2B5EF4-FFF2-40B4-BE49-F238E27FC236}">
                <a16:creationId xmlns:a16="http://schemas.microsoft.com/office/drawing/2014/main" id="{25711EFF-3AA6-75FC-54C1-412567E75902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pPr rtl="0"/>
            <a:r>
              <a:rPr lang="en-GB" dirty="0"/>
              <a:t>NGR</a:t>
            </a:r>
          </a:p>
          <a:p>
            <a:pPr marL="0" indent="0" algn="l" defTabSz="685765" rtl="0">
              <a:lnSpc>
                <a:spcPct val="90000"/>
              </a:lnSpc>
              <a:spcBef>
                <a:spcPts val="0"/>
              </a:spcBef>
              <a:buFont typeface="Arial"/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708CCA-CD32-91E9-E05E-03C905F800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4407" y="1117657"/>
            <a:ext cx="6691581" cy="5074934"/>
          </a:xfrm>
          <a:prstGeom prst="rect">
            <a:avLst/>
          </a:prstGeom>
        </p:spPr>
      </p:pic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EE94694-F3EB-C3E1-F1C0-24793C3BA45F}"/>
              </a:ext>
            </a:extLst>
          </p:cNvPr>
          <p:cNvSpPr/>
          <p:nvPr/>
        </p:nvSpPr>
        <p:spPr>
          <a:xfrm>
            <a:off x="5084402" y="2842337"/>
            <a:ext cx="3318188" cy="1630376"/>
          </a:xfrm>
          <a:prstGeom prst="roundRect">
            <a:avLst/>
          </a:prstGeom>
          <a:noFill/>
          <a:effectLst>
            <a:outerShdw blurRad="50800" dist="38100" dir="10800000" algn="r" rotWithShape="0">
              <a:schemeClr val="accent4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353" rtl="0">
              <a:buNone/>
            </a:pPr>
            <a:endParaRPr 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689357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976B5-7BE7-A295-B3B1-C606C1967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148928D4-0895-0228-AF58-12628D74A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Exploring training data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B28EDD8-48EC-EFF9-7EE8-0CD96C304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800" y="1394619"/>
            <a:ext cx="4493335" cy="4866481"/>
          </a:xfrm>
        </p:spPr>
        <p:txBody>
          <a:bodyPr/>
          <a:lstStyle/>
          <a:p>
            <a:pPr fontAlgn="ctr"/>
            <a:r>
              <a:rPr lang="en-GB" dirty="0"/>
              <a:t>The central part is approximately bell-shaped, but the longer right-hand tail suggests some right skewness. 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BCD9C9-21B4-0F35-AA93-B20D0B8C5FD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GB"/>
              <a:t>29/10/2026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3DDB9F-BF58-5E6B-BB86-567B8E6EE7B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GB"/>
              <a:t>Data Science and Machine Learning for Geoscientists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0008F5-2DB2-0D3E-0759-A7E115D3646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26</a:t>
            </a:fld>
            <a:endParaRPr lang="en-GB"/>
          </a:p>
        </p:txBody>
      </p:sp>
      <p:sp>
        <p:nvSpPr>
          <p:cNvPr id="13" name="Subtitle 12">
            <a:extLst>
              <a:ext uri="{FF2B5EF4-FFF2-40B4-BE49-F238E27FC236}">
                <a16:creationId xmlns:a16="http://schemas.microsoft.com/office/drawing/2014/main" id="{F6642F93-51AA-2880-2C95-0C9EA3EB4102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pPr rtl="0"/>
            <a:r>
              <a:rPr lang="en-GB" dirty="0"/>
              <a:t>Reflectance L</a:t>
            </a:r>
          </a:p>
          <a:p>
            <a:pPr marL="0" indent="0" algn="l" defTabSz="685765" rtl="0">
              <a:lnSpc>
                <a:spcPct val="90000"/>
              </a:lnSpc>
              <a:spcBef>
                <a:spcPts val="0"/>
              </a:spcBef>
              <a:buFont typeface="Arial"/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BFCF2D-78AD-8C0F-0558-65E41C6207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4407" y="1117657"/>
            <a:ext cx="6691581" cy="5074934"/>
          </a:xfrm>
          <a:prstGeom prst="rect">
            <a:avLst/>
          </a:prstGeom>
        </p:spPr>
      </p:pic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38C1F88-1383-3527-E7AC-69714F000265}"/>
              </a:ext>
            </a:extLst>
          </p:cNvPr>
          <p:cNvSpPr/>
          <p:nvPr/>
        </p:nvSpPr>
        <p:spPr>
          <a:xfrm>
            <a:off x="8589607" y="2842337"/>
            <a:ext cx="3318188" cy="1630376"/>
          </a:xfrm>
          <a:prstGeom prst="roundRect">
            <a:avLst/>
          </a:prstGeom>
          <a:noFill/>
          <a:effectLst>
            <a:outerShdw blurRad="50800" dist="38100" dir="10800000" algn="r" rotWithShape="0">
              <a:schemeClr val="accent4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353" rtl="0">
              <a:buNone/>
            </a:pPr>
            <a:endParaRPr 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121610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9346E-692F-15CB-922A-93AD94E84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3124E532-665C-AD83-4CF4-D8CDA627A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Exploring training data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8C93E1B-66B2-7F5E-0E3B-6F5BC00E4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800" y="1394619"/>
            <a:ext cx="4493335" cy="4866481"/>
          </a:xfrm>
        </p:spPr>
        <p:txBody>
          <a:bodyPr/>
          <a:lstStyle/>
          <a:p>
            <a:pPr fontAlgn="ctr"/>
            <a:r>
              <a:rPr lang="en-GB" dirty="0"/>
              <a:t>A strong peak near zero and a long right-hand tail indicate right skewness.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7510A8-5E0A-533F-59C3-685F1AF9B7F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GB"/>
              <a:t>29/10/2026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974527-AD5D-63D5-1614-75902D6585D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GB"/>
              <a:t>Data Science and Machine Learning for Geoscientists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25ADFE-AEF6-62FF-62F0-6669E56DCCC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27</a:t>
            </a:fld>
            <a:endParaRPr lang="en-GB"/>
          </a:p>
        </p:txBody>
      </p:sp>
      <p:sp>
        <p:nvSpPr>
          <p:cNvPr id="13" name="Subtitle 12">
            <a:extLst>
              <a:ext uri="{FF2B5EF4-FFF2-40B4-BE49-F238E27FC236}">
                <a16:creationId xmlns:a16="http://schemas.microsoft.com/office/drawing/2014/main" id="{9FC27FC2-CD4D-9BCB-4836-17229582C46A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pPr rtl="0"/>
            <a:r>
              <a:rPr lang="en-GB" dirty="0"/>
              <a:t>Reflectance a</a:t>
            </a:r>
          </a:p>
          <a:p>
            <a:pPr marL="0" indent="0" algn="l" defTabSz="685765" rtl="0">
              <a:lnSpc>
                <a:spcPct val="90000"/>
              </a:lnSpc>
              <a:spcBef>
                <a:spcPts val="0"/>
              </a:spcBef>
              <a:buFont typeface="Arial"/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381D4E-1D05-208D-129E-7F75A326F6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4407" y="1117657"/>
            <a:ext cx="6691581" cy="5074934"/>
          </a:xfrm>
          <a:prstGeom prst="rect">
            <a:avLst/>
          </a:prstGeom>
        </p:spPr>
      </p:pic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3BDD451-940E-851D-E96C-72D4B7465960}"/>
              </a:ext>
            </a:extLst>
          </p:cNvPr>
          <p:cNvSpPr/>
          <p:nvPr/>
        </p:nvSpPr>
        <p:spPr>
          <a:xfrm>
            <a:off x="5056695" y="4615725"/>
            <a:ext cx="3318188" cy="1630376"/>
          </a:xfrm>
          <a:prstGeom prst="roundRect">
            <a:avLst/>
          </a:prstGeom>
          <a:noFill/>
          <a:effectLst>
            <a:outerShdw blurRad="50800" dist="38100" dir="10800000" algn="r" rotWithShape="0">
              <a:schemeClr val="accent4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353" rtl="0">
              <a:buNone/>
            </a:pPr>
            <a:endParaRPr 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36124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62585-B4E7-5D95-BF11-BB392D4BB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3307AAF9-1A40-D12E-6532-F54D6FC87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Exploring training data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1AD759C5-6732-1383-259B-0BCA1C7FD8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800" y="1394619"/>
            <a:ext cx="4493335" cy="4866481"/>
          </a:xfrm>
        </p:spPr>
        <p:txBody>
          <a:bodyPr/>
          <a:lstStyle/>
          <a:p>
            <a:r>
              <a:rPr lang="en-GB" dirty="0"/>
              <a:t>Two apparent peaks, near 0 and 8, suggest possible bimodality.</a:t>
            </a:r>
          </a:p>
          <a:p>
            <a:endParaRPr lang="en-GB" dirty="0"/>
          </a:p>
          <a:p>
            <a:r>
              <a:rPr lang="en-GB" dirty="0"/>
              <a:t>Histogram appearance depends on bin width. Narrow bins show more detail but can create small, irregular peaks.</a:t>
            </a:r>
          </a:p>
          <a:p>
            <a:endParaRPr lang="en-GB" dirty="0"/>
          </a:p>
          <a:p>
            <a:r>
              <a:rPr lang="en-GB" dirty="0"/>
              <a:t>Wide bins smooth the appearance but can merge nearby peaks.</a:t>
            </a:r>
          </a:p>
          <a:p>
            <a:endParaRPr lang="en-GB" dirty="0"/>
          </a:p>
          <a:p>
            <a:r>
              <a:rPr lang="en-GB" dirty="0"/>
              <a:t>Try several bin widths: do the two main peaks remain visible?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398423-AA32-9BBB-FE70-15095F81D4F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GB"/>
              <a:t>29/10/2026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A7A76A-359B-56A4-52BA-F885421BB4F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GB"/>
              <a:t>Data Science and Machine Learning for Geoscientists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2F3976-24FE-89C9-70F0-1C45FB65F11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28</a:t>
            </a:fld>
            <a:endParaRPr lang="en-GB"/>
          </a:p>
        </p:txBody>
      </p:sp>
      <p:sp>
        <p:nvSpPr>
          <p:cNvPr id="13" name="Subtitle 12">
            <a:extLst>
              <a:ext uri="{FF2B5EF4-FFF2-40B4-BE49-F238E27FC236}">
                <a16:creationId xmlns:a16="http://schemas.microsoft.com/office/drawing/2014/main" id="{E46F6E45-D671-FDC7-4F7C-9F42A1F024FF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pPr rtl="0"/>
            <a:r>
              <a:rPr lang="en-GB" dirty="0"/>
              <a:t>Reflectance b</a:t>
            </a:r>
          </a:p>
          <a:p>
            <a:pPr marL="0" indent="0" algn="l" defTabSz="685765" rtl="0">
              <a:lnSpc>
                <a:spcPct val="90000"/>
              </a:lnSpc>
              <a:spcBef>
                <a:spcPts val="0"/>
              </a:spcBef>
              <a:buFont typeface="Arial"/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9B61DA-5CE3-7844-E356-6EAFED3A6E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4407" y="1117657"/>
            <a:ext cx="6691581" cy="5074934"/>
          </a:xfrm>
          <a:prstGeom prst="rect">
            <a:avLst/>
          </a:prstGeom>
        </p:spPr>
      </p:pic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9CA83E4-480D-4369-44C7-9E89F755CA74}"/>
              </a:ext>
            </a:extLst>
          </p:cNvPr>
          <p:cNvSpPr/>
          <p:nvPr/>
        </p:nvSpPr>
        <p:spPr>
          <a:xfrm>
            <a:off x="8589609" y="4588015"/>
            <a:ext cx="3318188" cy="1630376"/>
          </a:xfrm>
          <a:prstGeom prst="roundRect">
            <a:avLst/>
          </a:prstGeom>
          <a:noFill/>
          <a:effectLst>
            <a:outerShdw blurRad="50800" dist="38100" dir="10800000" algn="r" rotWithShape="0">
              <a:schemeClr val="accent4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353" rtl="0">
              <a:buNone/>
            </a:pPr>
            <a:endParaRPr 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98684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C4F36668-9440-2FC4-1A20-CEA2160E1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none" lIns="0" tIns="0" rIns="0" bIns="0">
            <a:noAutofit/>
          </a:bodyPr>
          <a:lstStyle>
            <a:def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  <a:lvl1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1pPr>
            <a:lvl2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2pPr>
            <a:lvl3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3pPr>
            <a:lvl4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4pPr>
            <a:lvl5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5pPr>
            <a:lvl6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6pPr>
            <a:lvl7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7pPr>
            <a:lvl8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8pPr>
            <a:lvl9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2640" b="1">
                <a:solidFill>
                  <a:srgbClr val="0000FF"/>
                </a:solidFill>
                <a:latin typeface="Arial"/>
                <a:ea typeface="Arial"/>
                <a:cs typeface="Arial"/>
              </a:rPr>
              <a:t>Missing measurements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42358139-EACE-E729-C3E3-AD890A6D0F80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 wrap="none" lIns="0" tIns="0" rIns="0" bIns="0">
            <a:noAutofit/>
          </a:bodyPr>
          <a:lstStyle>
            <a:defPPr>
              <a:defRPr sz="2400">
                <a:solidFill>
                  <a:srgbClr val="8064FF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  <a:lvl2pPr marL="342882" indent="0" algn="ctr">
              <a:buNone/>
              <a:defRPr sz="15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2pPr>
            <a:lvl3pPr marL="685765" indent="0" algn="ctr">
              <a:buNone/>
              <a:defRPr sz="135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3pPr>
            <a:lvl4pPr marL="1028647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4pPr>
            <a:lvl5pPr marL="1371530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5pPr>
            <a:lvl6pPr marL="1714412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6pPr>
            <a:lvl7pPr marL="2057295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7pPr>
            <a:lvl8pPr marL="2400177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8pPr>
            <a:lvl9pPr marL="2743060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>
                <a:solidFill>
                  <a:srgbClr val="8064FF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8064FF"/>
                </a:solidFill>
                <a:latin typeface="Arial"/>
                <a:ea typeface="Arial"/>
                <a:cs typeface="Arial"/>
              </a:rPr>
              <a:t>Count them before choosing a treatment</a:t>
            </a:r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3FDBFEE-0509-16B7-5DAE-5E0DB02DD78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Data Science and Machine Learning for Geoscientists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7EAB126A-2C1E-4241-BBEB-C3AA6FE622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1C6C81E-38B9-7560-621D-5A151A79DF9B}" type="slidenum">
              <a:rPr/>
              <a:t>29</a:t>
            </a:fld>
            <a:endParaRPr/>
          </a:p>
        </p:txBody>
      </p:sp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BAA156BD-F388-30EA-2720-04061953B80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GB"/>
              <a:t>29/10/2026</a:t>
            </a:r>
            <a:endParaRPr/>
          </a:p>
        </p:txBody>
      </p:sp>
      <p:sp>
        <p:nvSpPr>
          <p:cNvPr id="6" name="content-5">
            <a:extLst>
              <a:ext uri="{FF2B5EF4-FFF2-40B4-BE49-F238E27FC236}">
                <a16:creationId xmlns:a16="http://schemas.microsoft.com/office/drawing/2014/main" id="{5CE5506B-79BF-4A2D-8722-2F837BE8CEC0}"/>
              </a:ext>
            </a:extLst>
          </p:cNvPr>
          <p:cNvSpPr>
            <a:spLocks noGrp="1"/>
          </p:cNvSpPr>
          <p:nvPr/>
        </p:nvSpPr>
        <p:spPr>
          <a:xfrm>
            <a:off x="476250" y="6010275"/>
            <a:ext cx="11144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007E87"/>
                </a:solidFill>
                <a:latin typeface="Arial"/>
                <a:ea typeface="Arial"/>
                <a:cs typeface="Arial"/>
                <a:hlinkClick r:id="rId3"/>
              </a:rPr>
              <a:t>McKinney,</a:t>
            </a:r>
            <a:r>
              <a:rPr lang="nb-NO" sz="1350" b="0" dirty="0">
                <a:solidFill>
                  <a:srgbClr val="007E87"/>
                </a:solidFill>
                <a:latin typeface="Arial"/>
                <a:ea typeface="Arial"/>
                <a:cs typeface="Arial"/>
                <a:hlinkClick r:id="rId3"/>
              </a:rPr>
              <a:t> </a:t>
            </a:r>
            <a:r>
              <a:rPr sz="1350" b="0" dirty="0">
                <a:solidFill>
                  <a:srgbClr val="007E87"/>
                </a:solidFill>
                <a:latin typeface="Arial"/>
                <a:ea typeface="Arial"/>
                <a:cs typeface="Arial"/>
                <a:hlinkClick r:id="rId3"/>
              </a:rPr>
              <a:t>7.1–7.2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AF6D905-CC3D-48EE-912A-99648BD865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48188116"/>
              </p:ext>
            </p:extLst>
          </p:nvPr>
        </p:nvGraphicFramePr>
        <p:xfrm>
          <a:off x="476250" y="1538344"/>
          <a:ext cx="7032588" cy="3834720"/>
        </p:xfrm>
        <a:graphic>
          <a:graphicData uri="http://schemas.openxmlformats.org/drawingml/2006/table">
            <a:tbl>
              <a:tblPr/>
              <a:tblGrid>
                <a:gridCol w="52532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93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8630">
                <a:tc>
                  <a:txBody>
                    <a:bodyPr/>
                    <a:lstStyle/>
                    <a:p>
                      <a:r>
                        <a:rPr sz="1875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Training </a:t>
                      </a:r>
                      <a:r>
                        <a:rPr lang="nb-NO" sz="1875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variable</a:t>
                      </a:r>
                      <a:endParaRPr sz="1875" b="1" dirty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>
                      <a:solidFill>
                        <a:srgbClr val="D6E1E6"/>
                      </a:solidFill>
                      <a:prstDash val="soli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1231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Missing values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>
                      <a:solidFill>
                        <a:srgbClr val="D6E1E6"/>
                      </a:solidFill>
                      <a:prstDash val="soli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1231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63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Depth CSF-A (m)</a:t>
                      </a: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63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Porosity (vol%)</a:t>
                      </a: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63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NGR total counts (cps)</a:t>
                      </a: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863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Reflectance L*</a:t>
                      </a: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863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Reflectance a*</a:t>
                      </a: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863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Reflectance b*</a:t>
                      </a: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 dirty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content-6">
            <a:extLst>
              <a:ext uri="{FF2B5EF4-FFF2-40B4-BE49-F238E27FC236}">
                <a16:creationId xmlns:a16="http://schemas.microsoft.com/office/drawing/2014/main" id="{071ED984-8DDB-47D1-94D3-4BC108FCA042}"/>
              </a:ext>
            </a:extLst>
          </p:cNvPr>
          <p:cNvSpPr>
            <a:spLocks noGrp="1"/>
          </p:cNvSpPr>
          <p:nvPr/>
        </p:nvSpPr>
        <p:spPr>
          <a:xfrm>
            <a:off x="7914715" y="1861223"/>
            <a:ext cx="3048000" cy="666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65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defPPr>
            <a:lvl1pPr>
              <a:defRPr sz="165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lvl1pPr>
            <a:lvl2pPr>
              <a:defRPr sz="165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lvl2pPr>
            <a:lvl3pPr>
              <a:defRPr sz="165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lvl3pPr>
            <a:lvl4pPr>
              <a:defRPr sz="165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lvl4pPr>
            <a:lvl5pPr>
              <a:defRPr sz="165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lvl5pPr>
            <a:lvl6pPr>
              <a:defRPr sz="165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lvl6pPr>
            <a:lvl7pPr>
              <a:defRPr sz="165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lvl7pPr>
            <a:lvl8pPr>
              <a:defRPr sz="165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lvl8pPr>
            <a:lvl9pPr>
              <a:defRPr sz="165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lvl9pPr>
          </a:lstStyle>
          <a:p>
            <a:pPr>
              <a:defRPr sz="165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sz="1650" b="0" dirty="0" err="1">
                <a:solidFill>
                  <a:srgbClr val="12314A"/>
                </a:solidFill>
                <a:latin typeface="Menlo"/>
                <a:ea typeface="Menlo"/>
                <a:cs typeface="Menlo"/>
              </a:rPr>
              <a:t>X_train.isna</a:t>
            </a:r>
            <a:r>
              <a:rPr sz="1650" b="0" dirty="0">
                <a:solidFill>
                  <a:srgbClr val="12314A"/>
                </a:solidFill>
                <a:latin typeface="Menlo"/>
                <a:ea typeface="Menlo"/>
                <a:cs typeface="Menlo"/>
              </a:rPr>
              <a:t>().sum()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37FDEF-3249-84D2-0F45-8633660817BF}"/>
              </a:ext>
            </a:extLst>
          </p:cNvPr>
          <p:cNvSpPr txBox="1"/>
          <p:nvPr/>
        </p:nvSpPr>
        <p:spPr>
          <a:xfrm>
            <a:off x="7713233" y="2919711"/>
            <a:ext cx="40025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defTabSz="914353" rtl="0">
              <a:buNone/>
            </a:pPr>
            <a:r>
              <a:rPr lang="en-GB" dirty="0" err="1"/>
              <a:t>NaN</a:t>
            </a:r>
            <a:r>
              <a:rPr lang="en-GB" dirty="0"/>
              <a:t> represents missing data; </a:t>
            </a:r>
          </a:p>
          <a:p>
            <a:pPr marL="0" algn="l" defTabSz="914353" rtl="0">
              <a:buNone/>
            </a:pPr>
            <a:r>
              <a:rPr lang="en-GB" dirty="0"/>
              <a:t>zero is not automatically missing.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93966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C4F36668-9440-2FC4-1A20-CEA2160E1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none" lIns="0" tIns="0" rIns="0" bIns="0">
            <a:noAutofit/>
          </a:bodyPr>
          <a:lstStyle>
            <a:def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  <a:lvl1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1pPr>
            <a:lvl2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2pPr>
            <a:lvl3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3pPr>
            <a:lvl4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4pPr>
            <a:lvl5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5pPr>
            <a:lvl6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6pPr>
            <a:lvl7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7pPr>
            <a:lvl8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8pPr>
            <a:lvl9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2640" b="1" dirty="0">
                <a:solidFill>
                  <a:srgbClr val="0000FF"/>
                </a:solidFill>
                <a:latin typeface="Arial"/>
                <a:ea typeface="Arial"/>
                <a:cs typeface="Arial"/>
              </a:rPr>
              <a:t>Options for missing values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42358139-EACE-E729-C3E3-AD890A6D0F80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 wrap="none" lIns="0" tIns="0" rIns="0" bIns="0">
            <a:noAutofit/>
          </a:bodyPr>
          <a:lstStyle>
            <a:defPPr>
              <a:defRPr sz="2400">
                <a:solidFill>
                  <a:srgbClr val="8064FF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  <a:lvl2pPr marL="342882" indent="0" algn="ctr">
              <a:buNone/>
              <a:defRPr sz="15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2pPr>
            <a:lvl3pPr marL="685765" indent="0" algn="ctr">
              <a:buNone/>
              <a:defRPr sz="135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3pPr>
            <a:lvl4pPr marL="1028647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4pPr>
            <a:lvl5pPr marL="1371530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5pPr>
            <a:lvl6pPr marL="1714412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6pPr>
            <a:lvl7pPr marL="2057295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7pPr>
            <a:lvl8pPr marL="2400177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8pPr>
            <a:lvl9pPr marL="2743060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>
                <a:solidFill>
                  <a:srgbClr val="8064FF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8064FF"/>
                </a:solidFill>
                <a:latin typeface="Arial"/>
                <a:ea typeface="Arial"/>
                <a:cs typeface="Arial"/>
              </a:rPr>
              <a:t>The choice depends on the variable and the question</a:t>
            </a:r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3FDBFEE-0509-16B7-5DAE-5E0DB02DD78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Data Science and Machine Learning for Geoscientists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7EAB126A-2C1E-4241-BBEB-C3AA6FE622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CF91274-D221-1BB4-3BF9-836E3AD31EBE}" type="slidenum">
              <a:rPr/>
              <a:t>30</a:t>
            </a:fld>
            <a:endParaRPr/>
          </a:p>
        </p:txBody>
      </p:sp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BAA156BD-F388-30EA-2720-04061953B80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GB"/>
              <a:t>29/10/2026</a:t>
            </a:r>
            <a:endParaRPr/>
          </a:p>
        </p:txBody>
      </p:sp>
      <p:sp>
        <p:nvSpPr>
          <p:cNvPr id="6" name="content-5">
            <a:extLst>
              <a:ext uri="{FF2B5EF4-FFF2-40B4-BE49-F238E27FC236}">
                <a16:creationId xmlns:a16="http://schemas.microsoft.com/office/drawing/2014/main" id="{947208B7-CFB1-4379-A813-22A61A3B0D67}"/>
              </a:ext>
            </a:extLst>
          </p:cNvPr>
          <p:cNvSpPr>
            <a:spLocks noGrp="1"/>
          </p:cNvSpPr>
          <p:nvPr/>
        </p:nvSpPr>
        <p:spPr>
          <a:xfrm>
            <a:off x="476250" y="6010275"/>
            <a:ext cx="11144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E87"/>
                </a:solidFill>
                <a:latin typeface="Arial"/>
                <a:ea typeface="Arial"/>
                <a:cs typeface="Arial"/>
                <a:hlinkClick r:id="rId3"/>
              </a:rPr>
              <a:t>scikit-learn: SimpleImputer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ECD9B42-61BC-E556-6A15-6C17CCE6FB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7026171"/>
              </p:ext>
            </p:extLst>
          </p:nvPr>
        </p:nvGraphicFramePr>
        <p:xfrm>
          <a:off x="278605" y="1348369"/>
          <a:ext cx="11539539" cy="323088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3846513">
                  <a:extLst>
                    <a:ext uri="{9D8B030D-6E8A-4147-A177-3AD203B41FA5}">
                      <a16:colId xmlns:a16="http://schemas.microsoft.com/office/drawing/2014/main" val="1135941795"/>
                    </a:ext>
                  </a:extLst>
                </a:gridCol>
                <a:gridCol w="3846513">
                  <a:extLst>
                    <a:ext uri="{9D8B030D-6E8A-4147-A177-3AD203B41FA5}">
                      <a16:colId xmlns:a16="http://schemas.microsoft.com/office/drawing/2014/main" val="1219011061"/>
                    </a:ext>
                  </a:extLst>
                </a:gridCol>
                <a:gridCol w="3846513">
                  <a:extLst>
                    <a:ext uri="{9D8B030D-6E8A-4147-A177-3AD203B41FA5}">
                      <a16:colId xmlns:a16="http://schemas.microsoft.com/office/drawing/2014/main" val="1079075763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Method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Main idea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Main limitation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933762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Remove rows or columns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Exclude incomplete observations or variables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Loses information and may introduce bias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0745158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Mean, median or most frequent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Use a summary of the observed training values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Reduces variability and can distort relationships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909148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Forward fill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Use the previous observed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Assumes the value remains applicable across the gap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5820179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Rolling mean or median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Use observations within a local window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May smooth genuine changes; depends on window size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34085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Interpolation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Estimate between observed points using their time or depth positions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Can be misleading across large gaps or abrupt changes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167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51183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71DF9-0417-5B46-250B-2FA35DE5A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FC76061-5289-DE5D-63B4-FECDBB76B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none" lIns="0" tIns="0" rIns="0" bIns="0">
            <a:noAutofit/>
          </a:bodyPr>
          <a:lstStyle>
            <a:def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  <a:lvl1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1pPr>
            <a:lvl2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2pPr>
            <a:lvl3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3pPr>
            <a:lvl4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4pPr>
            <a:lvl5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5pPr>
            <a:lvl6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6pPr>
            <a:lvl7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7pPr>
            <a:lvl8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8pPr>
            <a:lvl9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2640" b="1" dirty="0">
                <a:solidFill>
                  <a:srgbClr val="0000FF"/>
                </a:solidFill>
                <a:latin typeface="Arial"/>
                <a:ea typeface="Arial"/>
                <a:cs typeface="Arial"/>
              </a:rPr>
              <a:t>Options for missing values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3706A01-47A2-517B-5AD0-81AD927AD0D2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 wrap="none" lIns="0" tIns="0" rIns="0" bIns="0">
            <a:noAutofit/>
          </a:bodyPr>
          <a:lstStyle>
            <a:defPPr>
              <a:defRPr sz="2400">
                <a:solidFill>
                  <a:srgbClr val="8064FF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  <a:lvl2pPr marL="342882" indent="0" algn="ctr">
              <a:buNone/>
              <a:defRPr sz="15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2pPr>
            <a:lvl3pPr marL="685765" indent="0" algn="ctr">
              <a:buNone/>
              <a:defRPr sz="135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3pPr>
            <a:lvl4pPr marL="1028647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4pPr>
            <a:lvl5pPr marL="1371530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5pPr>
            <a:lvl6pPr marL="1714412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6pPr>
            <a:lvl7pPr marL="2057295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7pPr>
            <a:lvl8pPr marL="2400177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8pPr>
            <a:lvl9pPr marL="2743060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>
                <a:solidFill>
                  <a:srgbClr val="8064FF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8064FF"/>
                </a:solidFill>
                <a:latin typeface="Arial"/>
                <a:ea typeface="Arial"/>
                <a:cs typeface="Arial"/>
              </a:rPr>
              <a:t>The choice depends on the variable and the question</a:t>
            </a:r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B879959A-BFDA-8474-02EB-D3223CFE2A6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Data Science and Machine Learning for Geoscientists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80866063-F7C9-FFC5-13B2-359BE5E0079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CF91274-D221-1BB4-3BF9-836E3AD31EBE}" type="slidenum">
              <a:rPr/>
              <a:t>31</a:t>
            </a:fld>
            <a:endParaRPr/>
          </a:p>
        </p:txBody>
      </p:sp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457ADDC0-726C-E528-7D4A-CFE254C7C71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GB"/>
              <a:t>29/10/2026</a:t>
            </a:r>
            <a:endParaRPr/>
          </a:p>
        </p:txBody>
      </p:sp>
      <p:sp>
        <p:nvSpPr>
          <p:cNvPr id="6" name="content-5">
            <a:extLst>
              <a:ext uri="{FF2B5EF4-FFF2-40B4-BE49-F238E27FC236}">
                <a16:creationId xmlns:a16="http://schemas.microsoft.com/office/drawing/2014/main" id="{F48FE798-E888-793A-876D-E267C52C6633}"/>
              </a:ext>
            </a:extLst>
          </p:cNvPr>
          <p:cNvSpPr>
            <a:spLocks noGrp="1"/>
          </p:cNvSpPr>
          <p:nvPr/>
        </p:nvSpPr>
        <p:spPr>
          <a:xfrm>
            <a:off x="476250" y="6010275"/>
            <a:ext cx="11144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E87"/>
                </a:solidFill>
                <a:latin typeface="Arial"/>
                <a:ea typeface="Arial"/>
                <a:cs typeface="Arial"/>
                <a:hlinkClick r:id="rId3"/>
              </a:rPr>
              <a:t>scikit-learn: SimpleImputer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67E1F7E-CE3F-8AE8-C8AA-18F1E66EC4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2071320"/>
              </p:ext>
            </p:extLst>
          </p:nvPr>
        </p:nvGraphicFramePr>
        <p:xfrm>
          <a:off x="278605" y="1348369"/>
          <a:ext cx="11539539" cy="323088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3846513">
                  <a:extLst>
                    <a:ext uri="{9D8B030D-6E8A-4147-A177-3AD203B41FA5}">
                      <a16:colId xmlns:a16="http://schemas.microsoft.com/office/drawing/2014/main" val="1135941795"/>
                    </a:ext>
                  </a:extLst>
                </a:gridCol>
                <a:gridCol w="3846513">
                  <a:extLst>
                    <a:ext uri="{9D8B030D-6E8A-4147-A177-3AD203B41FA5}">
                      <a16:colId xmlns:a16="http://schemas.microsoft.com/office/drawing/2014/main" val="1219011061"/>
                    </a:ext>
                  </a:extLst>
                </a:gridCol>
                <a:gridCol w="3846513">
                  <a:extLst>
                    <a:ext uri="{9D8B030D-6E8A-4147-A177-3AD203B41FA5}">
                      <a16:colId xmlns:a16="http://schemas.microsoft.com/office/drawing/2014/main" val="1079075763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Method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Main idea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Main limitation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933762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Remove rows or columns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Exclude incomplete observations or variables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Loses information and may introduce bias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0745158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Mean, median or most frequent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Use a summary of the observed training values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Reduces variability and can distort relationships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909148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Forward fill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Use the previous observed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Assumes the value remains applicable across the gap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5820179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Rolling mean or median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Use observations within a local window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May smooth genuine changes; depends on window size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34085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Interpolation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Estimate between observed points using their time or depth positions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Can be misleading across large gaps or abrupt changes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16795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53401295-2AEB-8AEE-F470-D6100B92FF89}"/>
              </a:ext>
            </a:extLst>
          </p:cNvPr>
          <p:cNvSpPr txBox="1"/>
          <p:nvPr/>
        </p:nvSpPr>
        <p:spPr>
          <a:xfrm>
            <a:off x="278605" y="4982415"/>
            <a:ext cx="112955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defTabSz="914353" rtl="0">
              <a:buNone/>
            </a:pPr>
            <a:r>
              <a:rPr lang="en-GB" dirty="0"/>
              <a:t>Forward fill, rolling statistics and interpolation require meaningful time/depth order and appropriate grouping.</a:t>
            </a:r>
          </a:p>
        </p:txBody>
      </p:sp>
    </p:spTree>
    <p:extLst>
      <p:ext uri="{BB962C8B-B14F-4D97-AF65-F5344CB8AC3E}">
        <p14:creationId xmlns:p14="http://schemas.microsoft.com/office/powerpoint/2010/main" val="25436309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8162E-F99D-9CBF-E01F-EACCF5CA2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>
                <a:solidFill>
                  <a:srgbClr val="0000FF"/>
                </a:solidFill>
              </a:rPr>
              <a:t>Options for missing values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654CE-81D8-3CBC-0986-8B9A0AA8D1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filled_df</a:t>
            </a:r>
            <a:r>
              <a:rPr lang="en-GB" dirty="0"/>
              <a:t> = </a:t>
            </a:r>
            <a:r>
              <a:rPr lang="en-GB" dirty="0" err="1"/>
              <a:t>train_set.copy</a:t>
            </a:r>
            <a:r>
              <a:rPr lang="en-GB" dirty="0"/>
              <a:t>()</a:t>
            </a:r>
          </a:p>
          <a:p>
            <a:r>
              <a:rPr lang="en-GB" dirty="0" err="1"/>
              <a:t>Filled_df.fillna</a:t>
            </a:r>
            <a:r>
              <a:rPr lang="en-GB" dirty="0"/>
              <a:t>(0)</a:t>
            </a:r>
          </a:p>
          <a:p>
            <a:r>
              <a:rPr lang="en-GB" dirty="0" err="1"/>
              <a:t>filled_df.isnull</a:t>
            </a:r>
            <a:r>
              <a:rPr lang="en-GB" dirty="0"/>
              <a:t>().sum()</a:t>
            </a:r>
          </a:p>
          <a:p>
            <a:pPr marL="0" indent="0" algn="l" defTabSz="685765" rtl="0">
              <a:lnSpc>
                <a:spcPct val="105000"/>
              </a:lnSpc>
              <a:spcBef>
                <a:spcPts val="0"/>
              </a:spcBef>
              <a:buFont typeface="Arial"/>
              <a:buNone/>
            </a:pPr>
            <a:endParaRPr lang="en-US" dirty="0"/>
          </a:p>
          <a:p>
            <a:pPr rtl="0"/>
            <a:r>
              <a:rPr lang="en-GB" dirty="0">
                <a:highlight>
                  <a:srgbClr val="C0C0C0"/>
                </a:highlight>
              </a:rPr>
              <a:t>mean</a:t>
            </a:r>
            <a:r>
              <a:rPr lang="en-GB" dirty="0"/>
              <a:t> = </a:t>
            </a:r>
            <a:r>
              <a:rPr lang="en-GB" dirty="0" err="1"/>
              <a:t>train_set</a:t>
            </a:r>
            <a:r>
              <a:rPr lang="en-GB" dirty="0"/>
              <a:t>["Reflectance L*"].mean()</a:t>
            </a:r>
          </a:p>
          <a:p>
            <a:r>
              <a:rPr lang="en-GB" dirty="0" err="1"/>
              <a:t>filled_df</a:t>
            </a:r>
            <a:r>
              <a:rPr lang="en-GB" dirty="0"/>
              <a:t>["Reflectance L*"] = (</a:t>
            </a:r>
          </a:p>
          <a:p>
            <a:r>
              <a:rPr lang="en-GB" dirty="0" err="1"/>
              <a:t>filled_df</a:t>
            </a:r>
            <a:r>
              <a:rPr lang="en-GB" dirty="0"/>
              <a:t>["Reflectance L*"].</a:t>
            </a:r>
            <a:r>
              <a:rPr lang="en-GB" dirty="0" err="1"/>
              <a:t>fillna</a:t>
            </a:r>
            <a:r>
              <a:rPr lang="en-GB" dirty="0"/>
              <a:t>(</a:t>
            </a:r>
            <a:r>
              <a:rPr lang="en-GB" dirty="0">
                <a:highlight>
                  <a:srgbClr val="C0C0C0"/>
                </a:highlight>
              </a:rPr>
              <a:t>mean</a:t>
            </a:r>
            <a:r>
              <a:rPr lang="en-GB" dirty="0"/>
              <a:t>)</a:t>
            </a:r>
          </a:p>
          <a:p>
            <a:r>
              <a:rPr lang="en-GB" dirty="0"/>
              <a:t>)</a:t>
            </a:r>
          </a:p>
          <a:p>
            <a:pPr marL="0" indent="0" algn="l" defTabSz="685765" rtl="0">
              <a:lnSpc>
                <a:spcPct val="105000"/>
              </a:lnSpc>
              <a:spcBef>
                <a:spcPts val="0"/>
              </a:spcBef>
              <a:buFont typeface="Arial"/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86770E-0814-91AB-A97E-F14B1EEC1E9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GB"/>
              <a:t>29/10/2026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5A3CA1-644D-B5EF-A328-965849058FA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GB"/>
              <a:t>Data Science and Machine Learning for Geoscientists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820542-8D66-9A53-0E22-DF9D5BF37F0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32</a:t>
            </a:fld>
            <a:endParaRPr lang="en-GB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CB6F479-60B3-86D5-032E-6F00901E001C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pPr marL="0" indent="0" algn="l" defTabSz="685765" rtl="0">
              <a:lnSpc>
                <a:spcPct val="90000"/>
              </a:lnSpc>
              <a:spcBef>
                <a:spcPts val="0"/>
              </a:spcBef>
              <a:buFont typeface="Arial"/>
              <a:buNone/>
            </a:pPr>
            <a:r>
              <a:rPr lang="en-US" dirty="0"/>
              <a:t>Using .</a:t>
            </a:r>
            <a:r>
              <a:rPr lang="en-US" dirty="0" err="1"/>
              <a:t>fillna</a:t>
            </a:r>
            <a:r>
              <a:rPr lang="en-US" dirty="0"/>
              <a:t>()</a:t>
            </a:r>
          </a:p>
        </p:txBody>
      </p:sp>
      <p:sp>
        <p:nvSpPr>
          <p:cNvPr id="10" name="content-6">
            <a:extLst>
              <a:ext uri="{FF2B5EF4-FFF2-40B4-BE49-F238E27FC236}">
                <a16:creationId xmlns:a16="http://schemas.microsoft.com/office/drawing/2014/main" id="{04BA43E4-371B-B1E0-B0E0-6516740A7FAC}"/>
              </a:ext>
            </a:extLst>
          </p:cNvPr>
          <p:cNvSpPr>
            <a:spLocks noGrp="1"/>
          </p:cNvSpPr>
          <p:nvPr/>
        </p:nvSpPr>
        <p:spPr>
          <a:xfrm>
            <a:off x="476250" y="4429125"/>
            <a:ext cx="1123950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100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00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pPr>
            <a:r>
              <a:rPr sz="2100" b="1" dirty="0">
                <a:solidFill>
                  <a:srgbClr val="12314A"/>
                </a:solidFill>
                <a:latin typeface="Arial"/>
                <a:ea typeface="Arial"/>
                <a:cs typeface="Arial"/>
              </a:rPr>
              <a:t>Training: 40, 50, 60, missing     Learned mean: 50</a:t>
            </a:r>
          </a:p>
        </p:txBody>
      </p:sp>
      <p:sp>
        <p:nvSpPr>
          <p:cNvPr id="11" name="content-7">
            <a:extLst>
              <a:ext uri="{FF2B5EF4-FFF2-40B4-BE49-F238E27FC236}">
                <a16:creationId xmlns:a16="http://schemas.microsoft.com/office/drawing/2014/main" id="{13E05B38-06A7-E001-CB61-E8105D8EE0A4}"/>
              </a:ext>
            </a:extLst>
          </p:cNvPr>
          <p:cNvSpPr>
            <a:spLocks noGrp="1"/>
          </p:cNvSpPr>
          <p:nvPr/>
        </p:nvSpPr>
        <p:spPr>
          <a:xfrm>
            <a:off x="476250" y="5249068"/>
            <a:ext cx="112395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10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0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2100" b="0" dirty="0">
                <a:solidFill>
                  <a:srgbClr val="0000FF"/>
                </a:solidFill>
                <a:latin typeface="Arial"/>
                <a:ea typeface="Arial"/>
                <a:cs typeface="Arial"/>
              </a:rPr>
              <a:t>Test values: 80, </a:t>
            </a:r>
            <a:r>
              <a:rPr lang="nb-NO" b="0" dirty="0" err="1"/>
              <a:t>nan</a:t>
            </a:r>
            <a:r>
              <a:rPr sz="2100" b="0" dirty="0">
                <a:solidFill>
                  <a:srgbClr val="0000FF"/>
                </a:solidFill>
                <a:latin typeface="Arial"/>
                <a:ea typeface="Arial"/>
                <a:cs typeface="Arial"/>
              </a:rPr>
              <a:t>. </a:t>
            </a:r>
            <a:endParaRPr lang="nb-NO" sz="2100" b="0" dirty="0">
              <a:solidFill>
                <a:srgbClr val="0000FF"/>
              </a:solidFill>
              <a:latin typeface="Arial"/>
              <a:ea typeface="Arial"/>
              <a:cs typeface="Arial"/>
            </a:endParaRPr>
          </a:p>
          <a:p>
            <a:pPr>
              <a:defRPr sz="210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2100" b="0" dirty="0">
                <a:solidFill>
                  <a:srgbClr val="0000FF"/>
                </a:solidFill>
                <a:latin typeface="Arial"/>
                <a:ea typeface="Arial"/>
                <a:cs typeface="Arial"/>
              </a:rPr>
              <a:t>Which value fills the gap?</a:t>
            </a:r>
          </a:p>
        </p:txBody>
      </p:sp>
    </p:spTree>
    <p:extLst>
      <p:ext uri="{BB962C8B-B14F-4D97-AF65-F5344CB8AC3E}">
        <p14:creationId xmlns:p14="http://schemas.microsoft.com/office/powerpoint/2010/main" val="1869665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7CC28-3E5A-52AE-275A-986A783B5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From manual filling to an imputer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55CE3-0359-8E98-CCB7-2176E7C66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GB" b="1" dirty="0" err="1"/>
              <a:t>SimpleImputer</a:t>
            </a:r>
            <a:r>
              <a:rPr lang="en-GB" b="1" dirty="0"/>
              <a:t> learns and stores one replacement value per column</a:t>
            </a:r>
            <a:r>
              <a:rPr lang="en-GB" dirty="0"/>
              <a:t>, according to the strategy you choose. For example, mean, median or most frequent value. </a:t>
            </a:r>
            <a:r>
              <a:rPr lang="en-GB" dirty="0">
                <a:hlinkClick r:id="rId3"/>
              </a:rPr>
              <a:t>scikit-learn documentation</a:t>
            </a:r>
            <a:endParaRPr lang="en-GB" dirty="0"/>
          </a:p>
          <a:p>
            <a:pPr rtl="0"/>
            <a:endParaRPr lang="en-GB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GB" dirty="0"/>
              <a:t>fit() stores the replacement values; it does not itself fill the gaps.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GB" dirty="0"/>
              <a:t>An imputer is a </a:t>
            </a:r>
            <a:r>
              <a:rPr lang="en-GB" b="1" dirty="0"/>
              <a:t>transformer</a:t>
            </a:r>
            <a:r>
              <a:rPr lang="en-GB" dirty="0"/>
              <a:t>: an object that changes the data.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07654D-0413-497A-4E88-C79D7CB34BB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GB"/>
              <a:t>29/10/2026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64EDC1-4A8E-74B9-D271-A92FA7F94E2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GB"/>
              <a:t>Data Science and Machine Learning for Geoscientists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836BDC-2658-063B-3866-C6F6BD2E88F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33</a:t>
            </a:fld>
            <a:endParaRPr lang="en-GB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2AE41AF4-3652-A278-2A3A-48D3BEC47BEB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pPr rtl="0"/>
            <a:r>
              <a:rPr lang="en-GB" dirty="0" err="1"/>
              <a:t>SimpleImputer</a:t>
            </a:r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B7024A9-9824-0685-7110-4B1022744A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20949826"/>
              </p:ext>
            </p:extLst>
          </p:nvPr>
        </p:nvGraphicFramePr>
        <p:xfrm>
          <a:off x="465233" y="2383313"/>
          <a:ext cx="11239500" cy="2428876"/>
        </p:xfrm>
        <a:graphic>
          <a:graphicData uri="http://schemas.openxmlformats.org/drawingml/2006/table">
            <a:tbl>
              <a:tblPr/>
              <a:tblGrid>
                <a:gridCol w="27968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426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7219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Method</a:t>
                      </a: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>
                      <a:solidFill>
                        <a:srgbClr val="D6E1E6"/>
                      </a:solidFill>
                      <a:prstDash val="soli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1231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chemeClr val="bg1"/>
                          </a:solidFill>
                        </a:rPr>
                        <a:t>Meaning for a mean imputer</a:t>
                      </a:r>
                      <a:endParaRPr sz="2000" b="1" dirty="0">
                        <a:solidFill>
                          <a:schemeClr val="bg1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>
                      <a:solidFill>
                        <a:srgbClr val="D6E1E6"/>
                      </a:solidFill>
                      <a:prstDash val="soli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1231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7219">
                <a:tc>
                  <a:txBody>
                    <a:bodyPr/>
                    <a:lstStyle/>
                    <a:p>
                      <a:r>
                        <a:rPr sz="2000" b="0" dirty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fit()</a:t>
                      </a: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Calculate and store the mean of each column from the training data</a:t>
                      </a:r>
                      <a:endParaRPr sz="2000" b="0" dirty="0">
                        <a:solidFill>
                          <a:srgbClr val="243746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7219">
                <a:tc>
                  <a:txBody>
                    <a:bodyPr/>
                    <a:lstStyle/>
                    <a:p>
                      <a:r>
                        <a:rPr sz="2000" b="0" dirty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transform()</a:t>
                      </a: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000" b="0" dirty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F</a:t>
                      </a:r>
                      <a:r>
                        <a:rPr lang="en-GB" sz="2000" dirty="0"/>
                        <a:t>ill missing values using those stored means</a:t>
                      </a:r>
                      <a:endParaRPr sz="2000" b="0" dirty="0">
                        <a:solidFill>
                          <a:srgbClr val="243746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7219">
                <a:tc>
                  <a:txBody>
                    <a:bodyPr/>
                    <a:lstStyle/>
                    <a:p>
                      <a:r>
                        <a:rPr sz="2000" b="0" dirty="0" err="1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fit_transform</a:t>
                      </a:r>
                      <a:r>
                        <a:rPr sz="2000" b="0" dirty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()</a:t>
                      </a: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Fit and then transform the same dataset</a:t>
                      </a:r>
                      <a:endParaRPr sz="2000" b="0" dirty="0">
                        <a:solidFill>
                          <a:srgbClr val="243746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2982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C4F36668-9440-2FC4-1A20-CEA2160E1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none" lIns="0" tIns="0" rIns="0" bIns="0">
            <a:noAutofit/>
          </a:bodyPr>
          <a:lstStyle>
            <a:def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  <a:lvl1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1pPr>
            <a:lvl2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2pPr>
            <a:lvl3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3pPr>
            <a:lvl4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4pPr>
            <a:lvl5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5pPr>
            <a:lvl6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6pPr>
            <a:lvl7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7pPr>
            <a:lvl8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8pPr>
            <a:lvl9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2640" b="1">
                <a:solidFill>
                  <a:srgbClr val="0000FF"/>
                </a:solidFill>
                <a:latin typeface="Arial"/>
                <a:ea typeface="Arial"/>
                <a:cs typeface="Arial"/>
              </a:rPr>
              <a:t>SimpleImputer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42358139-EACE-E729-C3E3-AD890A6D0F80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 wrap="none" lIns="0" tIns="0" rIns="0" bIns="0">
            <a:noAutofit/>
          </a:bodyPr>
          <a:lstStyle>
            <a:defPPr>
              <a:defRPr sz="2400">
                <a:solidFill>
                  <a:srgbClr val="8064FF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  <a:lvl2pPr marL="342882" indent="0" algn="ctr">
              <a:buNone/>
              <a:defRPr sz="15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2pPr>
            <a:lvl3pPr marL="685765" indent="0" algn="ctr">
              <a:buNone/>
              <a:defRPr sz="135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3pPr>
            <a:lvl4pPr marL="1028647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4pPr>
            <a:lvl5pPr marL="1371530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5pPr>
            <a:lvl6pPr marL="1714412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6pPr>
            <a:lvl7pPr marL="2057295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7pPr>
            <a:lvl8pPr marL="2400177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8pPr>
            <a:lvl9pPr marL="2743060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>
                <a:solidFill>
                  <a:srgbClr val="8064FF"/>
                </a:solidFill>
                <a:latin typeface="Arial"/>
                <a:ea typeface="Arial"/>
                <a:cs typeface="Arial"/>
              </a:defRPr>
            </a:pPr>
            <a:r>
              <a:rPr sz="2400" dirty="0">
                <a:solidFill>
                  <a:srgbClr val="8064FF"/>
                </a:solidFill>
                <a:latin typeface="Arial"/>
                <a:ea typeface="Arial"/>
                <a:cs typeface="Arial"/>
              </a:rPr>
              <a:t>One fitted object, two datasets</a:t>
            </a:r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3FDBFEE-0509-16B7-5DAE-5E0DB02DD78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Data Science and Machine Learning for Geoscientists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7EAB126A-2C1E-4241-BBEB-C3AA6FE622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6DF2BE2-2DFA-1C03-677D-BDC2260D6D92}" type="slidenum">
              <a:rPr/>
              <a:t>34</a:t>
            </a:fld>
            <a:endParaRPr/>
          </a:p>
        </p:txBody>
      </p:sp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BAA156BD-F388-30EA-2720-04061953B80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GB"/>
              <a:t>29/10/2026</a:t>
            </a:r>
            <a:endParaRPr/>
          </a:p>
        </p:txBody>
      </p:sp>
      <p:sp>
        <p:nvSpPr>
          <p:cNvPr id="6" name="content-5">
            <a:extLst>
              <a:ext uri="{FF2B5EF4-FFF2-40B4-BE49-F238E27FC236}">
                <a16:creationId xmlns:a16="http://schemas.microsoft.com/office/drawing/2014/main" id="{9E6DF43F-99B0-4919-AAAC-EFD003B1A725}"/>
              </a:ext>
            </a:extLst>
          </p:cNvPr>
          <p:cNvSpPr>
            <a:spLocks noGrp="1"/>
          </p:cNvSpPr>
          <p:nvPr/>
        </p:nvSpPr>
        <p:spPr>
          <a:xfrm>
            <a:off x="476250" y="6010275"/>
            <a:ext cx="11144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E87"/>
                </a:solidFill>
                <a:latin typeface="Arial"/>
                <a:ea typeface="Arial"/>
                <a:cs typeface="Arial"/>
                <a:hlinkClick r:id="rId3"/>
              </a:rPr>
              <a:t>scikit-learn: SimpleImputer</a:t>
            </a:r>
          </a:p>
        </p:txBody>
      </p:sp>
      <p:sp>
        <p:nvSpPr>
          <p:cNvPr id="7" name="content-6">
            <a:extLst>
              <a:ext uri="{FF2B5EF4-FFF2-40B4-BE49-F238E27FC236}">
                <a16:creationId xmlns:a16="http://schemas.microsoft.com/office/drawing/2014/main" id="{72420ED2-242F-4F5E-8887-0E674A999681}"/>
              </a:ext>
            </a:extLst>
          </p:cNvPr>
          <p:cNvSpPr>
            <a:spLocks noGrp="1"/>
          </p:cNvSpPr>
          <p:nvPr/>
        </p:nvSpPr>
        <p:spPr>
          <a:xfrm>
            <a:off x="476250" y="1571625"/>
            <a:ext cx="11239500" cy="3476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02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defPPr>
            <a:lvl1pPr>
              <a:defRPr sz="202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lvl1pPr>
            <a:lvl2pPr>
              <a:defRPr sz="202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lvl2pPr>
            <a:lvl3pPr>
              <a:defRPr sz="202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lvl3pPr>
            <a:lvl4pPr>
              <a:defRPr sz="202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lvl4pPr>
            <a:lvl5pPr>
              <a:defRPr sz="202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lvl5pPr>
            <a:lvl6pPr>
              <a:defRPr sz="202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lvl6pPr>
            <a:lvl7pPr>
              <a:defRPr sz="202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lvl7pPr>
            <a:lvl8pPr>
              <a:defRPr sz="202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lvl8pPr>
            <a:lvl9pPr>
              <a:defRPr sz="202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lvl9pPr>
          </a:lstStyle>
          <a:p>
            <a:pPr>
              <a:defRPr sz="202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sz="2025" b="0" dirty="0">
                <a:solidFill>
                  <a:srgbClr val="12314A"/>
                </a:solidFill>
                <a:latin typeface="Menlo"/>
                <a:ea typeface="Menlo"/>
                <a:cs typeface="Menlo"/>
              </a:rPr>
              <a:t>from </a:t>
            </a:r>
            <a:r>
              <a:rPr sz="2025" b="0" dirty="0" err="1">
                <a:solidFill>
                  <a:srgbClr val="12314A"/>
                </a:solidFill>
                <a:latin typeface="Menlo"/>
                <a:ea typeface="Menlo"/>
                <a:cs typeface="Menlo"/>
              </a:rPr>
              <a:t>sklearn.impute</a:t>
            </a:r>
            <a:r>
              <a:rPr sz="2025" b="0" dirty="0">
                <a:solidFill>
                  <a:srgbClr val="12314A"/>
                </a:solidFill>
                <a:latin typeface="Menlo"/>
                <a:ea typeface="Menlo"/>
                <a:cs typeface="Menlo"/>
              </a:rPr>
              <a:t> import </a:t>
            </a:r>
            <a:r>
              <a:rPr sz="2025" b="0" dirty="0" err="1">
                <a:solidFill>
                  <a:srgbClr val="12314A"/>
                </a:solidFill>
                <a:latin typeface="Menlo"/>
                <a:ea typeface="Menlo"/>
                <a:cs typeface="Menlo"/>
              </a:rPr>
              <a:t>SimpleImputer</a:t>
            </a:r>
            <a:endParaRPr sz="2025" b="0" dirty="0">
              <a:solidFill>
                <a:srgbClr val="12314A"/>
              </a:solidFill>
              <a:latin typeface="Menlo"/>
              <a:ea typeface="Menlo"/>
              <a:cs typeface="Menlo"/>
            </a:endParaRPr>
          </a:p>
          <a:p>
            <a:endParaRPr sz="2025" b="0" dirty="0">
              <a:solidFill>
                <a:srgbClr val="12314A"/>
              </a:solidFill>
              <a:latin typeface="Menlo"/>
              <a:ea typeface="Menlo"/>
              <a:cs typeface="Menlo"/>
            </a:endParaRPr>
          </a:p>
          <a:p>
            <a:pPr>
              <a:defRPr sz="202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sz="2025" b="0" dirty="0">
                <a:solidFill>
                  <a:srgbClr val="12314A"/>
                </a:solidFill>
                <a:latin typeface="Menlo"/>
                <a:ea typeface="Menlo"/>
                <a:cs typeface="Menlo"/>
              </a:rPr>
              <a:t>imputer = </a:t>
            </a:r>
            <a:r>
              <a:rPr sz="2025" b="0" dirty="0" err="1">
                <a:solidFill>
                  <a:srgbClr val="12314A"/>
                </a:solidFill>
                <a:latin typeface="Menlo"/>
                <a:ea typeface="Menlo"/>
                <a:cs typeface="Menlo"/>
              </a:rPr>
              <a:t>SimpleImputer</a:t>
            </a:r>
            <a:r>
              <a:rPr sz="2025" b="0" dirty="0">
                <a:solidFill>
                  <a:srgbClr val="12314A"/>
                </a:solidFill>
                <a:latin typeface="Menlo"/>
                <a:ea typeface="Menlo"/>
                <a:cs typeface="Menlo"/>
              </a:rPr>
              <a:t>(strategy="mean")</a:t>
            </a:r>
          </a:p>
          <a:p>
            <a:pPr>
              <a:defRPr sz="202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sz="2025" b="0" dirty="0" err="1">
                <a:solidFill>
                  <a:srgbClr val="12314A"/>
                </a:solidFill>
                <a:latin typeface="Menlo"/>
                <a:ea typeface="Menlo"/>
                <a:cs typeface="Menlo"/>
              </a:rPr>
              <a:t>imputer.fit</a:t>
            </a:r>
            <a:r>
              <a:rPr sz="2025" b="0" dirty="0">
                <a:solidFill>
                  <a:srgbClr val="12314A"/>
                </a:solidFill>
                <a:latin typeface="Menlo"/>
                <a:ea typeface="Menlo"/>
                <a:cs typeface="Menlo"/>
              </a:rPr>
              <a:t>(train)</a:t>
            </a:r>
          </a:p>
          <a:p>
            <a:endParaRPr sz="2025" b="0" dirty="0">
              <a:solidFill>
                <a:srgbClr val="12314A"/>
              </a:solidFill>
              <a:latin typeface="Menlo"/>
              <a:ea typeface="Menlo"/>
              <a:cs typeface="Menlo"/>
            </a:endParaRPr>
          </a:p>
          <a:p>
            <a:pPr>
              <a:defRPr sz="202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sz="2025" b="0" dirty="0" err="1">
                <a:solidFill>
                  <a:srgbClr val="12314A"/>
                </a:solidFill>
                <a:latin typeface="Menlo"/>
                <a:ea typeface="Menlo"/>
                <a:cs typeface="Menlo"/>
              </a:rPr>
              <a:t>train_filled</a:t>
            </a:r>
            <a:r>
              <a:rPr sz="2025" b="0" dirty="0">
                <a:solidFill>
                  <a:srgbClr val="12314A"/>
                </a:solidFill>
                <a:latin typeface="Menlo"/>
                <a:ea typeface="Menlo"/>
                <a:cs typeface="Menlo"/>
              </a:rPr>
              <a:t> = </a:t>
            </a:r>
            <a:r>
              <a:rPr sz="2025" b="0" dirty="0" err="1">
                <a:solidFill>
                  <a:srgbClr val="12314A"/>
                </a:solidFill>
                <a:latin typeface="Menlo"/>
                <a:ea typeface="Menlo"/>
                <a:cs typeface="Menlo"/>
              </a:rPr>
              <a:t>imputer.transform</a:t>
            </a:r>
            <a:r>
              <a:rPr sz="2025" b="0" dirty="0">
                <a:solidFill>
                  <a:srgbClr val="12314A"/>
                </a:solidFill>
                <a:latin typeface="Menlo"/>
                <a:ea typeface="Menlo"/>
                <a:cs typeface="Menlo"/>
              </a:rPr>
              <a:t>(train)</a:t>
            </a:r>
          </a:p>
          <a:p>
            <a:pPr>
              <a:defRPr sz="202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sz="2025" b="0" dirty="0" err="1">
                <a:solidFill>
                  <a:srgbClr val="12314A"/>
                </a:solidFill>
                <a:latin typeface="Menlo"/>
                <a:ea typeface="Menlo"/>
                <a:cs typeface="Menlo"/>
              </a:rPr>
              <a:t>test_filled</a:t>
            </a:r>
            <a:r>
              <a:rPr sz="2025" b="0" dirty="0">
                <a:solidFill>
                  <a:srgbClr val="12314A"/>
                </a:solidFill>
                <a:latin typeface="Menlo"/>
                <a:ea typeface="Menlo"/>
                <a:cs typeface="Menlo"/>
              </a:rPr>
              <a:t> = </a:t>
            </a:r>
            <a:r>
              <a:rPr sz="2025" b="0" dirty="0" err="1">
                <a:solidFill>
                  <a:srgbClr val="12314A"/>
                </a:solidFill>
                <a:latin typeface="Menlo"/>
                <a:ea typeface="Menlo"/>
                <a:cs typeface="Menlo"/>
              </a:rPr>
              <a:t>imputer.transform</a:t>
            </a:r>
            <a:r>
              <a:rPr sz="2025" b="0" dirty="0">
                <a:solidFill>
                  <a:srgbClr val="12314A"/>
                </a:solidFill>
                <a:latin typeface="Menlo"/>
                <a:ea typeface="Menlo"/>
                <a:cs typeface="Menlo"/>
              </a:rPr>
              <a:t>(test)</a:t>
            </a:r>
          </a:p>
          <a:p>
            <a:endParaRPr sz="2025" b="0" dirty="0">
              <a:solidFill>
                <a:srgbClr val="12314A"/>
              </a:solidFill>
              <a:latin typeface="Menlo"/>
              <a:ea typeface="Menlo"/>
              <a:cs typeface="Menlo"/>
            </a:endParaRPr>
          </a:p>
          <a:p>
            <a:pPr>
              <a:defRPr sz="202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endParaRPr lang="en-GB" dirty="0"/>
          </a:p>
          <a:p>
            <a:pPr>
              <a:defRPr sz="202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lang="en-GB" dirty="0">
                <a:latin typeface="+mn-lt"/>
              </a:rPr>
              <a:t>Should we call fit() again on the test set?</a:t>
            </a:r>
          </a:p>
          <a:p>
            <a:pPr>
              <a:defRPr sz="202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endParaRPr lang="en-GB" dirty="0">
              <a:latin typeface="+mn-lt"/>
            </a:endParaRPr>
          </a:p>
          <a:p>
            <a:pPr>
              <a:defRPr sz="202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lang="en-GB" sz="1800" b="1" dirty="0">
                <a:latin typeface="+mn-lt"/>
              </a:rPr>
              <a:t>No.</a:t>
            </a:r>
            <a:r>
              <a:rPr lang="en-GB" sz="1800" dirty="0">
                <a:latin typeface="+mn-lt"/>
              </a:rPr>
              <a:t> That would calculate new replacement values from the test data. </a:t>
            </a:r>
          </a:p>
          <a:p>
            <a:pPr>
              <a:defRPr sz="2025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lang="en-GB" sz="1800" dirty="0">
                <a:latin typeface="+mn-lt"/>
              </a:rPr>
              <a:t>We use </a:t>
            </a:r>
            <a:r>
              <a:rPr lang="en-GB" sz="1800" b="1" dirty="0">
                <a:latin typeface="+mn-lt"/>
              </a:rPr>
              <a:t>transform()</a:t>
            </a:r>
            <a:r>
              <a:rPr lang="en-GB" sz="1800" dirty="0">
                <a:latin typeface="+mn-lt"/>
              </a:rPr>
              <a:t> to apply what we already learned from the training set.</a:t>
            </a:r>
            <a:endParaRPr sz="1800" b="0" dirty="0">
              <a:solidFill>
                <a:srgbClr val="12314A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66500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C4F36668-9440-2FC4-1A20-CEA2160E1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none" lIns="0" tIns="0" rIns="0" bIns="0">
            <a:noAutofit/>
          </a:bodyPr>
          <a:lstStyle>
            <a:def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  <a:lvl1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1pPr>
            <a:lvl2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2pPr>
            <a:lvl3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3pPr>
            <a:lvl4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4pPr>
            <a:lvl5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5pPr>
            <a:lvl6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6pPr>
            <a:lvl7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7pPr>
            <a:lvl8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8pPr>
            <a:lvl9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lang="en-GB" sz="2600" dirty="0"/>
              <a:t>Why do we scale numerical features?</a:t>
            </a:r>
            <a:endParaRPr sz="2600" b="1" dirty="0">
              <a:solidFill>
                <a:srgbClr val="0000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42358139-EACE-E729-C3E3-AD890A6D0F80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 wrap="none" lIns="0" tIns="0" rIns="0" bIns="0">
            <a:noAutofit/>
          </a:bodyPr>
          <a:lstStyle>
            <a:defPPr>
              <a:defRPr sz="2400">
                <a:solidFill>
                  <a:srgbClr val="8064FF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  <a:lvl2pPr marL="342882" indent="0" algn="ctr">
              <a:buNone/>
              <a:defRPr sz="15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2pPr>
            <a:lvl3pPr marL="685765" indent="0" algn="ctr">
              <a:buNone/>
              <a:defRPr sz="135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3pPr>
            <a:lvl4pPr marL="1028647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4pPr>
            <a:lvl5pPr marL="1371530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5pPr>
            <a:lvl6pPr marL="1714412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6pPr>
            <a:lvl7pPr marL="2057295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7pPr>
            <a:lvl8pPr marL="2400177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8pPr>
            <a:lvl9pPr marL="2743060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9pPr>
          </a:lstStyle>
          <a:p>
            <a:pPr rtl="0">
              <a:defRPr sz="2400">
                <a:solidFill>
                  <a:srgbClr val="8064FF"/>
                </a:solidFill>
                <a:latin typeface="Arial"/>
                <a:ea typeface="Arial"/>
                <a:cs typeface="Arial"/>
              </a:defRPr>
            </a:pPr>
            <a:r>
              <a:rPr lang="en-GB" sz="2400" dirty="0"/>
              <a:t>Different units can give variables unequal influence</a:t>
            </a:r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3FDBFEE-0509-16B7-5DAE-5E0DB02DD78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Data Science and Machine Learning for Geoscientists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7EAB126A-2C1E-4241-BBEB-C3AA6FE622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4E99CEF-AF55-BA3C-ADF8-4E52E186DD8F}" type="slidenum">
              <a:rPr/>
              <a:t>35</a:t>
            </a:fld>
            <a:endParaRPr/>
          </a:p>
        </p:txBody>
      </p:sp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BAA156BD-F388-30EA-2720-04061953B80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GB"/>
              <a:t>29/10/2026</a:t>
            </a:r>
            <a:endParaRPr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121AE71-0D01-4BD8-B8A0-D093B48F5C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03042075"/>
              </p:ext>
            </p:extLst>
          </p:nvPr>
        </p:nvGraphicFramePr>
        <p:xfrm>
          <a:off x="476250" y="2074640"/>
          <a:ext cx="11239500" cy="2095500"/>
        </p:xfrm>
        <a:graphic>
          <a:graphicData uri="http://schemas.openxmlformats.org/drawingml/2006/table">
            <a:tbl>
              <a:tblPr/>
              <a:tblGrid>
                <a:gridCol w="581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4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85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Feature difference</a:t>
                      </a: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>
                      <a:solidFill>
                        <a:srgbClr val="D6E1E6"/>
                      </a:solidFill>
                      <a:prstDash val="soli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1231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Numeric difference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>
                      <a:solidFill>
                        <a:srgbClr val="D6E1E6"/>
                      </a:solidFill>
                      <a:prstDash val="soli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1231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Squared difference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>
                      <a:solidFill>
                        <a:srgbClr val="D6E1E6"/>
                      </a:solidFill>
                      <a:prstDash val="soli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1231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Depth: 100 m</a:t>
                      </a: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100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10,000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Porosity: 5 percentage points</a:t>
                      </a: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 dirty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25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55EC80E0-D686-F8CD-A239-B3B9CF026606}"/>
              </a:ext>
            </a:extLst>
          </p:cNvPr>
          <p:cNvSpPr txBox="1"/>
          <p:nvPr/>
        </p:nvSpPr>
        <p:spPr>
          <a:xfrm>
            <a:off x="476250" y="1175591"/>
            <a:ext cx="104577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defTabSz="914353" rtl="0">
              <a:buNone/>
            </a:pPr>
            <a:r>
              <a:rPr lang="en-GB" dirty="0"/>
              <a:t>Some machine-learning methods compare samples using numerical distances. A variable with larger numerical differences can dominate that distance, even when it is not more informative.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C57FEA-F5F6-1817-8DC5-D17A7CDEB83E}"/>
              </a:ext>
            </a:extLst>
          </p:cNvPr>
          <p:cNvSpPr txBox="1"/>
          <p:nvPr/>
        </p:nvSpPr>
        <p:spPr>
          <a:xfrm>
            <a:off x="476250" y="4422858"/>
            <a:ext cx="6099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defTabSz="914353" rtl="0">
              <a:buNone/>
            </a:pPr>
            <a:r>
              <a:rPr lang="en-GB"/>
              <a:t>What happens if we express depth in kilometres?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958D24-D190-5AA7-64DB-C04CD2E2B31F}"/>
              </a:ext>
            </a:extLst>
          </p:cNvPr>
          <p:cNvSpPr txBox="1"/>
          <p:nvPr/>
        </p:nvSpPr>
        <p:spPr>
          <a:xfrm>
            <a:off x="476251" y="4897613"/>
            <a:ext cx="1114424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 defTabSz="914353" rtl="0">
              <a:buFont typeface="Arial" panose="020B0604020202020204" pitchFamily="34" charset="0"/>
              <a:buChar char="•"/>
            </a:pPr>
            <a:r>
              <a:rPr lang="en-GB" dirty="0"/>
              <a:t>The same depth difference becomes 0.1 km, and its squared becomes 0.01. </a:t>
            </a:r>
          </a:p>
          <a:p>
            <a:pPr marL="285750" indent="-285750" algn="l" defTabSz="914353" rtl="0">
              <a:buFont typeface="Arial" panose="020B0604020202020204" pitchFamily="34" charset="0"/>
              <a:buChar char="•"/>
            </a:pPr>
            <a:r>
              <a:rPr lang="en-GB" dirty="0"/>
              <a:t>Nothing about the samples has changed, but their calculated distance changes dramatically. </a:t>
            </a:r>
          </a:p>
          <a:p>
            <a:pPr marL="285750" indent="-285750" algn="l" defTabSz="914353" rtl="0">
              <a:buFont typeface="Arial" panose="020B0604020202020204" pitchFamily="34" charset="0"/>
              <a:buChar char="•"/>
            </a:pPr>
            <a:r>
              <a:rPr lang="en-GB" dirty="0"/>
              <a:t>We do not want our choice of units to determine which variable dominates.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49736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C4F36668-9440-2FC4-1A20-CEA2160E1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none" lIns="0" tIns="0" rIns="0" bIns="0">
            <a:noAutofit/>
          </a:bodyPr>
          <a:lstStyle>
            <a:def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  <a:lvl1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1pPr>
            <a:lvl2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2pPr>
            <a:lvl3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3pPr>
            <a:lvl4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4pPr>
            <a:lvl5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5pPr>
            <a:lvl6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6pPr>
            <a:lvl7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7pPr>
            <a:lvl8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8pPr>
            <a:lvl9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2640" b="1">
                <a:solidFill>
                  <a:srgbClr val="0000FF"/>
                </a:solidFill>
                <a:latin typeface="Arial"/>
                <a:ea typeface="Arial"/>
                <a:cs typeface="Arial"/>
              </a:rPr>
              <a:t>StandardScaler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42358139-EACE-E729-C3E3-AD890A6D0F80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 wrap="none" lIns="0" tIns="0" rIns="0" bIns="0">
            <a:noAutofit/>
          </a:bodyPr>
          <a:lstStyle>
            <a:defPPr>
              <a:defRPr sz="2400">
                <a:solidFill>
                  <a:srgbClr val="8064FF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  <a:lvl2pPr marL="342882" indent="0" algn="ctr">
              <a:buNone/>
              <a:defRPr sz="15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2pPr>
            <a:lvl3pPr marL="685765" indent="0" algn="ctr">
              <a:buNone/>
              <a:defRPr sz="135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3pPr>
            <a:lvl4pPr marL="1028647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4pPr>
            <a:lvl5pPr marL="1371530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5pPr>
            <a:lvl6pPr marL="1714412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6pPr>
            <a:lvl7pPr marL="2057295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7pPr>
            <a:lvl8pPr marL="2400177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8pPr>
            <a:lvl9pPr marL="2743060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>
                <a:solidFill>
                  <a:srgbClr val="8064FF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8064FF"/>
                </a:solidFill>
                <a:latin typeface="Arial"/>
                <a:ea typeface="Arial"/>
                <a:cs typeface="Arial"/>
              </a:rPr>
              <a:t>Centre and scale using training statistics</a:t>
            </a:r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3FDBFEE-0509-16B7-5DAE-5E0DB02DD78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Data Science and Machine Learning for Geoscientists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7EAB126A-2C1E-4241-BBEB-C3AA6FE622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A59AF09-D197-0193-A7DE-FAAF0B691058}" type="slidenum">
              <a:rPr/>
              <a:t>36</a:t>
            </a:fld>
            <a:endParaRPr/>
          </a:p>
        </p:txBody>
      </p:sp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BAA156BD-F388-30EA-2720-04061953B80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GB"/>
              <a:t>29/10/2026</a:t>
            </a:r>
            <a:endParaRPr/>
          </a:p>
        </p:txBody>
      </p:sp>
      <p:sp>
        <p:nvSpPr>
          <p:cNvPr id="6" name="content-5">
            <a:extLst>
              <a:ext uri="{FF2B5EF4-FFF2-40B4-BE49-F238E27FC236}">
                <a16:creationId xmlns:a16="http://schemas.microsoft.com/office/drawing/2014/main" id="{A9BCA55E-E838-4122-8F58-14FF32456417}"/>
              </a:ext>
            </a:extLst>
          </p:cNvPr>
          <p:cNvSpPr>
            <a:spLocks noGrp="1"/>
          </p:cNvSpPr>
          <p:nvPr/>
        </p:nvSpPr>
        <p:spPr>
          <a:xfrm>
            <a:off x="476250" y="6010275"/>
            <a:ext cx="11144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E87"/>
                </a:solidFill>
                <a:latin typeface="Arial"/>
                <a:ea typeface="Arial"/>
                <a:cs typeface="Arial"/>
                <a:hlinkClick r:id="rId3"/>
              </a:rPr>
              <a:t>scikit-learn: StandardScaler</a:t>
            </a:r>
          </a:p>
        </p:txBody>
      </p:sp>
      <p:sp>
        <p:nvSpPr>
          <p:cNvPr id="7" name="content-6">
            <a:extLst>
              <a:ext uri="{FF2B5EF4-FFF2-40B4-BE49-F238E27FC236}">
                <a16:creationId xmlns:a16="http://schemas.microsoft.com/office/drawing/2014/main" id="{F42A3792-FC09-4E95-B1B5-AF59065CB6D3}"/>
              </a:ext>
            </a:extLst>
          </p:cNvPr>
          <p:cNvSpPr>
            <a:spLocks noGrp="1"/>
          </p:cNvSpPr>
          <p:nvPr/>
        </p:nvSpPr>
        <p:spPr>
          <a:xfrm>
            <a:off x="476250" y="1571625"/>
            <a:ext cx="112395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400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pPr>
            <a:r>
              <a:rPr sz="2000" b="1" dirty="0">
                <a:solidFill>
                  <a:srgbClr val="12314A"/>
                </a:solidFill>
                <a:latin typeface="Arial"/>
                <a:ea typeface="Arial"/>
                <a:cs typeface="Arial"/>
              </a:rPr>
              <a:t>z = (x − training mean) / training standard deviation</a:t>
            </a:r>
          </a:p>
        </p:txBody>
      </p:sp>
      <p:sp>
        <p:nvSpPr>
          <p:cNvPr id="8" name="content-7">
            <a:extLst>
              <a:ext uri="{FF2B5EF4-FFF2-40B4-BE49-F238E27FC236}">
                <a16:creationId xmlns:a16="http://schemas.microsoft.com/office/drawing/2014/main" id="{DE9CEBB8-A0EE-43E8-9BAB-849AAFEC77AA}"/>
              </a:ext>
            </a:extLst>
          </p:cNvPr>
          <p:cNvSpPr>
            <a:spLocks noGrp="1"/>
          </p:cNvSpPr>
          <p:nvPr/>
        </p:nvSpPr>
        <p:spPr>
          <a:xfrm>
            <a:off x="381000" y="2283652"/>
            <a:ext cx="11239500" cy="2190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95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defPPr>
            <a:lvl1pPr>
              <a:defRPr sz="195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lvl1pPr>
            <a:lvl2pPr>
              <a:defRPr sz="195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lvl2pPr>
            <a:lvl3pPr>
              <a:defRPr sz="195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lvl3pPr>
            <a:lvl4pPr>
              <a:defRPr sz="195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lvl4pPr>
            <a:lvl5pPr>
              <a:defRPr sz="195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lvl5pPr>
            <a:lvl6pPr>
              <a:defRPr sz="195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lvl6pPr>
            <a:lvl7pPr>
              <a:defRPr sz="195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lvl7pPr>
            <a:lvl8pPr>
              <a:defRPr sz="195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lvl8pPr>
            <a:lvl9pPr>
              <a:defRPr sz="195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lvl9pPr>
          </a:lstStyle>
          <a:p>
            <a:pPr>
              <a:defRPr sz="195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sz="1950" b="0" dirty="0">
                <a:solidFill>
                  <a:srgbClr val="12314A"/>
                </a:solidFill>
                <a:latin typeface="Menlo"/>
                <a:ea typeface="Menlo"/>
                <a:cs typeface="Menlo"/>
              </a:rPr>
              <a:t>from </a:t>
            </a:r>
            <a:r>
              <a:rPr sz="1950" b="0" dirty="0" err="1">
                <a:solidFill>
                  <a:srgbClr val="12314A"/>
                </a:solidFill>
                <a:latin typeface="Menlo"/>
                <a:ea typeface="Menlo"/>
                <a:cs typeface="Menlo"/>
              </a:rPr>
              <a:t>sklearn.preprocessing</a:t>
            </a:r>
            <a:r>
              <a:rPr sz="1950" b="0" dirty="0">
                <a:solidFill>
                  <a:srgbClr val="12314A"/>
                </a:solidFill>
                <a:latin typeface="Menlo"/>
                <a:ea typeface="Menlo"/>
                <a:cs typeface="Menlo"/>
              </a:rPr>
              <a:t> import </a:t>
            </a:r>
            <a:r>
              <a:rPr sz="1950" b="0" dirty="0" err="1">
                <a:solidFill>
                  <a:srgbClr val="12314A"/>
                </a:solidFill>
                <a:latin typeface="Menlo"/>
                <a:ea typeface="Menlo"/>
                <a:cs typeface="Menlo"/>
              </a:rPr>
              <a:t>StandardScaler</a:t>
            </a:r>
            <a:endParaRPr sz="1950" b="0" dirty="0">
              <a:solidFill>
                <a:srgbClr val="12314A"/>
              </a:solidFill>
              <a:latin typeface="Menlo"/>
              <a:ea typeface="Menlo"/>
              <a:cs typeface="Menlo"/>
            </a:endParaRPr>
          </a:p>
          <a:p>
            <a:endParaRPr sz="1950" b="0" dirty="0">
              <a:solidFill>
                <a:srgbClr val="12314A"/>
              </a:solidFill>
              <a:latin typeface="Menlo"/>
              <a:ea typeface="Menlo"/>
              <a:cs typeface="Menlo"/>
            </a:endParaRPr>
          </a:p>
          <a:p>
            <a:pPr>
              <a:defRPr sz="195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sz="1950" b="0" dirty="0">
                <a:solidFill>
                  <a:srgbClr val="12314A"/>
                </a:solidFill>
                <a:latin typeface="Menlo"/>
                <a:ea typeface="Menlo"/>
                <a:cs typeface="Menlo"/>
              </a:rPr>
              <a:t>scaler = </a:t>
            </a:r>
            <a:r>
              <a:rPr sz="1950" b="0" dirty="0" err="1">
                <a:solidFill>
                  <a:srgbClr val="12314A"/>
                </a:solidFill>
                <a:latin typeface="Menlo"/>
                <a:ea typeface="Menlo"/>
                <a:cs typeface="Menlo"/>
              </a:rPr>
              <a:t>StandardScaler</a:t>
            </a:r>
            <a:r>
              <a:rPr sz="1950" b="0" dirty="0">
                <a:solidFill>
                  <a:srgbClr val="12314A"/>
                </a:solidFill>
                <a:latin typeface="Menlo"/>
                <a:ea typeface="Menlo"/>
                <a:cs typeface="Menlo"/>
              </a:rPr>
              <a:t>()</a:t>
            </a:r>
          </a:p>
          <a:p>
            <a:pPr>
              <a:defRPr sz="195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sz="1950" b="0" dirty="0" err="1">
                <a:solidFill>
                  <a:srgbClr val="12314A"/>
                </a:solidFill>
                <a:latin typeface="Menlo"/>
                <a:ea typeface="Menlo"/>
                <a:cs typeface="Menlo"/>
              </a:rPr>
              <a:t>train_scaled</a:t>
            </a:r>
            <a:r>
              <a:rPr sz="1950" b="0" dirty="0">
                <a:solidFill>
                  <a:srgbClr val="12314A"/>
                </a:solidFill>
                <a:latin typeface="Menlo"/>
                <a:ea typeface="Menlo"/>
                <a:cs typeface="Menlo"/>
              </a:rPr>
              <a:t> = </a:t>
            </a:r>
            <a:r>
              <a:rPr sz="1950" b="0" dirty="0" err="1">
                <a:solidFill>
                  <a:srgbClr val="12314A"/>
                </a:solidFill>
                <a:latin typeface="Menlo"/>
                <a:ea typeface="Menlo"/>
                <a:cs typeface="Menlo"/>
              </a:rPr>
              <a:t>scaler.fit_transform</a:t>
            </a:r>
            <a:r>
              <a:rPr sz="1950" b="0" dirty="0">
                <a:solidFill>
                  <a:srgbClr val="12314A"/>
                </a:solidFill>
                <a:latin typeface="Menlo"/>
                <a:ea typeface="Menlo"/>
                <a:cs typeface="Menlo"/>
              </a:rPr>
              <a:t>(</a:t>
            </a:r>
            <a:r>
              <a:rPr sz="1950" b="0" dirty="0" err="1">
                <a:solidFill>
                  <a:srgbClr val="12314A"/>
                </a:solidFill>
                <a:latin typeface="Menlo"/>
                <a:ea typeface="Menlo"/>
                <a:cs typeface="Menlo"/>
              </a:rPr>
              <a:t>train_filled</a:t>
            </a:r>
            <a:r>
              <a:rPr sz="1950" b="0" dirty="0">
                <a:solidFill>
                  <a:srgbClr val="12314A"/>
                </a:solidFill>
                <a:latin typeface="Menlo"/>
                <a:ea typeface="Menlo"/>
                <a:cs typeface="Menlo"/>
              </a:rPr>
              <a:t>)</a:t>
            </a:r>
          </a:p>
          <a:p>
            <a:pPr>
              <a:defRPr sz="195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sz="1950" b="0" dirty="0" err="1">
                <a:solidFill>
                  <a:srgbClr val="12314A"/>
                </a:solidFill>
                <a:latin typeface="Menlo"/>
                <a:ea typeface="Menlo"/>
                <a:cs typeface="Menlo"/>
              </a:rPr>
              <a:t>test_scaled</a:t>
            </a:r>
            <a:r>
              <a:rPr sz="1950" b="0" dirty="0">
                <a:solidFill>
                  <a:srgbClr val="12314A"/>
                </a:solidFill>
                <a:latin typeface="Menlo"/>
                <a:ea typeface="Menlo"/>
                <a:cs typeface="Menlo"/>
              </a:rPr>
              <a:t> = </a:t>
            </a:r>
            <a:r>
              <a:rPr sz="1950" b="0" dirty="0" err="1">
                <a:solidFill>
                  <a:srgbClr val="12314A"/>
                </a:solidFill>
                <a:latin typeface="Menlo"/>
                <a:ea typeface="Menlo"/>
                <a:cs typeface="Menlo"/>
              </a:rPr>
              <a:t>scaler.transform</a:t>
            </a:r>
            <a:r>
              <a:rPr sz="1950" b="0" dirty="0">
                <a:solidFill>
                  <a:srgbClr val="12314A"/>
                </a:solidFill>
                <a:latin typeface="Menlo"/>
                <a:ea typeface="Menlo"/>
                <a:cs typeface="Menlo"/>
              </a:rPr>
              <a:t>(</a:t>
            </a:r>
            <a:r>
              <a:rPr sz="1950" b="0" dirty="0" err="1">
                <a:solidFill>
                  <a:srgbClr val="12314A"/>
                </a:solidFill>
                <a:latin typeface="Menlo"/>
                <a:ea typeface="Menlo"/>
                <a:cs typeface="Menlo"/>
              </a:rPr>
              <a:t>test_filled</a:t>
            </a:r>
            <a:r>
              <a:rPr sz="1950" b="0" dirty="0">
                <a:solidFill>
                  <a:srgbClr val="12314A"/>
                </a:solidFill>
                <a:latin typeface="Menlo"/>
                <a:ea typeface="Menlo"/>
                <a:cs typeface="Menlo"/>
              </a:rPr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228334-3476-42A0-6525-A3DCF2C1E4D1}"/>
              </a:ext>
            </a:extLst>
          </p:cNvPr>
          <p:cNvSpPr txBox="1"/>
          <p:nvPr/>
        </p:nvSpPr>
        <p:spPr>
          <a:xfrm>
            <a:off x="317258" y="4319008"/>
            <a:ext cx="1032409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 defTabSz="914353" rtl="0">
              <a:buFont typeface="Arial" panose="020B0604020202020204" pitchFamily="34" charset="0"/>
              <a:buChar char="•"/>
            </a:pPr>
            <a:r>
              <a:rPr lang="en-GB" dirty="0"/>
              <a:t>The training columns become approximately mean 0 and standard deviation 1; </a:t>
            </a:r>
          </a:p>
          <a:p>
            <a:pPr marL="285750" indent="-285750" algn="l" defTabSz="914353" rtl="0">
              <a:buFont typeface="Arial" panose="020B0604020202020204" pitchFamily="34" charset="0"/>
              <a:buChar char="•"/>
            </a:pPr>
            <a:r>
              <a:rPr lang="en-GB" dirty="0"/>
              <a:t>The test columns do not necessarily have those exact summaries.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GB" dirty="0"/>
              <a:t>A negative standardized value means below the training mean, not physically negative porosity.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688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C4F36668-9440-2FC4-1A20-CEA2160E1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none" lIns="0" tIns="0" rIns="0" bIns="0">
            <a:noAutofit/>
          </a:bodyPr>
          <a:lstStyle>
            <a:def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  <a:lvl1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1pPr>
            <a:lvl2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2pPr>
            <a:lvl3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3pPr>
            <a:lvl4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4pPr>
            <a:lvl5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5pPr>
            <a:lvl6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6pPr>
            <a:lvl7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7pPr>
            <a:lvl8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8pPr>
            <a:lvl9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2640" b="1">
                <a:solidFill>
                  <a:srgbClr val="0000FF"/>
                </a:solidFill>
                <a:latin typeface="Arial"/>
                <a:ea typeface="Arial"/>
                <a:cs typeface="Arial"/>
              </a:rPr>
              <a:t>Scaling and distribution shape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42358139-EACE-E729-C3E3-AD890A6D0F80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 wrap="none" lIns="0" tIns="0" rIns="0" bIns="0">
            <a:noAutofit/>
          </a:bodyPr>
          <a:lstStyle>
            <a:defPPr>
              <a:defRPr sz="2400">
                <a:solidFill>
                  <a:srgbClr val="8064FF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  <a:lvl2pPr marL="342882" indent="0" algn="ctr">
              <a:buNone/>
              <a:defRPr sz="15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2pPr>
            <a:lvl3pPr marL="685765" indent="0" algn="ctr">
              <a:buNone/>
              <a:defRPr sz="135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3pPr>
            <a:lvl4pPr marL="1028647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4pPr>
            <a:lvl5pPr marL="1371530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5pPr>
            <a:lvl6pPr marL="1714412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6pPr>
            <a:lvl7pPr marL="2057295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7pPr>
            <a:lvl8pPr marL="2400177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8pPr>
            <a:lvl9pPr marL="2743060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>
                <a:solidFill>
                  <a:srgbClr val="8064FF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8064FF"/>
                </a:solidFill>
                <a:latin typeface="Arial"/>
                <a:ea typeface="Arial"/>
                <a:cs typeface="Arial"/>
              </a:rPr>
              <a:t>Standardisation preserves skewness</a:t>
            </a:r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3FDBFEE-0509-16B7-5DAE-5E0DB02DD78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Data Science and Machine Learning for Geoscientists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7EAB126A-2C1E-4241-BBEB-C3AA6FE622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3AE1AE4-D79E-94D6-E825-3FC6C21A77D2}" type="slidenum">
              <a:rPr/>
              <a:t>37</a:t>
            </a:fld>
            <a:endParaRPr/>
          </a:p>
        </p:txBody>
      </p:sp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BAA156BD-F388-30EA-2720-04061953B80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GB"/>
              <a:t>29/10/2026</a:t>
            </a:r>
            <a:endParaRPr/>
          </a:p>
        </p:txBody>
      </p:sp>
      <p:pic>
        <p:nvPicPr>
          <p:cNvPr id="12" name="Picture 11" descr="A comparison of a graph&#10;&#10;AI-generated content may be incorrect.">
            <a:extLst>
              <a:ext uri="{FF2B5EF4-FFF2-40B4-BE49-F238E27FC236}">
                <a16:creationId xmlns:a16="http://schemas.microsoft.com/office/drawing/2014/main" id="{D46328C9-855E-00E1-CC38-D738C9725D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49" y="1459855"/>
            <a:ext cx="11144249" cy="339993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3FE3D30-5AD3-F415-741C-B400E2774935}"/>
              </a:ext>
            </a:extLst>
          </p:cNvPr>
          <p:cNvSpPr txBox="1"/>
          <p:nvPr/>
        </p:nvSpPr>
        <p:spPr>
          <a:xfrm>
            <a:off x="522305" y="5327886"/>
            <a:ext cx="110521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 defTabSz="914353" rtl="0">
              <a:buFont typeface="Arial" panose="020B0604020202020204" pitchFamily="34" charset="0"/>
              <a:buChar char="•"/>
            </a:pPr>
            <a:r>
              <a:rPr lang="en-GB" dirty="0"/>
              <a:t>Scaling puts numerical features on comparable scales. </a:t>
            </a:r>
          </a:p>
          <a:p>
            <a:pPr marL="285750" indent="-285750" algn="l" defTabSz="914353" rtl="0">
              <a:buFont typeface="Arial" panose="020B0604020202020204" pitchFamily="34" charset="0"/>
              <a:buChar char="•"/>
            </a:pPr>
            <a:r>
              <a:rPr lang="en-GB" dirty="0"/>
              <a:t>It is useful for methods sensitive to distances or feature scales.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6906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C4F36668-9440-2FC4-1A20-CEA2160E1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none" lIns="0" tIns="0" rIns="0" bIns="0">
            <a:noAutofit/>
          </a:bodyPr>
          <a:lstStyle>
            <a:def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  <a:lvl1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1pPr>
            <a:lvl2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2pPr>
            <a:lvl3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3pPr>
            <a:lvl4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4pPr>
            <a:lvl5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5pPr>
            <a:lvl6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6pPr>
            <a:lvl7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7pPr>
            <a:lvl8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8pPr>
            <a:lvl9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2640" b="1">
                <a:solidFill>
                  <a:srgbClr val="0000FF"/>
                </a:solidFill>
                <a:latin typeface="Arial"/>
                <a:ea typeface="Arial"/>
                <a:cs typeface="Arial"/>
              </a:rPr>
              <a:t>MinMaxScaler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42358139-EACE-E729-C3E3-AD890A6D0F80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 wrap="none" lIns="0" tIns="0" rIns="0" bIns="0">
            <a:noAutofit/>
          </a:bodyPr>
          <a:lstStyle>
            <a:defPPr>
              <a:defRPr sz="2400">
                <a:solidFill>
                  <a:srgbClr val="8064FF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  <a:lvl2pPr marL="342882" indent="0" algn="ctr">
              <a:buNone/>
              <a:defRPr sz="15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2pPr>
            <a:lvl3pPr marL="685765" indent="0" algn="ctr">
              <a:buNone/>
              <a:defRPr sz="135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3pPr>
            <a:lvl4pPr marL="1028647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4pPr>
            <a:lvl5pPr marL="1371530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5pPr>
            <a:lvl6pPr marL="1714412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6pPr>
            <a:lvl7pPr marL="2057295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7pPr>
            <a:lvl8pPr marL="2400177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8pPr>
            <a:lvl9pPr marL="2743060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>
                <a:solidFill>
                  <a:srgbClr val="8064FF"/>
                </a:solidFill>
                <a:latin typeface="Arial"/>
                <a:ea typeface="Arial"/>
                <a:cs typeface="Arial"/>
              </a:defRPr>
            </a:pPr>
            <a:r>
              <a:rPr lang="nb-NO" sz="2400" dirty="0" err="1">
                <a:solidFill>
                  <a:srgbClr val="8064FF"/>
                </a:solidFill>
                <a:latin typeface="Arial"/>
                <a:ea typeface="Arial"/>
                <a:cs typeface="Arial"/>
              </a:rPr>
              <a:t>Another</a:t>
            </a:r>
            <a:r>
              <a:rPr sz="2400" dirty="0">
                <a:solidFill>
                  <a:srgbClr val="8064FF"/>
                </a:solidFill>
                <a:latin typeface="Arial"/>
                <a:ea typeface="Arial"/>
                <a:cs typeface="Arial"/>
              </a:rPr>
              <a:t> scaling method</a:t>
            </a:r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3FDBFEE-0509-16B7-5DAE-5E0DB02DD78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Data Science and Machine Learning for Geoscientists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7EAB126A-2C1E-4241-BBEB-C3AA6FE622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AB55966-FA28-BC73-EA9E-53DF014DF033}" type="slidenum">
              <a:rPr/>
              <a:t>38</a:t>
            </a:fld>
            <a:endParaRPr/>
          </a:p>
        </p:txBody>
      </p:sp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BAA156BD-F388-30EA-2720-04061953B80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GB"/>
              <a:t>29/10/2026</a:t>
            </a:r>
            <a:endParaRPr/>
          </a:p>
        </p:txBody>
      </p:sp>
      <p:sp>
        <p:nvSpPr>
          <p:cNvPr id="6" name="content-5">
            <a:extLst>
              <a:ext uri="{FF2B5EF4-FFF2-40B4-BE49-F238E27FC236}">
                <a16:creationId xmlns:a16="http://schemas.microsoft.com/office/drawing/2014/main" id="{CE566DB3-6C01-4CF6-9B51-C8CC7C1841A9}"/>
              </a:ext>
            </a:extLst>
          </p:cNvPr>
          <p:cNvSpPr>
            <a:spLocks noGrp="1"/>
          </p:cNvSpPr>
          <p:nvPr/>
        </p:nvSpPr>
        <p:spPr>
          <a:xfrm>
            <a:off x="476250" y="6010275"/>
            <a:ext cx="11144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E87"/>
                </a:solidFill>
                <a:latin typeface="Arial"/>
                <a:ea typeface="Arial"/>
                <a:cs typeface="Arial"/>
                <a:hlinkClick r:id="rId3"/>
              </a:rPr>
              <a:t>scikit-learn: MinMaxScaler</a:t>
            </a:r>
          </a:p>
        </p:txBody>
      </p:sp>
      <p:sp>
        <p:nvSpPr>
          <p:cNvPr id="7" name="content-6">
            <a:extLst>
              <a:ext uri="{FF2B5EF4-FFF2-40B4-BE49-F238E27FC236}">
                <a16:creationId xmlns:a16="http://schemas.microsoft.com/office/drawing/2014/main" id="{04CBDC8C-69C1-468C-B2CD-6F1AB25F830E}"/>
              </a:ext>
            </a:extLst>
          </p:cNvPr>
          <p:cNvSpPr>
            <a:spLocks noGrp="1"/>
          </p:cNvSpPr>
          <p:nvPr/>
        </p:nvSpPr>
        <p:spPr>
          <a:xfrm>
            <a:off x="476250" y="1571625"/>
            <a:ext cx="11239500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325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325" b="1">
                <a:solidFill>
                  <a:srgbClr val="12314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2314A"/>
                </a:solidFill>
                <a:latin typeface="Arial"/>
                <a:ea typeface="Arial"/>
                <a:cs typeface="Arial"/>
              </a:rPr>
              <a:t>scaled value = (x − training minimum) / training range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56ADE29-2FBF-4D06-BF88-F1B3DDC3EE69}"/>
              </a:ext>
            </a:extLst>
          </p:cNvPr>
          <p:cNvGraphicFramePr/>
          <p:nvPr/>
        </p:nvGraphicFramePr>
        <p:xfrm>
          <a:off x="476250" y="2381250"/>
          <a:ext cx="11239500" cy="2667000"/>
        </p:xfrm>
        <a:graphic>
          <a:graphicData uri="http://schemas.openxmlformats.org/drawingml/2006/table">
            <a:tbl>
              <a:tblPr/>
              <a:tblGrid>
                <a:gridCol w="400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Illustrative value</a:t>
                      </a: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>
                      <a:solidFill>
                        <a:srgbClr val="D6E1E6"/>
                      </a:solidFill>
                      <a:prstDash val="soli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1231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Role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>
                      <a:solidFill>
                        <a:srgbClr val="D6E1E6"/>
                      </a:solidFill>
                      <a:prstDash val="soli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1231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Scaled value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>
                      <a:solidFill>
                        <a:srgbClr val="D6E1E6"/>
                      </a:solidFill>
                      <a:prstDash val="soli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1231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Training minimum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0.0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40</a:t>
                      </a: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Training observation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0.5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60</a:t>
                      </a: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Training maximum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1.0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80</a:t>
                      </a:r>
                    </a:p>
                  </a:txBody>
                  <a:tcPr anchor="ctr">
                    <a:lnL w="9525">
                      <a:solidFill>
                        <a:srgbClr val="D6E1E6"/>
                      </a:solidFill>
                      <a:prstDash val="soli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New observation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?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6E1E6"/>
                      </a:solidFill>
                      <a:prstDash val="solid"/>
                    </a:lnR>
                    <a:lnT w="9525" cap="flat" cmpd="sng" algn="ctr">
                      <a:solidFill>
                        <a:srgbClr val="D6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E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content-7">
            <a:extLst>
              <a:ext uri="{FF2B5EF4-FFF2-40B4-BE49-F238E27FC236}">
                <a16:creationId xmlns:a16="http://schemas.microsoft.com/office/drawing/2014/main" id="{0D587C4B-86A7-49E1-9EC1-BC81CD84A732}"/>
              </a:ext>
            </a:extLst>
          </p:cNvPr>
          <p:cNvSpPr>
            <a:spLocks noGrp="1"/>
          </p:cNvSpPr>
          <p:nvPr/>
        </p:nvSpPr>
        <p:spPr>
          <a:xfrm>
            <a:off x="476250" y="5421270"/>
            <a:ext cx="112395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10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0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2100" b="0" dirty="0">
                <a:solidFill>
                  <a:srgbClr val="0000FF"/>
                </a:solidFill>
                <a:latin typeface="Arial"/>
                <a:ea typeface="Arial"/>
                <a:cs typeface="Arial"/>
              </a:rPr>
              <a:t>Can a test value fall outside 0 to 1 after this transformation?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971432-5B0B-E14C-E07A-A3495248C4CF}"/>
              </a:ext>
            </a:extLst>
          </p:cNvPr>
          <p:cNvSpPr txBox="1"/>
          <p:nvPr/>
        </p:nvSpPr>
        <p:spPr>
          <a:xfrm>
            <a:off x="9186374" y="5135487"/>
            <a:ext cx="2255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353" rtl="0">
              <a:buNone/>
            </a:pPr>
            <a:r>
              <a:rPr lang="en-US" dirty="0"/>
              <a:t>(80-20)/(60-20) =1.5</a:t>
            </a:r>
          </a:p>
        </p:txBody>
      </p:sp>
    </p:spTree>
    <p:extLst>
      <p:ext uri="{BB962C8B-B14F-4D97-AF65-F5344CB8AC3E}">
        <p14:creationId xmlns:p14="http://schemas.microsoft.com/office/powerpoint/2010/main" val="763007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C4F36668-9440-2FC4-1A20-CEA2160E1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none" lIns="0" tIns="0" rIns="0" bIns="0">
            <a:noAutofit/>
          </a:bodyPr>
          <a:lstStyle>
            <a:def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  <a:lvl1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1pPr>
            <a:lvl2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2pPr>
            <a:lvl3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3pPr>
            <a:lvl4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4pPr>
            <a:lvl5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5pPr>
            <a:lvl6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6pPr>
            <a:lvl7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7pPr>
            <a:lvl8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8pPr>
            <a:lvl9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2640" b="1">
                <a:solidFill>
                  <a:srgbClr val="0000FF"/>
                </a:solidFill>
                <a:latin typeface="Arial"/>
                <a:ea typeface="Arial"/>
                <a:cs typeface="Arial"/>
              </a:rPr>
              <a:t>A preprocessing Pipeline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42358139-EACE-E729-C3E3-AD890A6D0F80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 wrap="none" lIns="0" tIns="0" rIns="0" bIns="0">
            <a:noAutofit/>
          </a:bodyPr>
          <a:lstStyle>
            <a:defPPr>
              <a:defRPr sz="2400">
                <a:solidFill>
                  <a:srgbClr val="8064FF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  <a:lvl2pPr marL="342882" indent="0" algn="ctr">
              <a:buNone/>
              <a:defRPr sz="15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2pPr>
            <a:lvl3pPr marL="685765" indent="0" algn="ctr">
              <a:buNone/>
              <a:defRPr sz="135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3pPr>
            <a:lvl4pPr marL="1028647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4pPr>
            <a:lvl5pPr marL="1371530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5pPr>
            <a:lvl6pPr marL="1714412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6pPr>
            <a:lvl7pPr marL="2057295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7pPr>
            <a:lvl8pPr marL="2400177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8pPr>
            <a:lvl9pPr marL="2743060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>
                <a:solidFill>
                  <a:srgbClr val="8064FF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8064FF"/>
                </a:solidFill>
                <a:latin typeface="Arial"/>
                <a:ea typeface="Arial"/>
                <a:cs typeface="Arial"/>
              </a:rPr>
              <a:t>Ordered operations in one reusable object</a:t>
            </a:r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3FDBFEE-0509-16B7-5DAE-5E0DB02DD78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Data Science and Machine Learning for Geoscientists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7EAB126A-2C1E-4241-BBEB-C3AA6FE622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8AD4375-9F50-F53A-6F9F-DD8473067C05}" type="slidenum">
              <a:rPr/>
              <a:t>39</a:t>
            </a:fld>
            <a:endParaRPr/>
          </a:p>
        </p:txBody>
      </p:sp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BAA156BD-F388-30EA-2720-04061953B80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GB"/>
              <a:t>29/10/2026</a:t>
            </a:r>
            <a:endParaRPr/>
          </a:p>
        </p:txBody>
      </p:sp>
      <p:sp>
        <p:nvSpPr>
          <p:cNvPr id="6" name="content-5">
            <a:extLst>
              <a:ext uri="{FF2B5EF4-FFF2-40B4-BE49-F238E27FC236}">
                <a16:creationId xmlns:a16="http://schemas.microsoft.com/office/drawing/2014/main" id="{0045844C-6D3A-40C8-B72F-C292918D8B70}"/>
              </a:ext>
            </a:extLst>
          </p:cNvPr>
          <p:cNvSpPr>
            <a:spLocks noGrp="1"/>
          </p:cNvSpPr>
          <p:nvPr/>
        </p:nvSpPr>
        <p:spPr>
          <a:xfrm>
            <a:off x="476250" y="6010275"/>
            <a:ext cx="11144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E87"/>
                </a:solidFill>
                <a:latin typeface="Arial"/>
                <a:ea typeface="Arial"/>
                <a:cs typeface="Arial"/>
                <a:hlinkClick r:id="rId3"/>
              </a:rPr>
              <a:t>scikit-learn: Pipeline</a:t>
            </a:r>
          </a:p>
        </p:txBody>
      </p:sp>
      <p:sp>
        <p:nvSpPr>
          <p:cNvPr id="7" name="content-6">
            <a:extLst>
              <a:ext uri="{FF2B5EF4-FFF2-40B4-BE49-F238E27FC236}">
                <a16:creationId xmlns:a16="http://schemas.microsoft.com/office/drawing/2014/main" id="{BAC5C525-D601-4D9C-99A7-E60D79D0EDF3}"/>
              </a:ext>
            </a:extLst>
          </p:cNvPr>
          <p:cNvSpPr>
            <a:spLocks noGrp="1"/>
          </p:cNvSpPr>
          <p:nvPr/>
        </p:nvSpPr>
        <p:spPr>
          <a:xfrm>
            <a:off x="476250" y="1571625"/>
            <a:ext cx="11239500" cy="3476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95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defPPr>
            <a:lvl1pPr>
              <a:defRPr sz="195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lvl1pPr>
            <a:lvl2pPr>
              <a:defRPr sz="195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lvl2pPr>
            <a:lvl3pPr>
              <a:defRPr sz="195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lvl3pPr>
            <a:lvl4pPr>
              <a:defRPr sz="195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lvl4pPr>
            <a:lvl5pPr>
              <a:defRPr sz="195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lvl5pPr>
            <a:lvl6pPr>
              <a:defRPr sz="195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lvl6pPr>
            <a:lvl7pPr>
              <a:defRPr sz="195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lvl7pPr>
            <a:lvl8pPr>
              <a:defRPr sz="195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lvl8pPr>
            <a:lvl9pPr>
              <a:defRPr sz="195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lvl9pPr>
          </a:lstStyle>
          <a:p>
            <a:pPr>
              <a:defRPr sz="195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sz="1950" b="0">
                <a:solidFill>
                  <a:srgbClr val="12314A"/>
                </a:solidFill>
                <a:latin typeface="Menlo"/>
                <a:ea typeface="Menlo"/>
                <a:cs typeface="Menlo"/>
              </a:rPr>
              <a:t>from sklearn.pipeline import Pipeline</a:t>
            </a:r>
          </a:p>
          <a:p>
            <a:endParaRPr sz="1950" b="0">
              <a:solidFill>
                <a:srgbClr val="12314A"/>
              </a:solidFill>
              <a:latin typeface="Menlo"/>
              <a:ea typeface="Menlo"/>
              <a:cs typeface="Menlo"/>
            </a:endParaRPr>
          </a:p>
          <a:p>
            <a:pPr>
              <a:defRPr sz="195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sz="1950" b="0">
                <a:solidFill>
                  <a:srgbClr val="12314A"/>
                </a:solidFill>
                <a:latin typeface="Menlo"/>
                <a:ea typeface="Menlo"/>
                <a:cs typeface="Menlo"/>
              </a:rPr>
              <a:t>my_pipeline = Pipeline([</a:t>
            </a:r>
          </a:p>
          <a:p>
            <a:pPr>
              <a:defRPr sz="195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sz="1950" b="0">
                <a:solidFill>
                  <a:srgbClr val="12314A"/>
                </a:solidFill>
                <a:latin typeface="Menlo"/>
                <a:ea typeface="Menlo"/>
                <a:cs typeface="Menlo"/>
              </a:rPr>
              <a:t>    ("imputer", SimpleImputer(strategy="mean")),</a:t>
            </a:r>
          </a:p>
          <a:p>
            <a:pPr>
              <a:defRPr sz="195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sz="1950" b="0">
                <a:solidFill>
                  <a:srgbClr val="12314A"/>
                </a:solidFill>
                <a:latin typeface="Menlo"/>
                <a:ea typeface="Menlo"/>
                <a:cs typeface="Menlo"/>
              </a:rPr>
              <a:t>    ("std_scaler", StandardScaler())</a:t>
            </a:r>
          </a:p>
          <a:p>
            <a:pPr>
              <a:defRPr sz="195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sz="1950" b="0">
                <a:solidFill>
                  <a:srgbClr val="12314A"/>
                </a:solidFill>
                <a:latin typeface="Menlo"/>
                <a:ea typeface="Menlo"/>
                <a:cs typeface="Menlo"/>
              </a:rPr>
              <a:t>])</a:t>
            </a:r>
          </a:p>
          <a:p>
            <a:endParaRPr sz="1950" b="0">
              <a:solidFill>
                <a:srgbClr val="12314A"/>
              </a:solidFill>
              <a:latin typeface="Menlo"/>
              <a:ea typeface="Menlo"/>
              <a:cs typeface="Menlo"/>
            </a:endParaRPr>
          </a:p>
          <a:p>
            <a:pPr>
              <a:defRPr sz="195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sz="1950" b="0">
                <a:solidFill>
                  <a:srgbClr val="12314A"/>
                </a:solidFill>
                <a:latin typeface="Menlo"/>
                <a:ea typeface="Menlo"/>
                <a:cs typeface="Menlo"/>
              </a:rPr>
              <a:t>train_ready = my_pipeline.fit_transform(X_train)</a:t>
            </a:r>
          </a:p>
          <a:p>
            <a:pPr>
              <a:defRPr sz="1950" b="0">
                <a:solidFill>
                  <a:srgbClr val="12314A"/>
                </a:solidFill>
                <a:latin typeface="Menlo"/>
                <a:ea typeface="Menlo"/>
                <a:cs typeface="Menlo"/>
              </a:defRPr>
            </a:pPr>
            <a:r>
              <a:rPr sz="1950" b="0">
                <a:solidFill>
                  <a:srgbClr val="12314A"/>
                </a:solidFill>
                <a:latin typeface="Menlo"/>
                <a:ea typeface="Menlo"/>
                <a:cs typeface="Menlo"/>
              </a:rPr>
              <a:t>test_ready = my_pipeline.transform(X_test)</a:t>
            </a:r>
          </a:p>
        </p:txBody>
      </p:sp>
      <p:sp>
        <p:nvSpPr>
          <p:cNvPr id="8" name="content-7">
            <a:extLst>
              <a:ext uri="{FF2B5EF4-FFF2-40B4-BE49-F238E27FC236}">
                <a16:creationId xmlns:a16="http://schemas.microsoft.com/office/drawing/2014/main" id="{E86648AF-AA3D-4D81-B0FB-6D42968D0D8B}"/>
              </a:ext>
            </a:extLst>
          </p:cNvPr>
          <p:cNvSpPr>
            <a:spLocks noGrp="1"/>
          </p:cNvSpPr>
          <p:nvPr/>
        </p:nvSpPr>
        <p:spPr>
          <a:xfrm>
            <a:off x="476250" y="5514975"/>
            <a:ext cx="112395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10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0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FF"/>
                </a:solidFill>
                <a:latin typeface="Arial"/>
                <a:ea typeface="Arial"/>
                <a:cs typeface="Arial"/>
              </a:rPr>
              <a:t>What data reach the scaler: the original data or imputed data?</a:t>
            </a:r>
          </a:p>
        </p:txBody>
      </p:sp>
    </p:spTree>
    <p:extLst>
      <p:ext uri="{BB962C8B-B14F-4D97-AF65-F5344CB8AC3E}">
        <p14:creationId xmlns:p14="http://schemas.microsoft.com/office/powerpoint/2010/main" val="66923342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4F36668-9440-2FC4-1A20-CEA2160E1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none" lIns="0" tIns="0" rIns="0" bIns="0">
            <a:noAutofit/>
          </a:bodyPr>
          <a:lstStyle>
            <a:def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  <a:lvl1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1pPr>
            <a:lvl2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2pPr>
            <a:lvl3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3pPr>
            <a:lvl4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4pPr>
            <a:lvl5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5pPr>
            <a:lvl6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6pPr>
            <a:lvl7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7pPr>
            <a:lvl8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8pPr>
            <a:lvl9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64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2640" b="1">
                <a:solidFill>
                  <a:srgbClr val="0000FF"/>
                </a:solidFill>
                <a:latin typeface="Arial"/>
                <a:ea typeface="Arial"/>
                <a:cs typeface="Arial"/>
              </a:rPr>
              <a:t>Optional StatQuest videos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42358139-EACE-E729-C3E3-AD890A6D0F80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 wrap="none" lIns="0" tIns="0" rIns="0" bIns="0">
            <a:noAutofit/>
          </a:bodyPr>
          <a:lstStyle>
            <a:defPPr>
              <a:defRPr sz="2400">
                <a:solidFill>
                  <a:srgbClr val="8064FF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  <a:lvl2pPr marL="342882" indent="0" algn="ctr">
              <a:buNone/>
              <a:defRPr sz="15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2pPr>
            <a:lvl3pPr marL="685765" indent="0" algn="ctr">
              <a:buNone/>
              <a:defRPr sz="135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3pPr>
            <a:lvl4pPr marL="1028647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4pPr>
            <a:lvl5pPr marL="1371530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5pPr>
            <a:lvl6pPr marL="1714412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6pPr>
            <a:lvl7pPr marL="2057295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7pPr>
            <a:lvl8pPr marL="2400177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8pPr>
            <a:lvl9pPr marL="2743060" indent="0" algn="ctr">
              <a:buNone/>
              <a:defRPr sz="1200">
                <a:solidFill>
                  <a:srgbClr val="8064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>
                <a:solidFill>
                  <a:srgbClr val="8064FF"/>
                </a:solidFill>
                <a:latin typeface="Arial"/>
                <a:ea typeface="Arial"/>
                <a:cs typeface="Arial"/>
              </a:defRPr>
            </a:pPr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3FDBFEE-0509-16B7-5DAE-5E0DB02DD78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Data Science and Machine Learning for Geoscientists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7EAB126A-2C1E-4241-BBEB-C3AA6FE622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6C3428B-053E-6B4E-39FF-75B44F3F33F6}" type="slidenum">
              <a:rPr/>
              <a:t>40</a:t>
            </a:fld>
            <a:endParaRPr/>
          </a:p>
        </p:txBody>
      </p:sp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BAA156BD-F388-30EA-2720-04061953B80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GB"/>
              <a:t>29/10/2026</a:t>
            </a:r>
            <a:endParaRPr/>
          </a:p>
        </p:txBody>
      </p:sp>
      <p:sp>
        <p:nvSpPr>
          <p:cNvPr id="6" name="content-5">
            <a:extLst>
              <a:ext uri="{FF2B5EF4-FFF2-40B4-BE49-F238E27FC236}">
                <a16:creationId xmlns:a16="http://schemas.microsoft.com/office/drawing/2014/main" id="{320FE188-2CC6-4EED-B52D-895E522D8750}"/>
              </a:ext>
            </a:extLst>
          </p:cNvPr>
          <p:cNvSpPr>
            <a:spLocks noGrp="1"/>
          </p:cNvSpPr>
          <p:nvPr/>
        </p:nvSpPr>
        <p:spPr>
          <a:xfrm>
            <a:off x="476250" y="1666875"/>
            <a:ext cx="112395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025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7E87"/>
                </a:solidFill>
                <a:latin typeface="Arial"/>
                <a:ea typeface="Arial"/>
                <a:cs typeface="Arial"/>
                <a:hlinkClick r:id="rId3"/>
              </a:rPr>
              <a:t>Histograms, Clearly Explained</a:t>
            </a:r>
          </a:p>
        </p:txBody>
      </p:sp>
      <p:sp>
        <p:nvSpPr>
          <p:cNvPr id="7" name="content-6">
            <a:extLst>
              <a:ext uri="{FF2B5EF4-FFF2-40B4-BE49-F238E27FC236}">
                <a16:creationId xmlns:a16="http://schemas.microsoft.com/office/drawing/2014/main" id="{C038647C-6FD8-4C4A-8497-E1304E3CE614}"/>
              </a:ext>
            </a:extLst>
          </p:cNvPr>
          <p:cNvSpPr>
            <a:spLocks noGrp="1"/>
          </p:cNvSpPr>
          <p:nvPr/>
        </p:nvSpPr>
        <p:spPr>
          <a:xfrm>
            <a:off x="476250" y="2047875"/>
            <a:ext cx="112395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75" b="0">
                <a:solidFill>
                  <a:srgbClr val="53697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3697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3697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3697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3697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3697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3697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3697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3697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3697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0">
                <a:solidFill>
                  <a:srgbClr val="5369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977"/>
                </a:solidFill>
                <a:latin typeface="Arial"/>
                <a:ea typeface="Arial"/>
                <a:cs typeface="Arial"/>
              </a:rPr>
              <a:t>Recap: bins and distributions</a:t>
            </a:r>
          </a:p>
        </p:txBody>
      </p:sp>
      <p:sp>
        <p:nvSpPr>
          <p:cNvPr id="8" name="content-7">
            <a:extLst>
              <a:ext uri="{FF2B5EF4-FFF2-40B4-BE49-F238E27FC236}">
                <a16:creationId xmlns:a16="http://schemas.microsoft.com/office/drawing/2014/main" id="{0A82C514-6FCF-4CF7-B43D-65D5F7A1F738}"/>
              </a:ext>
            </a:extLst>
          </p:cNvPr>
          <p:cNvSpPr>
            <a:spLocks noGrp="1"/>
          </p:cNvSpPr>
          <p:nvPr/>
        </p:nvSpPr>
        <p:spPr>
          <a:xfrm>
            <a:off x="476250" y="2667000"/>
            <a:ext cx="112395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025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pPr>
            <a:r>
              <a:rPr sz="2025" b="0" dirty="0">
                <a:solidFill>
                  <a:srgbClr val="007E87"/>
                </a:solidFill>
                <a:latin typeface="Arial"/>
                <a:ea typeface="Arial"/>
                <a:cs typeface="Arial"/>
                <a:hlinkClick r:id="rId4"/>
              </a:rPr>
              <a:t>Boxplots are Awesome!!!</a:t>
            </a:r>
          </a:p>
        </p:txBody>
      </p:sp>
      <p:sp>
        <p:nvSpPr>
          <p:cNvPr id="9" name="content-8">
            <a:extLst>
              <a:ext uri="{FF2B5EF4-FFF2-40B4-BE49-F238E27FC236}">
                <a16:creationId xmlns:a16="http://schemas.microsoft.com/office/drawing/2014/main" id="{A9DE4331-D3A8-4377-8703-0453CD4E71A4}"/>
              </a:ext>
            </a:extLst>
          </p:cNvPr>
          <p:cNvSpPr>
            <a:spLocks noGrp="1"/>
          </p:cNvSpPr>
          <p:nvPr/>
        </p:nvSpPr>
        <p:spPr>
          <a:xfrm>
            <a:off x="476250" y="3048000"/>
            <a:ext cx="112395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75" b="0">
                <a:solidFill>
                  <a:srgbClr val="53697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3697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3697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3697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3697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3697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3697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3697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3697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3697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0">
                <a:solidFill>
                  <a:srgbClr val="5369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977"/>
                </a:solidFill>
                <a:latin typeface="Arial"/>
                <a:ea typeface="Arial"/>
                <a:cs typeface="Arial"/>
              </a:rPr>
              <a:t>Quartiles and unusual observations</a:t>
            </a:r>
          </a:p>
        </p:txBody>
      </p:sp>
      <p:sp>
        <p:nvSpPr>
          <p:cNvPr id="10" name="content-9">
            <a:extLst>
              <a:ext uri="{FF2B5EF4-FFF2-40B4-BE49-F238E27FC236}">
                <a16:creationId xmlns:a16="http://schemas.microsoft.com/office/drawing/2014/main" id="{A74B1E94-C9DA-49E4-8054-A3087EFE7CE9}"/>
              </a:ext>
            </a:extLst>
          </p:cNvPr>
          <p:cNvSpPr>
            <a:spLocks noGrp="1"/>
          </p:cNvSpPr>
          <p:nvPr/>
        </p:nvSpPr>
        <p:spPr>
          <a:xfrm>
            <a:off x="476250" y="3667125"/>
            <a:ext cx="112395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025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7E87"/>
                </a:solidFill>
                <a:latin typeface="Arial"/>
                <a:ea typeface="Arial"/>
                <a:cs typeface="Arial"/>
                <a:hlinkClick r:id="rId5"/>
              </a:rPr>
              <a:t>Mean, variance and standard deviation</a:t>
            </a:r>
          </a:p>
        </p:txBody>
      </p:sp>
      <p:sp>
        <p:nvSpPr>
          <p:cNvPr id="11" name="content-10">
            <a:extLst>
              <a:ext uri="{FF2B5EF4-FFF2-40B4-BE49-F238E27FC236}">
                <a16:creationId xmlns:a16="http://schemas.microsoft.com/office/drawing/2014/main" id="{BF33D76B-382D-4106-9F21-8EFCEDB85B51}"/>
              </a:ext>
            </a:extLst>
          </p:cNvPr>
          <p:cNvSpPr>
            <a:spLocks noGrp="1"/>
          </p:cNvSpPr>
          <p:nvPr/>
        </p:nvSpPr>
        <p:spPr>
          <a:xfrm>
            <a:off x="476250" y="4048125"/>
            <a:ext cx="112395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75" b="0">
                <a:solidFill>
                  <a:srgbClr val="53697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3697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3697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3697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3697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3697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3697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3697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3697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3697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0">
                <a:solidFill>
                  <a:srgbClr val="5369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977"/>
                </a:solidFill>
                <a:latin typeface="Arial"/>
                <a:ea typeface="Arial"/>
                <a:cs typeface="Arial"/>
              </a:rPr>
              <a:t>Numerical summaries and scaling</a:t>
            </a:r>
          </a:p>
        </p:txBody>
      </p:sp>
      <p:sp>
        <p:nvSpPr>
          <p:cNvPr id="12" name="content-11">
            <a:extLst>
              <a:ext uri="{FF2B5EF4-FFF2-40B4-BE49-F238E27FC236}">
                <a16:creationId xmlns:a16="http://schemas.microsoft.com/office/drawing/2014/main" id="{FEC944F4-708C-47A9-B4A6-D4114CA1B814}"/>
              </a:ext>
            </a:extLst>
          </p:cNvPr>
          <p:cNvSpPr>
            <a:spLocks noGrp="1"/>
          </p:cNvSpPr>
          <p:nvPr/>
        </p:nvSpPr>
        <p:spPr>
          <a:xfrm>
            <a:off x="476250" y="4667250"/>
            <a:ext cx="112395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025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7E87"/>
                </a:solidFill>
                <a:latin typeface="Arial"/>
                <a:ea typeface="Arial"/>
                <a:cs typeface="Arial"/>
                <a:hlinkClick r:id="rId6"/>
              </a:rPr>
              <a:t>Pearson’s Correlation, Clearly Explained</a:t>
            </a:r>
          </a:p>
        </p:txBody>
      </p:sp>
      <p:sp>
        <p:nvSpPr>
          <p:cNvPr id="13" name="content-12">
            <a:extLst>
              <a:ext uri="{FF2B5EF4-FFF2-40B4-BE49-F238E27FC236}">
                <a16:creationId xmlns:a16="http://schemas.microsoft.com/office/drawing/2014/main" id="{178D9309-2B82-439C-9A79-996CC14105F8}"/>
              </a:ext>
            </a:extLst>
          </p:cNvPr>
          <p:cNvSpPr>
            <a:spLocks noGrp="1"/>
          </p:cNvSpPr>
          <p:nvPr/>
        </p:nvSpPr>
        <p:spPr>
          <a:xfrm>
            <a:off x="476250" y="5048250"/>
            <a:ext cx="112395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75" b="0">
                <a:solidFill>
                  <a:srgbClr val="53697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3697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3697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3697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3697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3697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3697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3697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3697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3697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0">
                <a:solidFill>
                  <a:srgbClr val="5369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977"/>
                </a:solidFill>
                <a:latin typeface="Arial"/>
                <a:ea typeface="Arial"/>
                <a:cs typeface="Arial"/>
              </a:rPr>
              <a:t>Association between measurements</a:t>
            </a:r>
          </a:p>
        </p:txBody>
      </p:sp>
    </p:spTree>
    <p:extLst>
      <p:ext uri="{BB962C8B-B14F-4D97-AF65-F5344CB8AC3E}">
        <p14:creationId xmlns:p14="http://schemas.microsoft.com/office/powerpoint/2010/main" val="915050899"/>
      </p:ext>
    </p:extLst>
  </p:cSld>
  <p:clrMapOvr>
    <a:masterClrMapping/>
  </p:clrMapOvr>
</p:sld>
</file>

<file path=ppt/theme/theme1.xml><?xml version="1.0" encoding="utf-8"?>
<a:theme xmlns:a="http://schemas.openxmlformats.org/drawingml/2006/main" name="ICL PPT Theme">
  <a:themeElements>
    <a:clrScheme name="Imperial colour theme">
      <a:dk1>
        <a:sysClr val="windowText" lastClr="000000"/>
      </a:dk1>
      <a:lt1>
        <a:sysClr val="window" lastClr="FFFFFF"/>
      </a:lt1>
      <a:dk2>
        <a:srgbClr val="000080"/>
      </a:dk2>
      <a:lt2>
        <a:srgbClr val="F5F5F5"/>
      </a:lt2>
      <a:accent1>
        <a:srgbClr val="0000CD"/>
      </a:accent1>
      <a:accent2>
        <a:srgbClr val="C71585"/>
      </a:accent2>
      <a:accent3>
        <a:srgbClr val="7B68EE"/>
      </a:accent3>
      <a:accent4>
        <a:srgbClr val="FF0000"/>
      </a:accent4>
      <a:accent5>
        <a:srgbClr val="FF4500"/>
      </a:accent5>
      <a:accent6>
        <a:srgbClr val="006400"/>
      </a:accent6>
      <a:hlink>
        <a:srgbClr val="000080"/>
      </a:hlink>
      <a:folHlink>
        <a:srgbClr val="C71585"/>
      </a:folHlink>
    </a:clrScheme>
    <a:fontScheme name="Imperial College Standard Font Them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Imperial colour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ICL PPT Theme">
  <a:themeElements>
    <a:clrScheme name="Imperial colour theme">
      <a:dk1>
        <a:sysClr val="windowText" lastClr="000000"/>
      </a:dk1>
      <a:lt1>
        <a:sysClr val="window" lastClr="FFFFFF"/>
      </a:lt1>
      <a:dk2>
        <a:srgbClr val="000080"/>
      </a:dk2>
      <a:lt2>
        <a:srgbClr val="F5F5F5"/>
      </a:lt2>
      <a:accent1>
        <a:srgbClr val="0000CD"/>
      </a:accent1>
      <a:accent2>
        <a:srgbClr val="C71585"/>
      </a:accent2>
      <a:accent3>
        <a:srgbClr val="7B68EE"/>
      </a:accent3>
      <a:accent4>
        <a:srgbClr val="FF0000"/>
      </a:accent4>
      <a:accent5>
        <a:srgbClr val="FF4500"/>
      </a:accent5>
      <a:accent6>
        <a:srgbClr val="006400"/>
      </a:accent6>
      <a:hlink>
        <a:srgbClr val="000080"/>
      </a:hlink>
      <a:folHlink>
        <a:srgbClr val="C71585"/>
      </a:folHlink>
    </a:clrScheme>
    <a:fontScheme name="Imperial College Standard Font Them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Imperial colour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4029</TotalTime>
  <Words>3332</Words>
  <Application>Microsoft Macintosh PowerPoint</Application>
  <DocSecurity>0</DocSecurity>
  <PresentationFormat>Widescreen</PresentationFormat>
  <Paragraphs>588</Paragraphs>
  <Slides>40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Aptos</vt:lpstr>
      <vt:lpstr>Wingdings</vt:lpstr>
      <vt:lpstr>Menlo</vt:lpstr>
      <vt:lpstr>Arial</vt:lpstr>
      <vt:lpstr>ICL PPT Theme</vt:lpstr>
      <vt:lpstr>PowerPoint Presentation</vt:lpstr>
      <vt:lpstr>Today’s lecture</vt:lpstr>
      <vt:lpstr>Lecture 3 recap</vt:lpstr>
      <vt:lpstr>Lecture 3 recap</vt:lpstr>
      <vt:lpstr>Lecture 3 recap</vt:lpstr>
      <vt:lpstr>How to read a pairplot</vt:lpstr>
      <vt:lpstr>The normal distribution</vt:lpstr>
      <vt:lpstr>Mean and median</vt:lpstr>
      <vt:lpstr>Skewness</vt:lpstr>
      <vt:lpstr>Earthquake distributions</vt:lpstr>
      <vt:lpstr>Relationships between earthquake measurements</vt:lpstr>
      <vt:lpstr>Introducing scikit-learn</vt:lpstr>
      <vt:lpstr>How our Python tools work together</vt:lpstr>
      <vt:lpstr>The core dataset</vt:lpstr>
      <vt:lpstr>Duplicates</vt:lpstr>
      <vt:lpstr>Missing, invalid or unusual?</vt:lpstr>
      <vt:lpstr>Cleaning data</vt:lpstr>
      <vt:lpstr>Preparing data for prediction</vt:lpstr>
      <vt:lpstr>Training, validation and test sets</vt:lpstr>
      <vt:lpstr>Data leakage</vt:lpstr>
      <vt:lpstr>Train-test split</vt:lpstr>
      <vt:lpstr>Exploring training data</vt:lpstr>
      <vt:lpstr>Exploring training data</vt:lpstr>
      <vt:lpstr>Exploring training data</vt:lpstr>
      <vt:lpstr>Exploring training data</vt:lpstr>
      <vt:lpstr>Exploring training data</vt:lpstr>
      <vt:lpstr>Exploring training data</vt:lpstr>
      <vt:lpstr>Exploring training data</vt:lpstr>
      <vt:lpstr>Missing measurements</vt:lpstr>
      <vt:lpstr>Options for missing values</vt:lpstr>
      <vt:lpstr>Options for missing values</vt:lpstr>
      <vt:lpstr>Options for missing values</vt:lpstr>
      <vt:lpstr>From manual filling to an imputer</vt:lpstr>
      <vt:lpstr>SimpleImputer</vt:lpstr>
      <vt:lpstr>Why do we scale numerical features?</vt:lpstr>
      <vt:lpstr>StandardScaler</vt:lpstr>
      <vt:lpstr>Scaling and distribution shape</vt:lpstr>
      <vt:lpstr>MinMaxScaler</vt:lpstr>
      <vt:lpstr>A preprocessing Pipeline</vt:lpstr>
      <vt:lpstr>Optional StatQuest videos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Abolpour Mofrad, Samaneh</cp:lastModifiedBy>
  <cp:revision>17</cp:revision>
  <dcterms:created xsi:type="dcterms:W3CDTF">2026-10-25T16:56:59Z</dcterms:created>
  <dcterms:modified xsi:type="dcterms:W3CDTF">2026-10-29T10:34:36Z</dcterms:modified>
</cp:coreProperties>
</file>